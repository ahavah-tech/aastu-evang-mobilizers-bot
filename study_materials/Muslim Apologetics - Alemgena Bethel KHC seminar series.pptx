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3"/>
    <p:sldId id="359" r:id="rId4"/>
    <p:sldId id="277" r:id="rId5"/>
    <p:sldId id="278" r:id="rId6"/>
    <p:sldId id="361" r:id="rId7"/>
    <p:sldId id="279" r:id="rId8"/>
    <p:sldId id="283" r:id="rId9"/>
    <p:sldId id="284" r:id="rId10"/>
    <p:sldId id="360" r:id="rId11"/>
    <p:sldId id="362" r:id="rId12"/>
    <p:sldId id="363" r:id="rId13"/>
    <p:sldId id="364" r:id="rId14"/>
    <p:sldId id="365" r:id="rId15"/>
    <p:sldId id="366" r:id="rId16"/>
    <p:sldId id="368" r:id="rId17"/>
    <p:sldId id="367" r:id="rId18"/>
    <p:sldId id="36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211B71-3541-4FF0-8F6F-CA0FAB40B2A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51957-394E-413E-B8A3-10B7685BCAA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C085-B59A-4814-9E98-7B08CC1D9940}" type="datetimeFigureOut">
              <a:rPr lang="en-AU" smtClean="0"/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3AC58-6413-4B4A-BD66-E0153FAE9F5E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C085-B59A-4814-9E98-7B08CC1D9940}" type="datetimeFigureOut">
              <a:rPr lang="en-AU" smtClean="0"/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3AC58-6413-4B4A-BD66-E0153FAE9F5E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C085-B59A-4814-9E98-7B08CC1D9940}" type="datetimeFigureOut">
              <a:rPr lang="en-AU" smtClean="0"/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3AC58-6413-4B4A-BD66-E0153FAE9F5E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C085-B59A-4814-9E98-7B08CC1D9940}" type="datetimeFigureOut">
              <a:rPr lang="en-AU" smtClean="0"/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3AC58-6413-4B4A-BD66-E0153FAE9F5E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C085-B59A-4814-9E98-7B08CC1D9940}" type="datetimeFigureOut">
              <a:rPr lang="en-AU" smtClean="0"/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3AC58-6413-4B4A-BD66-E0153FAE9F5E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C085-B59A-4814-9E98-7B08CC1D9940}" type="datetimeFigureOut">
              <a:rPr lang="en-AU" smtClean="0"/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3AC58-6413-4B4A-BD66-E0153FAE9F5E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C085-B59A-4814-9E98-7B08CC1D9940}" type="datetimeFigureOut">
              <a:rPr lang="en-AU" smtClean="0"/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3AC58-6413-4B4A-BD66-E0153FAE9F5E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C085-B59A-4814-9E98-7B08CC1D9940}" type="datetimeFigureOut">
              <a:rPr lang="en-AU" smtClean="0"/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3AC58-6413-4B4A-BD66-E0153FAE9F5E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C085-B59A-4814-9E98-7B08CC1D9940}" type="datetimeFigureOut">
              <a:rPr lang="en-AU" smtClean="0"/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3AC58-6413-4B4A-BD66-E0153FAE9F5E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C085-B59A-4814-9E98-7B08CC1D9940}" type="datetimeFigureOut">
              <a:rPr lang="en-AU" smtClean="0"/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3AC58-6413-4B4A-BD66-E0153FAE9F5E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C085-B59A-4814-9E98-7B08CC1D9940}" type="datetimeFigureOut">
              <a:rPr lang="en-AU" smtClean="0"/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3AC58-6413-4B4A-BD66-E0153FAE9F5E}" type="slidenum">
              <a:rPr lang="en-AU" smtClean="0"/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3C085-B59A-4814-9E98-7B08CC1D9940}" type="datetimeFigureOut">
              <a:rPr lang="en-AU" smtClean="0"/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3AC58-6413-4B4A-BD66-E0153FAE9F5E}" type="slidenum">
              <a:rPr lang="en-AU" smtClean="0"/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548681"/>
            <a:ext cx="8640960" cy="3096344"/>
          </a:xfrm>
        </p:spPr>
        <p:txBody>
          <a:bodyPr>
            <a:normAutofit/>
          </a:bodyPr>
          <a:lstStyle/>
          <a:p>
            <a:r>
              <a:rPr lang="en-AU" sz="4800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ለሙስሊሞች</a:t>
            </a:r>
            <a:r>
              <a:rPr lang="en-AU" sz="4800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AU" sz="4800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ጥያቄዎች</a:t>
            </a:r>
            <a:r>
              <a:rPr lang="en-AU" sz="4800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AU" sz="4800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የክርስቲያኖች</a:t>
            </a:r>
            <a:r>
              <a:rPr lang="en-AU" sz="4800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AU" sz="4800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መልስ</a:t>
            </a:r>
            <a:endParaRPr lang="en-AU" sz="4800" b="1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17032"/>
            <a:ext cx="6400800" cy="1921768"/>
          </a:xfrm>
        </p:spPr>
        <p:txBody>
          <a:bodyPr>
            <a:normAutofit/>
          </a:bodyPr>
          <a:lstStyle/>
          <a:p>
            <a:r>
              <a:rPr lang="en-US" sz="36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የአለምገና</a:t>
            </a:r>
            <a:r>
              <a:rPr lang="en-US" sz="36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ቤቴል</a:t>
            </a:r>
            <a:r>
              <a:rPr lang="en-US" sz="36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ቃለ</a:t>
            </a:r>
            <a:r>
              <a:rPr lang="en-US" sz="36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ህይወት</a:t>
            </a:r>
            <a:r>
              <a:rPr lang="en-US" sz="36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ቤ/</a:t>
            </a:r>
            <a:r>
              <a:rPr lang="en-US" sz="36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ክርስቲያን</a:t>
            </a:r>
            <a:r>
              <a:rPr lang="en-US" sz="36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ተከታታይ</a:t>
            </a:r>
            <a:r>
              <a:rPr lang="en-US" sz="36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ሴሚናር</a:t>
            </a:r>
            <a:endParaRPr lang="en-AU" sz="3600" b="1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228919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404664"/>
            <a:ext cx="8856984" cy="633670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የሴሚናር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ርዕስ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ዝርዝር</a:t>
            </a:r>
            <a:endParaRPr lang="en-US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514350" indent="-514350">
              <a:buAutoNum type="arabicPeriod"/>
            </a:pPr>
            <a:r>
              <a:rPr lang="en-US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ስለመጽሐፍ</a:t>
            </a: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ቅዱስ</a:t>
            </a:r>
            <a:endParaRPr lang="en-US" b="1" dirty="0" smtClean="0">
              <a:solidFill>
                <a:srgbClr val="00B05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2600" b="1" dirty="0" smtClean="0">
                <a:latin typeface="Arial Black" panose="020B0A04020102020204" pitchFamily="34" charset="0"/>
              </a:rPr>
              <a:t>ሀ) </a:t>
            </a:r>
            <a:r>
              <a:rPr lang="en-US" sz="2600" b="1" dirty="0" err="1" smtClean="0">
                <a:latin typeface="Arial Black" panose="020B0A04020102020204" pitchFamily="34" charset="0"/>
              </a:rPr>
              <a:t>መጽሐፍ</a:t>
            </a:r>
            <a:r>
              <a:rPr lang="en-US" sz="2600" b="1" dirty="0" smtClean="0">
                <a:latin typeface="Arial Black" panose="020B0A04020102020204" pitchFamily="34" charset="0"/>
              </a:rPr>
              <a:t> </a:t>
            </a:r>
            <a:r>
              <a:rPr lang="en-US" sz="2600" b="1" dirty="0" err="1" smtClean="0">
                <a:latin typeface="Arial Black" panose="020B0A04020102020204" pitchFamily="34" charset="0"/>
              </a:rPr>
              <a:t>ቅዱስ</a:t>
            </a:r>
            <a:r>
              <a:rPr lang="en-US" sz="2600" b="1" dirty="0" smtClean="0">
                <a:latin typeface="Arial Black" panose="020B0A04020102020204" pitchFamily="34" charset="0"/>
              </a:rPr>
              <a:t> </a:t>
            </a:r>
            <a:r>
              <a:rPr lang="en-US" sz="2600" b="1" dirty="0" err="1" smtClean="0">
                <a:latin typeface="Arial Black" panose="020B0A04020102020204" pitchFamily="34" charset="0"/>
              </a:rPr>
              <a:t>የእግዚአብሄር</a:t>
            </a:r>
            <a:r>
              <a:rPr lang="en-US" sz="2600" b="1" dirty="0" smtClean="0">
                <a:latin typeface="Arial Black" panose="020B0A04020102020204" pitchFamily="34" charset="0"/>
              </a:rPr>
              <a:t> </a:t>
            </a:r>
            <a:r>
              <a:rPr lang="en-US" sz="2600" b="1" dirty="0" err="1" smtClean="0">
                <a:latin typeface="Arial Black" panose="020B0A04020102020204" pitchFamily="34" charset="0"/>
              </a:rPr>
              <a:t>ቃል</a:t>
            </a:r>
            <a:r>
              <a:rPr lang="en-US" sz="2600" b="1" dirty="0" smtClean="0">
                <a:latin typeface="Arial Black" panose="020B0A04020102020204" pitchFamily="34" charset="0"/>
              </a:rPr>
              <a:t> </a:t>
            </a:r>
            <a:r>
              <a:rPr lang="en-US" sz="2600" b="1" dirty="0" err="1" smtClean="0">
                <a:latin typeface="Arial Black" panose="020B0A04020102020204" pitchFamily="34" charset="0"/>
              </a:rPr>
              <a:t>ነውን</a:t>
            </a:r>
            <a:r>
              <a:rPr lang="en-US" sz="2600" b="1" dirty="0" smtClean="0">
                <a:latin typeface="Arial Black" panose="020B0A04020102020204" pitchFamily="34" charset="0"/>
              </a:rPr>
              <a:t>?</a:t>
            </a:r>
            <a:endParaRPr lang="en-US" sz="2600" b="1" dirty="0" smtClean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2600" b="1" dirty="0" smtClean="0">
                <a:latin typeface="Arial Black" panose="020B0A04020102020204" pitchFamily="34" charset="0"/>
              </a:rPr>
              <a:t>ለ) </a:t>
            </a:r>
            <a:r>
              <a:rPr lang="en-US" sz="2600" b="1" dirty="0" err="1" smtClean="0">
                <a:latin typeface="Arial Black" panose="020B0A04020102020204" pitchFamily="34" charset="0"/>
              </a:rPr>
              <a:t>ቁርአን</a:t>
            </a:r>
            <a:r>
              <a:rPr lang="en-US" sz="2600" b="1" dirty="0" smtClean="0">
                <a:latin typeface="Arial Black" panose="020B0A04020102020204" pitchFamily="34" charset="0"/>
              </a:rPr>
              <a:t> </a:t>
            </a:r>
            <a:r>
              <a:rPr lang="en-US" sz="2600" b="1" dirty="0" err="1" smtClean="0">
                <a:latin typeface="Arial Black" panose="020B0A04020102020204" pitchFamily="34" charset="0"/>
              </a:rPr>
              <a:t>ስለመጽሐፍ</a:t>
            </a:r>
            <a:r>
              <a:rPr lang="en-US" sz="2600" b="1" dirty="0" smtClean="0">
                <a:latin typeface="Arial Black" panose="020B0A04020102020204" pitchFamily="34" charset="0"/>
              </a:rPr>
              <a:t> </a:t>
            </a:r>
            <a:r>
              <a:rPr lang="en-US" sz="2600" b="1" dirty="0" err="1" smtClean="0">
                <a:latin typeface="Arial Black" panose="020B0A04020102020204" pitchFamily="34" charset="0"/>
              </a:rPr>
              <a:t>ቅዱስ</a:t>
            </a:r>
            <a:r>
              <a:rPr lang="en-US" sz="2600" b="1" dirty="0" smtClean="0">
                <a:latin typeface="Arial Black" panose="020B0A04020102020204" pitchFamily="34" charset="0"/>
              </a:rPr>
              <a:t> </a:t>
            </a:r>
            <a:r>
              <a:rPr lang="en-US" sz="2600" b="1" dirty="0" err="1" smtClean="0">
                <a:latin typeface="Arial Black" panose="020B0A04020102020204" pitchFamily="34" charset="0"/>
              </a:rPr>
              <a:t>ምን</a:t>
            </a:r>
            <a:r>
              <a:rPr lang="en-US" sz="2600" b="1" dirty="0" smtClean="0">
                <a:latin typeface="Arial Black" panose="020B0A04020102020204" pitchFamily="34" charset="0"/>
              </a:rPr>
              <a:t> </a:t>
            </a:r>
            <a:r>
              <a:rPr lang="en-US" sz="2600" b="1" dirty="0" err="1" smtClean="0">
                <a:latin typeface="Arial Black" panose="020B0A04020102020204" pitchFamily="34" charset="0"/>
              </a:rPr>
              <a:t>ይላል</a:t>
            </a:r>
            <a:r>
              <a:rPr lang="en-US" sz="2600" b="1" dirty="0" smtClean="0">
                <a:latin typeface="Arial Black" panose="020B0A04020102020204" pitchFamily="34" charset="0"/>
              </a:rPr>
              <a:t>?</a:t>
            </a:r>
            <a:endParaRPr lang="en-US" sz="2600" b="1" dirty="0" smtClean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2600" b="1" dirty="0" smtClean="0">
                <a:latin typeface="Arial Black" panose="020B0A04020102020204" pitchFamily="34" charset="0"/>
              </a:rPr>
              <a:t>ሐ) </a:t>
            </a:r>
            <a:r>
              <a:rPr lang="en-US" sz="2600" b="1" dirty="0" err="1" smtClean="0">
                <a:latin typeface="Arial Black" panose="020B0A04020102020204" pitchFamily="34" charset="0"/>
              </a:rPr>
              <a:t>መጽሐፍ</a:t>
            </a:r>
            <a:r>
              <a:rPr lang="en-US" sz="2600" b="1" dirty="0" smtClean="0">
                <a:latin typeface="Arial Black" panose="020B0A04020102020204" pitchFamily="34" charset="0"/>
              </a:rPr>
              <a:t> </a:t>
            </a:r>
            <a:r>
              <a:rPr lang="en-US" sz="2600" b="1" dirty="0" err="1" smtClean="0">
                <a:latin typeface="Arial Black" panose="020B0A04020102020204" pitchFamily="34" charset="0"/>
              </a:rPr>
              <a:t>ቅዱስ</a:t>
            </a:r>
            <a:r>
              <a:rPr lang="en-US" sz="2600" b="1" dirty="0" smtClean="0">
                <a:latin typeface="Arial Black" panose="020B0A04020102020204" pitchFamily="34" charset="0"/>
              </a:rPr>
              <a:t> </a:t>
            </a:r>
            <a:r>
              <a:rPr lang="en-US" sz="2600" b="1" dirty="0" err="1" smtClean="0">
                <a:latin typeface="Arial Black" panose="020B0A04020102020204" pitchFamily="34" charset="0"/>
              </a:rPr>
              <a:t>እርስ</a:t>
            </a:r>
            <a:r>
              <a:rPr lang="en-US" sz="2600" b="1" dirty="0" smtClean="0">
                <a:latin typeface="Arial Black" panose="020B0A04020102020204" pitchFamily="34" charset="0"/>
              </a:rPr>
              <a:t> </a:t>
            </a:r>
            <a:r>
              <a:rPr lang="en-US" sz="2600" b="1" dirty="0" err="1" smtClean="0">
                <a:latin typeface="Arial Black" panose="020B0A04020102020204" pitchFamily="34" charset="0"/>
              </a:rPr>
              <a:t>በርሱ</a:t>
            </a:r>
            <a:r>
              <a:rPr lang="en-US" sz="2600" b="1" dirty="0" smtClean="0">
                <a:latin typeface="Arial Black" panose="020B0A04020102020204" pitchFamily="34" charset="0"/>
              </a:rPr>
              <a:t> </a:t>
            </a:r>
            <a:r>
              <a:rPr lang="en-US" sz="2600" b="1" dirty="0" err="1" smtClean="0">
                <a:latin typeface="Arial Black" panose="020B0A04020102020204" pitchFamily="34" charset="0"/>
              </a:rPr>
              <a:t>ይጋጫልን</a:t>
            </a:r>
            <a:r>
              <a:rPr lang="en-US" sz="2600" b="1" dirty="0" smtClean="0">
                <a:latin typeface="Arial Black" panose="020B0A04020102020204" pitchFamily="34" charset="0"/>
              </a:rPr>
              <a:t>?</a:t>
            </a:r>
            <a:endParaRPr lang="en-US" sz="2600" b="1" dirty="0" smtClean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2. </a:t>
            </a:r>
            <a:r>
              <a:rPr lang="en-US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ክርስቶስ</a:t>
            </a: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በመጽሐፍ</a:t>
            </a: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ቅዱስና</a:t>
            </a: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በቁርአን</a:t>
            </a:r>
            <a:endParaRPr lang="en-US" b="1" dirty="0" smtClean="0">
              <a:solidFill>
                <a:srgbClr val="00B05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Arial Black" panose="020B0A04020102020204" pitchFamily="34" charset="0"/>
              </a:rPr>
              <a:t>ሀ) </a:t>
            </a:r>
            <a:r>
              <a:rPr lang="en-US" sz="2400" b="1" dirty="0" err="1" smtClean="0">
                <a:latin typeface="Arial Black" panose="020B0A04020102020204" pitchFamily="34" charset="0"/>
              </a:rPr>
              <a:t>ክርስቶስ</a:t>
            </a:r>
            <a:r>
              <a:rPr lang="en-US" sz="2400" b="1" dirty="0" smtClean="0">
                <a:latin typeface="Arial Black" panose="020B0A04020102020204" pitchFamily="34" charset="0"/>
              </a:rPr>
              <a:t> </a:t>
            </a:r>
            <a:r>
              <a:rPr lang="en-US" sz="2400" b="1" dirty="0" err="1" smtClean="0">
                <a:latin typeface="Arial Black" panose="020B0A04020102020204" pitchFamily="34" charset="0"/>
              </a:rPr>
              <a:t>አምላክ</a:t>
            </a:r>
            <a:r>
              <a:rPr lang="en-US" sz="2400" b="1" dirty="0" smtClean="0">
                <a:latin typeface="Arial Black" panose="020B0A04020102020204" pitchFamily="34" charset="0"/>
              </a:rPr>
              <a:t> </a:t>
            </a:r>
            <a:r>
              <a:rPr lang="en-US" sz="2400" b="1" dirty="0" err="1" smtClean="0">
                <a:latin typeface="Arial Black" panose="020B0A04020102020204" pitchFamily="34" charset="0"/>
              </a:rPr>
              <a:t>ነውን</a:t>
            </a:r>
            <a:r>
              <a:rPr lang="en-US" sz="2400" b="1" dirty="0" smtClean="0">
                <a:latin typeface="Arial Black" panose="020B0A04020102020204" pitchFamily="34" charset="0"/>
              </a:rPr>
              <a:t>?</a:t>
            </a:r>
            <a:endParaRPr lang="en-US" sz="2400" b="1" dirty="0" smtClean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Arial Black" panose="020B0A04020102020204" pitchFamily="34" charset="0"/>
              </a:rPr>
              <a:t>ለ) </a:t>
            </a:r>
            <a:r>
              <a:rPr lang="en-US" sz="2400" b="1" dirty="0" err="1" smtClean="0">
                <a:latin typeface="Arial Black" panose="020B0A04020102020204" pitchFamily="34" charset="0"/>
              </a:rPr>
              <a:t>ክርስቶስ</a:t>
            </a:r>
            <a:r>
              <a:rPr lang="en-US" sz="2400" b="1" dirty="0" smtClean="0">
                <a:latin typeface="Arial Black" panose="020B0A04020102020204" pitchFamily="34" charset="0"/>
              </a:rPr>
              <a:t> </a:t>
            </a:r>
            <a:r>
              <a:rPr lang="en-US" sz="2400" b="1" dirty="0" err="1" smtClean="0">
                <a:latin typeface="Arial Black" panose="020B0A04020102020204" pitchFamily="34" charset="0"/>
              </a:rPr>
              <a:t>የእግዚአብሄር</a:t>
            </a:r>
            <a:r>
              <a:rPr lang="en-US" sz="2400" b="1" dirty="0" smtClean="0">
                <a:latin typeface="Arial Black" panose="020B0A04020102020204" pitchFamily="34" charset="0"/>
              </a:rPr>
              <a:t> </a:t>
            </a:r>
            <a:r>
              <a:rPr lang="en-US" sz="2400" b="1" dirty="0" err="1" smtClean="0">
                <a:latin typeface="Arial Black" panose="020B0A04020102020204" pitchFamily="34" charset="0"/>
              </a:rPr>
              <a:t>ልጅ</a:t>
            </a:r>
            <a:r>
              <a:rPr lang="en-US" sz="2400" b="1" dirty="0" smtClean="0">
                <a:latin typeface="Arial Black" panose="020B0A04020102020204" pitchFamily="34" charset="0"/>
              </a:rPr>
              <a:t> </a:t>
            </a:r>
            <a:r>
              <a:rPr lang="en-US" sz="2400" b="1" dirty="0" err="1" smtClean="0">
                <a:latin typeface="Arial Black" panose="020B0A04020102020204" pitchFamily="34" charset="0"/>
              </a:rPr>
              <a:t>ነውን</a:t>
            </a:r>
            <a:r>
              <a:rPr lang="en-US" sz="2400" b="1" dirty="0" smtClean="0">
                <a:latin typeface="Arial Black" panose="020B0A04020102020204" pitchFamily="34" charset="0"/>
              </a:rPr>
              <a:t>?</a:t>
            </a:r>
            <a:endParaRPr lang="en-US" sz="2400" b="1" dirty="0" smtClean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Arial Black" panose="020B0A04020102020204" pitchFamily="34" charset="0"/>
              </a:rPr>
              <a:t>ሐ) </a:t>
            </a:r>
            <a:r>
              <a:rPr lang="en-US" sz="2400" b="1" dirty="0" err="1" smtClean="0">
                <a:latin typeface="Arial Black" panose="020B0A04020102020204" pitchFamily="34" charset="0"/>
              </a:rPr>
              <a:t>ክርስቶስ</a:t>
            </a:r>
            <a:r>
              <a:rPr lang="en-US" sz="2400" b="1" dirty="0" smtClean="0">
                <a:latin typeface="Arial Black" panose="020B0A04020102020204" pitchFamily="34" charset="0"/>
              </a:rPr>
              <a:t> </a:t>
            </a:r>
            <a:r>
              <a:rPr lang="en-US" sz="2400" b="1" dirty="0" err="1" smtClean="0">
                <a:latin typeface="Arial Black" panose="020B0A04020102020204" pitchFamily="34" charset="0"/>
              </a:rPr>
              <a:t>በመስቀል</a:t>
            </a:r>
            <a:r>
              <a:rPr lang="en-US" sz="2400" b="1" dirty="0" smtClean="0">
                <a:latin typeface="Arial Black" panose="020B0A04020102020204" pitchFamily="34" charset="0"/>
              </a:rPr>
              <a:t> </a:t>
            </a:r>
            <a:r>
              <a:rPr lang="en-US" sz="2400" b="1" dirty="0" err="1" smtClean="0">
                <a:latin typeface="Arial Black" panose="020B0A04020102020204" pitchFamily="34" charset="0"/>
              </a:rPr>
              <a:t>ላይ</a:t>
            </a:r>
            <a:r>
              <a:rPr lang="en-US" sz="2400" b="1" dirty="0" smtClean="0">
                <a:latin typeface="Arial Black" panose="020B0A04020102020204" pitchFamily="34" charset="0"/>
              </a:rPr>
              <a:t> </a:t>
            </a:r>
            <a:r>
              <a:rPr lang="en-US" sz="2400" b="1" dirty="0" err="1" smtClean="0">
                <a:latin typeface="Arial Black" panose="020B0A04020102020204" pitchFamily="34" charset="0"/>
              </a:rPr>
              <a:t>ሞቶአልን</a:t>
            </a:r>
            <a:r>
              <a:rPr lang="en-US" sz="2400" b="1" dirty="0" smtClean="0">
                <a:latin typeface="Arial Black" panose="020B0A04020102020204" pitchFamily="34" charset="0"/>
              </a:rPr>
              <a:t>?</a:t>
            </a:r>
            <a:endParaRPr lang="en-US" sz="2400" b="1" dirty="0" smtClean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3. </a:t>
            </a:r>
            <a:r>
              <a:rPr lang="en-US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ስለሥላሴ</a:t>
            </a:r>
            <a:endParaRPr lang="en-US" b="1" dirty="0" smtClean="0">
              <a:solidFill>
                <a:srgbClr val="00B05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Arial Black" panose="020B0A04020102020204" pitchFamily="34" charset="0"/>
              </a:rPr>
              <a:t>ሀ) </a:t>
            </a:r>
            <a:r>
              <a:rPr lang="en-US" sz="2400" b="1" dirty="0" err="1" smtClean="0">
                <a:latin typeface="Arial Black" panose="020B0A04020102020204" pitchFamily="34" charset="0"/>
              </a:rPr>
              <a:t>ስላሴ</a:t>
            </a:r>
            <a:r>
              <a:rPr lang="en-US" sz="2400" b="1" dirty="0" smtClean="0">
                <a:latin typeface="Arial Black" panose="020B0A04020102020204" pitchFamily="34" charset="0"/>
              </a:rPr>
              <a:t> </a:t>
            </a:r>
            <a:r>
              <a:rPr lang="en-US" sz="2400" b="1" dirty="0" err="1" smtClean="0">
                <a:latin typeface="Arial Black" panose="020B0A04020102020204" pitchFamily="34" charset="0"/>
              </a:rPr>
              <a:t>በቁርአን</a:t>
            </a:r>
            <a:endParaRPr lang="en-US" sz="2400" b="1" dirty="0" smtClean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Arial Black" panose="020B0A04020102020204" pitchFamily="34" charset="0"/>
              </a:rPr>
              <a:t>ለ) </a:t>
            </a:r>
            <a:r>
              <a:rPr lang="en-US" sz="2400" b="1" dirty="0" err="1" smtClean="0">
                <a:latin typeface="Arial Black" panose="020B0A04020102020204" pitchFamily="34" charset="0"/>
              </a:rPr>
              <a:t>ስላሴ</a:t>
            </a:r>
            <a:r>
              <a:rPr lang="en-US" sz="2400" b="1" dirty="0" smtClean="0">
                <a:latin typeface="Arial Black" panose="020B0A04020102020204" pitchFamily="34" charset="0"/>
              </a:rPr>
              <a:t> </a:t>
            </a:r>
            <a:r>
              <a:rPr lang="en-US" sz="2400" b="1" dirty="0" err="1" smtClean="0">
                <a:latin typeface="Arial Black" panose="020B0A04020102020204" pitchFamily="34" charset="0"/>
              </a:rPr>
              <a:t>በመጽሐፍ</a:t>
            </a:r>
            <a:r>
              <a:rPr lang="en-US" sz="2400" b="1" dirty="0" smtClean="0">
                <a:latin typeface="Arial Black" panose="020B0A04020102020204" pitchFamily="34" charset="0"/>
              </a:rPr>
              <a:t> </a:t>
            </a:r>
            <a:r>
              <a:rPr lang="en-US" sz="2400" b="1" dirty="0" err="1" smtClean="0">
                <a:latin typeface="Arial Black" panose="020B0A04020102020204" pitchFamily="34" charset="0"/>
              </a:rPr>
              <a:t>ቅዱስ</a:t>
            </a:r>
            <a:endParaRPr lang="en-US" sz="2400" b="1" dirty="0" smtClean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4. </a:t>
            </a:r>
            <a:r>
              <a:rPr lang="en-US" sz="2400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መሐመድ</a:t>
            </a:r>
            <a:r>
              <a:rPr lang="en-US" sz="2400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US" sz="2400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በመጽሐፍ</a:t>
            </a:r>
            <a:r>
              <a:rPr lang="en-US" sz="2400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US" sz="2400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ቅዱስ</a:t>
            </a:r>
            <a:endParaRPr lang="en-US" sz="2400" b="1" dirty="0" smtClean="0">
              <a:solidFill>
                <a:srgbClr val="00B05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b="1" dirty="0" smtClean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858218"/>
          </a:xfrm>
        </p:spPr>
        <p:txBody>
          <a:bodyPr>
            <a:normAutofit/>
          </a:bodyPr>
          <a:lstStyle/>
          <a:p>
            <a:r>
              <a:rPr lang="en-US" sz="3200" b="1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የሙስሊሞችን</a:t>
            </a:r>
            <a:r>
              <a:rPr lang="en-US" sz="32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ጥያቄዎች</a:t>
            </a:r>
            <a:r>
              <a:rPr lang="en-US" sz="32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እንዴት</a:t>
            </a:r>
            <a:r>
              <a:rPr lang="en-US" sz="32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  <a:latin typeface="Arial Black" panose="020B0A04020102020204" pitchFamily="34" charset="0"/>
              </a:rPr>
              <a:t>እንመልስ</a:t>
            </a:r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?</a:t>
            </a:r>
            <a:endParaRPr lang="en-AU" sz="32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49736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b="1" dirty="0" smtClean="0">
                <a:latin typeface="Arial Black" panose="020B0A04020102020204" pitchFamily="34" charset="0"/>
              </a:rPr>
              <a:t>1ኛ </a:t>
            </a:r>
            <a:r>
              <a:rPr lang="en-US" b="1" dirty="0" err="1" smtClean="0">
                <a:latin typeface="Arial Black" panose="020B0A04020102020204" pitchFamily="34" charset="0"/>
              </a:rPr>
              <a:t>ጴጥ</a:t>
            </a:r>
            <a:r>
              <a:rPr lang="en-US" b="1" dirty="0" smtClean="0">
                <a:latin typeface="Arial Black" panose="020B0A04020102020204" pitchFamily="34" charset="0"/>
              </a:rPr>
              <a:t> 3፡15 </a:t>
            </a:r>
            <a:r>
              <a:rPr lang="en-US" b="1" dirty="0" err="1" smtClean="0">
                <a:latin typeface="Arial Black" panose="020B0A04020102020204" pitchFamily="34" charset="0"/>
              </a:rPr>
              <a:t>እንዲህ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ይላል</a:t>
            </a:r>
            <a:r>
              <a:rPr lang="en-US" b="1" dirty="0" smtClean="0">
                <a:latin typeface="Arial Black" panose="020B0A04020102020204" pitchFamily="34" charset="0"/>
              </a:rPr>
              <a:t>፡- “</a:t>
            </a:r>
            <a:r>
              <a:rPr lang="en-US" b="1" dirty="0" err="1" smtClean="0">
                <a:latin typeface="Arial Black" panose="020B0A04020102020204" pitchFamily="34" charset="0"/>
              </a:rPr>
              <a:t>በእናንተ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ስላለ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ተስፋ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ምክንያትን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ለሚጠይቁአችሁ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ሁሉ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መልስ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ለመስጠት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ዘወትር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የተዘጋጃችሁ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ሁኑ</a:t>
            </a:r>
            <a:r>
              <a:rPr lang="en-US" b="1" dirty="0" smtClean="0">
                <a:latin typeface="Arial Black" panose="020B0A04020102020204" pitchFamily="34" charset="0"/>
              </a:rPr>
              <a:t>”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endParaRPr lang="en-US" sz="3600" b="1" dirty="0">
              <a:solidFill>
                <a:srgbClr val="00B050"/>
              </a:solidFill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endParaRPr lang="en-AU" sz="3600" b="1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Arial Black" panose="020B0A04020102020204" pitchFamily="34" charset="0"/>
              </a:rPr>
              <a:t>መጽሐፍ </a:t>
            </a:r>
            <a:r>
              <a:rPr lang="en-US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ቅዱስ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268760"/>
            <a:ext cx="8856984" cy="5472608"/>
          </a:xfrm>
        </p:spPr>
        <p:txBody>
          <a:bodyPr>
            <a:normAutofit fontScale="62500" lnSpcReduction="20000"/>
          </a:bodyPr>
          <a:lstStyle/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sz="36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መጽሐፍ </a:t>
            </a:r>
            <a:r>
              <a:rPr lang="en-US" sz="36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ቅዱስ</a:t>
            </a:r>
            <a:r>
              <a:rPr lang="en-US" sz="36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የእግዚአብሄር</a:t>
            </a:r>
            <a:r>
              <a:rPr lang="en-US" sz="36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ቃል</a:t>
            </a:r>
            <a:r>
              <a:rPr lang="en-US" sz="36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ነውን</a:t>
            </a:r>
            <a:r>
              <a:rPr lang="en-US" sz="36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?</a:t>
            </a:r>
            <a:endParaRPr lang="en-US" sz="3600" b="1" dirty="0" smtClean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600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የመጽሐፍ</a:t>
            </a:r>
            <a:r>
              <a:rPr lang="en-US" sz="3600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ቅዱስ</a:t>
            </a:r>
            <a:r>
              <a:rPr lang="en-US" sz="3600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ምስክርነት</a:t>
            </a:r>
            <a:r>
              <a:rPr lang="en-US" sz="3600" b="1" dirty="0" smtClean="0">
                <a:latin typeface="Arial Black" panose="020B0A04020102020204" pitchFamily="34" charset="0"/>
              </a:rPr>
              <a:t>፡- </a:t>
            </a:r>
            <a:endParaRPr lang="en-US" sz="3600" b="1" dirty="0" smtClean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b="1" dirty="0" err="1" smtClean="0">
                <a:latin typeface="Arial Black" panose="020B0A04020102020204" pitchFamily="34" charset="0"/>
              </a:rPr>
              <a:t>እንዴት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እንደተገለጠ</a:t>
            </a:r>
            <a:r>
              <a:rPr lang="en-US" sz="3600" b="1" dirty="0" smtClean="0">
                <a:latin typeface="Arial Black" panose="020B0A04020102020204" pitchFamily="34" charset="0"/>
              </a:rPr>
              <a:t>፡- 2ኛ </a:t>
            </a:r>
            <a:r>
              <a:rPr lang="en-US" sz="3600" b="1" dirty="0" err="1" smtClean="0">
                <a:latin typeface="Arial Black" panose="020B0A04020102020204" pitchFamily="34" charset="0"/>
              </a:rPr>
              <a:t>ጴጥ</a:t>
            </a:r>
            <a:r>
              <a:rPr lang="en-US" sz="3600" b="1" dirty="0" smtClean="0">
                <a:latin typeface="Arial Black" panose="020B0A04020102020204" pitchFamily="34" charset="0"/>
              </a:rPr>
              <a:t> 1፡20-21 </a:t>
            </a:r>
            <a:endParaRPr lang="en-US" sz="3600" b="1" dirty="0" smtClean="0">
              <a:latin typeface="Arial Black" panose="020B0A040201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600" b="1" dirty="0" smtClean="0">
                <a:latin typeface="Arial Black" panose="020B0A04020102020204" pitchFamily="34" charset="0"/>
              </a:rPr>
              <a:t>“</a:t>
            </a:r>
            <a:r>
              <a:rPr lang="en-US" sz="3600" b="1" dirty="0" err="1" smtClean="0">
                <a:latin typeface="Arial Black" panose="020B0A04020102020204" pitchFamily="34" charset="0"/>
              </a:rPr>
              <a:t>ይህን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በመጀመሪያ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እወቁ</a:t>
            </a:r>
            <a:r>
              <a:rPr lang="en-US" sz="3600" b="1" dirty="0" smtClean="0">
                <a:latin typeface="Arial Black" panose="020B0A04020102020204" pitchFamily="34" charset="0"/>
              </a:rPr>
              <a:t>፤ </a:t>
            </a:r>
            <a:r>
              <a:rPr lang="en-US" sz="3600" b="1" dirty="0" err="1" smtClean="0">
                <a:latin typeface="Arial Black" panose="020B0A04020102020204" pitchFamily="34" charset="0"/>
              </a:rPr>
              <a:t>በመጽሐፍ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ያለውን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ትንቢት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ሁሉ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ማንም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ለገዛ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ራሱ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ሊተረጉም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አልተፈቀደለትም</a:t>
            </a:r>
            <a:r>
              <a:rPr lang="en-US" sz="3600" b="1" dirty="0" smtClean="0">
                <a:latin typeface="Arial Black" panose="020B0A04020102020204" pitchFamily="34" charset="0"/>
              </a:rPr>
              <a:t>፤ </a:t>
            </a:r>
            <a:r>
              <a:rPr lang="en-US" sz="3600" b="1" dirty="0" err="1" smtClean="0">
                <a:latin typeface="Arial Black" panose="020B0A04020102020204" pitchFamily="34" charset="0"/>
              </a:rPr>
              <a:t>ትንቢት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ከቶ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በሰው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ፈቃድ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አልመጣምመና</a:t>
            </a:r>
            <a:r>
              <a:rPr lang="en-US" sz="3600" b="1" dirty="0" smtClean="0">
                <a:latin typeface="Arial Black" panose="020B0A04020102020204" pitchFamily="34" charset="0"/>
              </a:rPr>
              <a:t>፣ </a:t>
            </a:r>
            <a:r>
              <a:rPr lang="en-US" sz="3600" b="1" dirty="0" err="1" smtClean="0">
                <a:latin typeface="Arial Black" panose="020B0A04020102020204" pitchFamily="34" charset="0"/>
              </a:rPr>
              <a:t>ዳሩ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ግን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በእግዚአብሄር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ተልከው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ቅዱሳን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ሰዎች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በመንፈስ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ቅዱስ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ተነድተው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ተናገሩ</a:t>
            </a:r>
            <a:r>
              <a:rPr lang="en-US" sz="3600" b="1" dirty="0" smtClean="0">
                <a:latin typeface="Arial Black" panose="020B0A04020102020204" pitchFamily="34" charset="0"/>
              </a:rPr>
              <a:t>፡፡” </a:t>
            </a:r>
            <a:endParaRPr lang="en-US" sz="3600" b="1" dirty="0" smtClean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b="1" dirty="0" err="1" smtClean="0">
                <a:latin typeface="Arial Black" panose="020B0A04020102020204" pitchFamily="34" charset="0"/>
              </a:rPr>
              <a:t>አላማውም</a:t>
            </a:r>
            <a:r>
              <a:rPr lang="en-US" sz="3600" b="1" dirty="0" smtClean="0">
                <a:latin typeface="Arial Black" panose="020B0A04020102020204" pitchFamily="34" charset="0"/>
              </a:rPr>
              <a:t>፡- 2ኛ </a:t>
            </a:r>
            <a:r>
              <a:rPr lang="en-US" sz="3600" b="1" dirty="0" err="1" smtClean="0">
                <a:latin typeface="Arial Black" panose="020B0A04020102020204" pitchFamily="34" charset="0"/>
              </a:rPr>
              <a:t>ጢሞ</a:t>
            </a:r>
            <a:r>
              <a:rPr lang="en-US" sz="3600" b="1" dirty="0" smtClean="0">
                <a:latin typeface="Arial Black" panose="020B0A04020102020204" pitchFamily="34" charset="0"/>
              </a:rPr>
              <a:t> 3፡16</a:t>
            </a:r>
            <a:endParaRPr lang="en-US" sz="3600" b="1" dirty="0" smtClean="0">
              <a:latin typeface="Arial Black" panose="020B0A040201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600" b="1" dirty="0" smtClean="0">
                <a:latin typeface="Arial Black" panose="020B0A04020102020204" pitchFamily="34" charset="0"/>
              </a:rPr>
              <a:t>“</a:t>
            </a:r>
            <a:r>
              <a:rPr lang="en-US" sz="3600" b="1" dirty="0" err="1" smtClean="0">
                <a:latin typeface="Arial Black" panose="020B0A04020102020204" pitchFamily="34" charset="0"/>
              </a:rPr>
              <a:t>የእግዚአብሄር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ሰው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ፍጹምና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ለበጎ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ስራ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ሁሉ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የተዘጋጀ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ይሆን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ዘንድ</a:t>
            </a:r>
            <a:r>
              <a:rPr lang="en-US" sz="3600" b="1" dirty="0" smtClean="0">
                <a:latin typeface="Arial Black" panose="020B0A04020102020204" pitchFamily="34" charset="0"/>
              </a:rPr>
              <a:t>፣ </a:t>
            </a:r>
            <a:r>
              <a:rPr lang="en-US" sz="3600" b="1" dirty="0" err="1" smtClean="0">
                <a:latin typeface="Arial Black" panose="020B0A04020102020204" pitchFamily="34" charset="0"/>
              </a:rPr>
              <a:t>የእግዚአብሄር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መንፈስ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ያለበት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መጽሐፍ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ሁሉ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ለትምህርትና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ለተግሳጽ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ልብንም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ለማቅናት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በጽድቅም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ላለው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ምክር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ደግሞ</a:t>
            </a:r>
            <a:r>
              <a:rPr lang="en-US" sz="3600" b="1" dirty="0" smtClean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ይጠቅማል</a:t>
            </a:r>
            <a:r>
              <a:rPr lang="en-US" sz="3600" b="1" dirty="0" smtClean="0">
                <a:latin typeface="Arial Black" panose="020B0A04020102020204" pitchFamily="34" charset="0"/>
              </a:rPr>
              <a:t>፡፡”</a:t>
            </a:r>
            <a:endParaRPr lang="en-US" sz="3600" b="1" dirty="0" smtClean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sz="3600" b="1" dirty="0">
              <a:latin typeface="Arial Black" panose="020B0A040201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3600" b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ስለ</a:t>
            </a:r>
            <a:r>
              <a:rPr lang="en-US" sz="32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</a:t>
            </a:r>
            <a:r>
              <a:rPr lang="en-US" sz="32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ቁርአን</a:t>
            </a:r>
            <a:r>
              <a:rPr lang="en-US" sz="3200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</a:t>
            </a:r>
            <a:r>
              <a:rPr lang="en-US" sz="3200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መገለጥ</a:t>
            </a:r>
            <a:endParaRPr lang="en-US" sz="3200" b="1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268760"/>
            <a:ext cx="8856984" cy="547260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ሱራ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2፡97 </a:t>
            </a:r>
            <a:r>
              <a:rPr lang="en-US" b="1" dirty="0" smtClean="0">
                <a:latin typeface="Arial Black" panose="020B0A04020102020204" pitchFamily="34" charset="0"/>
              </a:rPr>
              <a:t>- </a:t>
            </a:r>
            <a:r>
              <a:rPr lang="en-US" b="1" dirty="0" err="1" smtClean="0">
                <a:latin typeface="Arial Black" panose="020B0A04020102020204" pitchFamily="34" charset="0"/>
              </a:rPr>
              <a:t>መልአኩ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ገብርኤል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ቁርአንን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ለመሐመድ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ልብ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ገለጠው</a:t>
            </a:r>
            <a:r>
              <a:rPr lang="en-US" b="1" dirty="0" smtClean="0">
                <a:latin typeface="Arial Black" panose="020B0A04020102020204" pitchFamily="34" charset="0"/>
              </a:rPr>
              <a:t>፡፡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ሱራ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97፡1-5 </a:t>
            </a:r>
            <a:r>
              <a:rPr lang="en-US" b="1" dirty="0" smtClean="0">
                <a:latin typeface="Arial Black" panose="020B0A04020102020204" pitchFamily="34" charset="0"/>
              </a:rPr>
              <a:t>- </a:t>
            </a:r>
            <a:r>
              <a:rPr lang="en-US" b="1" dirty="0" err="1" smtClean="0">
                <a:latin typeface="Arial Black" panose="020B0A04020102020204" pitchFamily="34" charset="0"/>
              </a:rPr>
              <a:t>የቁርአን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መገለጥ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የጀመረው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በለይለቱል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ቀድር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ቀን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ነው</a:t>
            </a:r>
            <a:r>
              <a:rPr lang="en-US" b="1" dirty="0" smtClean="0">
                <a:latin typeface="Arial Black" panose="020B0A04020102020204" pitchFamily="34" charset="0"/>
              </a:rPr>
              <a:t>፡፡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ሱራ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25፡32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እና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17፡106 </a:t>
            </a:r>
            <a:r>
              <a:rPr lang="en-US" b="1" dirty="0" smtClean="0">
                <a:latin typeface="Arial Black" panose="020B0A04020102020204" pitchFamily="34" charset="0"/>
              </a:rPr>
              <a:t>- </a:t>
            </a:r>
            <a:r>
              <a:rPr lang="en-US" b="1" dirty="0" err="1" smtClean="0">
                <a:latin typeface="Arial Black" panose="020B0A04020102020204" pitchFamily="34" charset="0"/>
              </a:rPr>
              <a:t>ቁርአን</a:t>
            </a:r>
            <a:r>
              <a:rPr lang="en-US" b="1" dirty="0" smtClean="0">
                <a:latin typeface="Arial Black" panose="020B0A04020102020204" pitchFamily="34" charset="0"/>
              </a:rPr>
              <a:t> ለ23 </a:t>
            </a:r>
            <a:r>
              <a:rPr lang="en-US" b="1" dirty="0" err="1" smtClean="0">
                <a:latin typeface="Arial Black" panose="020B0A04020102020204" pitchFamily="34" charset="0"/>
              </a:rPr>
              <a:t>አመታት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ትንሽ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በትንሹ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ለመሐመድ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ተገልጦአል</a:t>
            </a:r>
            <a:r>
              <a:rPr lang="en-US" b="1" dirty="0" smtClean="0">
                <a:latin typeface="Arial Black" panose="020B0A04020102020204" pitchFamily="34" charset="0"/>
              </a:rPr>
              <a:t>፡፡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ሙስሊሞች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ቁርአን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ከአላህ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ቃል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በቃል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በመልአኩ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ገብርኤል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አማካይነት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ለመሐመድ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የተገለጥ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መለኮታዊ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መገለጥ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ነው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ብለው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ያምናሉ</a:t>
            </a:r>
            <a:r>
              <a:rPr lang="en-US" b="1" dirty="0" smtClean="0">
                <a:latin typeface="Arial Black" panose="020B0A04020102020204" pitchFamily="34" charset="0"/>
              </a:rPr>
              <a:t>፡፡ </a:t>
            </a:r>
            <a:r>
              <a:rPr lang="en-US" b="1" dirty="0" err="1" smtClean="0">
                <a:latin typeface="Arial Black" panose="020B0A04020102020204" pitchFamily="34" charset="0"/>
              </a:rPr>
              <a:t>ይህም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መሐመድ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በቃላቸው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ከሸመደዱት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በኃላ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ሌሎች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ሰዎች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እንዲሸመድዱት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አድርገዋል</a:t>
            </a:r>
            <a:r>
              <a:rPr lang="en-US" b="1" dirty="0" smtClean="0">
                <a:latin typeface="Arial Black" panose="020B0A04020102020204" pitchFamily="34" charset="0"/>
              </a:rPr>
              <a:t>፡፡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ስለዚህ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በሙስሊሞችና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በክርስቲያኖች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መካከል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ስለመለኮታዊ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መገለጥ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መሰረታዊ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ልዩነት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አለ</a:t>
            </a:r>
            <a:r>
              <a:rPr lang="en-US" b="1" dirty="0" smtClean="0">
                <a:latin typeface="Arial Black" panose="020B0A04020102020204" pitchFamily="34" charset="0"/>
              </a:rPr>
              <a:t>፡፡ </a:t>
            </a:r>
            <a:r>
              <a:rPr lang="en-US" b="1" dirty="0" err="1" smtClean="0">
                <a:latin typeface="Arial Black" panose="020B0A04020102020204" pitchFamily="34" charset="0"/>
              </a:rPr>
              <a:t>ሙስሊሞች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መጽሐፍ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ቅዱስ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ተበላሽቶአል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ብለው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የሚከሱት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ከዚህ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የተነሳ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ነው</a:t>
            </a:r>
            <a:r>
              <a:rPr lang="en-US" b="1" dirty="0" smtClean="0">
                <a:latin typeface="Arial Black" panose="020B0A04020102020204" pitchFamily="34" charset="0"/>
              </a:rPr>
              <a:t>፡፡</a:t>
            </a:r>
            <a:endParaRPr lang="en-US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16632"/>
            <a:ext cx="8229600" cy="158006"/>
          </a:xfrm>
        </p:spPr>
        <p:txBody>
          <a:bodyPr>
            <a:normAutofit fontScale="90000"/>
          </a:bodyPr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404664"/>
            <a:ext cx="8784976" cy="6453336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2. መጽሐፍ </a:t>
            </a:r>
            <a:r>
              <a:rPr lang="en-US" b="1" dirty="0" err="1">
                <a:solidFill>
                  <a:srgbClr val="C00000"/>
                </a:solidFill>
                <a:latin typeface="Arial Black" panose="020B0A04020102020204" pitchFamily="34" charset="0"/>
              </a:rPr>
              <a:t>ቅዱስ</a:t>
            </a:r>
            <a:r>
              <a:rPr lang="en-US" b="1" dirty="0">
                <a:solidFill>
                  <a:srgbClr val="C0000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Arial Black" panose="020B0A04020102020204" pitchFamily="34" charset="0"/>
              </a:rPr>
              <a:t>ተበላሸቶአልን</a:t>
            </a: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?</a:t>
            </a:r>
            <a:endParaRPr lang="en-US" b="1" dirty="0" smtClean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ሀ) </a:t>
            </a:r>
            <a:r>
              <a:rPr lang="en-US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የሙስሊሞች</a:t>
            </a: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ተቃውሞ</a:t>
            </a: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endParaRPr lang="en-US" b="1" dirty="0" smtClean="0">
              <a:solidFill>
                <a:srgbClr val="00B050"/>
              </a:solidFill>
              <a:latin typeface="Arial Black" panose="020B0A04020102020204" pitchFamily="34" charset="0"/>
            </a:endParaRP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ብዙ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የመጽሐፍ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ቅዱስ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ትርጉም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መጻሕፍት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አሉ</a:t>
            </a:r>
            <a:endParaRPr lang="en-US" b="1" dirty="0" smtClean="0">
              <a:solidFill>
                <a:srgbClr val="7030A0"/>
              </a:solidFill>
              <a:latin typeface="Arial Black" panose="020B0A04020102020204" pitchFamily="34" charset="0"/>
            </a:endParaRP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መጽሐፍ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ቅዱስ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የእግዚአብሔር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ቃል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ሳይሆን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ሶስት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አይነት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ንግግሮችን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የያዘ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ነው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- </a:t>
            </a:r>
            <a:r>
              <a:rPr lang="en-US" b="1" dirty="0" err="1" smtClean="0">
                <a:latin typeface="Arial Black" panose="020B0A04020102020204" pitchFamily="34" charset="0"/>
              </a:rPr>
              <a:t>ለምሳሌ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የሰይጣን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ንግግር</a:t>
            </a:r>
            <a:r>
              <a:rPr lang="en-US" b="1" dirty="0" smtClean="0">
                <a:latin typeface="Arial Black" panose="020B0A04020102020204" pitchFamily="34" charset="0"/>
              </a:rPr>
              <a:t> (</a:t>
            </a:r>
            <a:r>
              <a:rPr lang="en-US" b="1" dirty="0" err="1" smtClean="0">
                <a:latin typeface="Arial Black" panose="020B0A04020102020204" pitchFamily="34" charset="0"/>
              </a:rPr>
              <a:t>ኢዮ</a:t>
            </a:r>
            <a:r>
              <a:rPr lang="en-US" b="1" dirty="0" smtClean="0">
                <a:latin typeface="Arial Black" panose="020B0A04020102020204" pitchFamily="34" charset="0"/>
              </a:rPr>
              <a:t> 1፡7)፣ </a:t>
            </a:r>
            <a:r>
              <a:rPr lang="en-US" b="1" dirty="0" err="1" smtClean="0">
                <a:latin typeface="Arial Black" panose="020B0A04020102020204" pitchFamily="34" charset="0"/>
              </a:rPr>
              <a:t>የኖአሚንና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የምራቶችዋ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ንግግር</a:t>
            </a:r>
            <a:r>
              <a:rPr lang="en-US" b="1" dirty="0" smtClean="0">
                <a:latin typeface="Arial Black" panose="020B0A04020102020204" pitchFamily="34" charset="0"/>
              </a:rPr>
              <a:t> (</a:t>
            </a:r>
            <a:r>
              <a:rPr lang="en-US" b="1" dirty="0" err="1" smtClean="0">
                <a:latin typeface="Arial Black" panose="020B0A04020102020204" pitchFamily="34" charset="0"/>
              </a:rPr>
              <a:t>ሩት</a:t>
            </a:r>
            <a:r>
              <a:rPr lang="en-US" b="1" dirty="0" smtClean="0">
                <a:latin typeface="Arial Black" panose="020B0A04020102020204" pitchFamily="34" charset="0"/>
              </a:rPr>
              <a:t> 1፡8-12)፣ </a:t>
            </a:r>
            <a:r>
              <a:rPr lang="en-US" b="1" dirty="0" err="1" smtClean="0">
                <a:latin typeface="Arial Black" panose="020B0A04020102020204" pitchFamily="34" charset="0"/>
              </a:rPr>
              <a:t>የመልአክና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የማሪያም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ንግግር</a:t>
            </a:r>
            <a:r>
              <a:rPr lang="en-US" b="1" dirty="0" smtClean="0">
                <a:latin typeface="Arial Black" panose="020B0A04020102020204" pitchFamily="34" charset="0"/>
              </a:rPr>
              <a:t> (</a:t>
            </a:r>
            <a:r>
              <a:rPr lang="en-US" b="1" dirty="0" err="1" smtClean="0">
                <a:latin typeface="Arial Black" panose="020B0A04020102020204" pitchFamily="34" charset="0"/>
              </a:rPr>
              <a:t>ሉቃ</a:t>
            </a:r>
            <a:r>
              <a:rPr lang="en-US" b="1" dirty="0" smtClean="0">
                <a:latin typeface="Arial Black" panose="020B0A04020102020204" pitchFamily="34" charset="0"/>
              </a:rPr>
              <a:t> 1፡26-35)፣ </a:t>
            </a:r>
            <a:r>
              <a:rPr lang="en-US" b="1" dirty="0" err="1" smtClean="0">
                <a:latin typeface="Arial Black" panose="020B0A04020102020204" pitchFamily="34" charset="0"/>
              </a:rPr>
              <a:t>ወዘተ</a:t>
            </a:r>
            <a:r>
              <a:rPr lang="en-US" b="1" dirty="0" smtClean="0">
                <a:latin typeface="Arial Black" panose="020B0A04020102020204" pitchFamily="34" charset="0"/>
              </a:rPr>
              <a:t>…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አሳፋሪ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ታሪኮች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የያዘ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ነው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- </a:t>
            </a:r>
            <a:r>
              <a:rPr lang="en-US" b="1" dirty="0" err="1" smtClean="0">
                <a:latin typeface="Arial Black" panose="020B0A04020102020204" pitchFamily="34" charset="0"/>
              </a:rPr>
              <a:t>ለምሳሌ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smtClean="0">
                <a:latin typeface="Arial Black" panose="020B0A04020102020204" pitchFamily="34" charset="0"/>
              </a:rPr>
              <a:t>2ኛ </a:t>
            </a:r>
            <a:r>
              <a:rPr lang="en-US" b="1" dirty="0" err="1" smtClean="0">
                <a:latin typeface="Arial Black" panose="020B0A04020102020204" pitchFamily="34" charset="0"/>
              </a:rPr>
              <a:t>ሳሙ</a:t>
            </a:r>
            <a:r>
              <a:rPr lang="en-US" b="1" dirty="0" smtClean="0">
                <a:latin typeface="Arial Black" panose="020B0A04020102020204" pitchFamily="34" charset="0"/>
              </a:rPr>
              <a:t> 11፡1-12፡15 </a:t>
            </a:r>
            <a:r>
              <a:rPr lang="en-US" b="1" dirty="0" smtClean="0">
                <a:latin typeface="Arial Black" panose="020B0A04020102020204" pitchFamily="34" charset="0"/>
              </a:rPr>
              <a:t>(</a:t>
            </a:r>
            <a:r>
              <a:rPr lang="en-US" b="1" dirty="0" err="1" smtClean="0">
                <a:latin typeface="Arial Black" panose="020B0A04020102020204" pitchFamily="34" charset="0"/>
              </a:rPr>
              <a:t>የዳዊት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ኃጢአት</a:t>
            </a:r>
            <a:r>
              <a:rPr lang="en-US" b="1" dirty="0" smtClean="0">
                <a:latin typeface="Arial Black" panose="020B0A04020102020204" pitchFamily="34" charset="0"/>
              </a:rPr>
              <a:t>)፣ </a:t>
            </a:r>
            <a:r>
              <a:rPr lang="en-US" b="1" dirty="0" err="1" smtClean="0">
                <a:latin typeface="Arial Black" panose="020B0A04020102020204" pitchFamily="34" charset="0"/>
              </a:rPr>
              <a:t>ዘዳ</a:t>
            </a:r>
            <a:r>
              <a:rPr lang="en-US" b="1" dirty="0" smtClean="0">
                <a:latin typeface="Arial Black" panose="020B0A04020102020204" pitchFamily="34" charset="0"/>
              </a:rPr>
              <a:t> 23፡1-5 (</a:t>
            </a:r>
            <a:r>
              <a:rPr lang="en-US" b="1" dirty="0" err="1" smtClean="0">
                <a:latin typeface="Arial Black" panose="020B0A04020102020204" pitchFamily="34" charset="0"/>
              </a:rPr>
              <a:t>ቁላው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የተቀጠቀጠ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ወይም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ዲቃላ</a:t>
            </a:r>
            <a:r>
              <a:rPr lang="en-US" b="1" dirty="0" smtClean="0">
                <a:latin typeface="Arial Black" panose="020B0A04020102020204" pitchFamily="34" charset="0"/>
              </a:rPr>
              <a:t>  </a:t>
            </a:r>
            <a:r>
              <a:rPr lang="en-US" b="1" dirty="0" err="1" smtClean="0">
                <a:latin typeface="Arial Black" panose="020B0A04020102020204" pitchFamily="34" charset="0"/>
              </a:rPr>
              <a:t>ወደ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ጉባኤ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አይግባ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አንዳንድ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ክፍሎች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ተቀይረዋል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-</a:t>
            </a:r>
            <a:endParaRPr lang="en-US" b="1" dirty="0">
              <a:solidFill>
                <a:srgbClr val="7030A0"/>
              </a:solidFill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b="1" dirty="0" smtClean="0">
              <a:solidFill>
                <a:srgbClr val="00B050"/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88640"/>
            <a:ext cx="8229600" cy="85998"/>
          </a:xfrm>
        </p:spPr>
        <p:txBody>
          <a:bodyPr>
            <a:normAutofit fontScale="90000"/>
          </a:bodyPr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620688"/>
            <a:ext cx="8856984" cy="6120680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b="1" dirty="0">
                <a:solidFill>
                  <a:srgbClr val="00B050"/>
                </a:solidFill>
                <a:latin typeface="Arial Black" panose="020B0A04020102020204" pitchFamily="34" charset="0"/>
              </a:rPr>
              <a:t>ለ</a:t>
            </a: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) </a:t>
            </a:r>
            <a:r>
              <a:rPr lang="en-US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ለሙስሊሞች</a:t>
            </a: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ጥያቄዎች</a:t>
            </a: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የጽሐፍ</a:t>
            </a: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ቅዱስ</a:t>
            </a:r>
            <a:r>
              <a:rPr lang="en-US" b="1" dirty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መረጃ</a:t>
            </a:r>
            <a:endParaRPr lang="en-US" b="1" dirty="0">
              <a:solidFill>
                <a:srgbClr val="00B050"/>
              </a:solidFill>
              <a:latin typeface="Arial Black" panose="020B0A04020102020204" pitchFamily="34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ዘዳ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4፡2 </a:t>
            </a:r>
            <a:r>
              <a:rPr lang="en-US" b="1" dirty="0" smtClean="0">
                <a:latin typeface="Arial Black" panose="020B0A04020102020204" pitchFamily="34" charset="0"/>
              </a:rPr>
              <a:t>– </a:t>
            </a:r>
            <a:r>
              <a:rPr lang="en-US" b="1" dirty="0" err="1" smtClean="0">
                <a:latin typeface="Arial Black" panose="020B0A04020102020204" pitchFamily="34" charset="0"/>
              </a:rPr>
              <a:t>በቃሉ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ላይ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ምንም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አትጨምር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ወይም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አታጉድል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ራዕ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22፡18-19 </a:t>
            </a:r>
            <a:r>
              <a:rPr lang="en-US" b="1" dirty="0" smtClean="0">
                <a:latin typeface="Arial Black" panose="020B0A04020102020204" pitchFamily="34" charset="0"/>
              </a:rPr>
              <a:t>- </a:t>
            </a:r>
            <a:r>
              <a:rPr lang="en-US" b="1" dirty="0" err="1" smtClean="0">
                <a:latin typeface="Arial Black" panose="020B0A04020102020204" pitchFamily="34" charset="0"/>
              </a:rPr>
              <a:t>በቃሉ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ላይ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የሚጨምሩ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ወይም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የሚቀንሱ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ፍርድ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ይቀበላሉ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ምሳ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30፡6 </a:t>
            </a:r>
            <a:r>
              <a:rPr lang="en-US" b="1" dirty="0" smtClean="0">
                <a:latin typeface="Arial Black" panose="020B0A04020102020204" pitchFamily="34" charset="0"/>
              </a:rPr>
              <a:t>- </a:t>
            </a:r>
            <a:r>
              <a:rPr lang="en-US" b="1" dirty="0" err="1" smtClean="0">
                <a:latin typeface="Arial Black" panose="020B0A04020102020204" pitchFamily="34" charset="0"/>
              </a:rPr>
              <a:t>በእግዚአብሄር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ቃል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ላይ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ምንም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አትጨምር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ማቴ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5፡18 </a:t>
            </a:r>
            <a:r>
              <a:rPr lang="en-US" b="1" dirty="0" smtClean="0">
                <a:latin typeface="Arial Black" panose="020B0A04020102020204" pitchFamily="34" charset="0"/>
              </a:rPr>
              <a:t>- </a:t>
            </a:r>
            <a:r>
              <a:rPr lang="en-US" b="1" dirty="0" err="1" smtClean="0">
                <a:latin typeface="Arial Black" panose="020B0A04020102020204" pitchFamily="34" charset="0"/>
              </a:rPr>
              <a:t>ከህግ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አንድም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አያልለፍም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b="1" dirty="0">
                <a:solidFill>
                  <a:srgbClr val="00B050"/>
                </a:solidFill>
                <a:latin typeface="Arial Black" panose="020B0A04020102020204" pitchFamily="34" charset="0"/>
              </a:rPr>
              <a:t>ሐ</a:t>
            </a: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) </a:t>
            </a:r>
            <a:r>
              <a:rPr lang="en-US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ታሪካዊ</a:t>
            </a: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Arial Black" panose="020B0A04020102020204" pitchFamily="34" charset="0"/>
              </a:rPr>
              <a:t>መረጃዎች</a:t>
            </a: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፡- </a:t>
            </a:r>
            <a:r>
              <a:rPr lang="en-US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ጥንታዊ</a:t>
            </a: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የመጽሐፍ</a:t>
            </a: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ቅዱስ</a:t>
            </a:r>
            <a:r>
              <a:rPr lang="en-US" b="1" dirty="0" smtClean="0">
                <a:solidFill>
                  <a:srgbClr val="00B05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Arial Black" panose="020B0A04020102020204" pitchFamily="34" charset="0"/>
              </a:rPr>
              <a:t>ቅጂዎች</a:t>
            </a:r>
            <a:endParaRPr lang="en-US" b="1" dirty="0">
              <a:solidFill>
                <a:srgbClr val="00B050"/>
              </a:solidFill>
              <a:latin typeface="Arial Black" panose="020B0A04020102020204" pitchFamily="34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b="1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የአሌክሳንደሪያ</a:t>
            </a:r>
            <a:r>
              <a:rPr lang="en-US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ጽሑፍ (Codex </a:t>
            </a:r>
            <a:r>
              <a:rPr lang="en-US" b="1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Alexandrinus</a:t>
            </a:r>
            <a:r>
              <a:rPr lang="en-US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) </a:t>
            </a:r>
            <a:r>
              <a:rPr lang="en-US" b="1" dirty="0" smtClean="0">
                <a:latin typeface="Arial Black" panose="020B0A04020102020204" pitchFamily="34" charset="0"/>
              </a:rPr>
              <a:t>- በ5ኛው ክ/</a:t>
            </a:r>
            <a:r>
              <a:rPr lang="en-US" b="1" dirty="0" err="1" smtClean="0">
                <a:latin typeface="Arial Black" panose="020B0A04020102020204" pitchFamily="34" charset="0"/>
              </a:rPr>
              <a:t>ዘመን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የተጻፈ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ነው</a:t>
            </a:r>
            <a:r>
              <a:rPr lang="en-US" b="1" dirty="0" smtClean="0">
                <a:latin typeface="Arial Black" panose="020B0A04020102020204" pitchFamily="34" charset="0"/>
              </a:rPr>
              <a:t>፡፡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b="1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የሲናይቲከስ</a:t>
            </a:r>
            <a:r>
              <a:rPr lang="en-US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ጽሑፍ (Codex </a:t>
            </a:r>
            <a:r>
              <a:rPr lang="en-US" b="1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Sinaiticus</a:t>
            </a:r>
            <a:r>
              <a:rPr lang="en-US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)፡- </a:t>
            </a:r>
            <a:r>
              <a:rPr lang="en-US" b="1" dirty="0" smtClean="0">
                <a:latin typeface="Arial Black" panose="020B0A04020102020204" pitchFamily="34" charset="0"/>
              </a:rPr>
              <a:t>በ4ኛው ክ/</a:t>
            </a:r>
            <a:r>
              <a:rPr lang="en-US" b="1" dirty="0" err="1" smtClean="0">
                <a:latin typeface="Arial Black" panose="020B0A04020102020204" pitchFamily="34" charset="0"/>
              </a:rPr>
              <a:t>ዘመን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የተጻፈ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ነው</a:t>
            </a:r>
            <a:r>
              <a:rPr lang="en-US" b="1" dirty="0" smtClean="0">
                <a:latin typeface="Arial Black" panose="020B0A04020102020204" pitchFamily="34" charset="0"/>
              </a:rPr>
              <a:t>፡፡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b="1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የቫቲካን</a:t>
            </a:r>
            <a:r>
              <a:rPr lang="en-US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ጽሑፍ (Codex </a:t>
            </a:r>
            <a:r>
              <a:rPr lang="en-US" b="1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Vaticanus</a:t>
            </a:r>
            <a:r>
              <a:rPr lang="en-US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)፡- </a:t>
            </a:r>
            <a:r>
              <a:rPr lang="en-US" b="1" dirty="0" err="1" smtClean="0">
                <a:latin typeface="Arial Black" panose="020B0A04020102020204" pitchFamily="34" charset="0"/>
              </a:rPr>
              <a:t>ከሁለቱ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ጽሁፎች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ቀደምትነት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ያለው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ሲሆን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በሮም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ቫቲካን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ላይብረሪ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ይገኛል</a:t>
            </a:r>
            <a:r>
              <a:rPr lang="en-US" b="1" dirty="0" smtClean="0">
                <a:latin typeface="Arial Black" panose="020B0A04020102020204" pitchFamily="34" charset="0"/>
              </a:rPr>
              <a:t>፡፡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0"/>
            <a:ext cx="8229600" cy="274638"/>
          </a:xfrm>
        </p:spPr>
        <p:txBody>
          <a:bodyPr>
            <a:normAutofit fontScale="90000"/>
          </a:bodyPr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476672"/>
            <a:ext cx="8856984" cy="6264696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የእብራይስጥ</a:t>
            </a:r>
            <a:r>
              <a:rPr lang="en-US" sz="3600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ማዞራይቲከ</a:t>
            </a: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መጽሐፍ</a:t>
            </a: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(Hebrew </a:t>
            </a:r>
            <a:r>
              <a:rPr lang="en-US" sz="3600" b="1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Massoretic</a:t>
            </a:r>
            <a:r>
              <a:rPr lang="en-US" sz="3600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Text)፡- </a:t>
            </a:r>
            <a:r>
              <a:rPr lang="en-US" sz="3600" b="1" dirty="0" err="1">
                <a:latin typeface="Arial Black" panose="020B0A04020102020204" pitchFamily="34" charset="0"/>
              </a:rPr>
              <a:t>ከክርስቶስ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ልደት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በፊት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በእብራይስጥ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ቐንቐ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የተጻፈ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ነው</a:t>
            </a:r>
            <a:endParaRPr lang="en-US" sz="3600" b="1" dirty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የሙት</a:t>
            </a:r>
            <a:r>
              <a:rPr lang="en-US" sz="3600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ባህር</a:t>
            </a: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ጥቅልል</a:t>
            </a:r>
            <a:r>
              <a:rPr lang="en-US" sz="3600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(Dead Sea scroll)፡- </a:t>
            </a:r>
            <a:r>
              <a:rPr lang="en-US" sz="3600" b="1" dirty="0" err="1">
                <a:latin typeface="Arial Black" panose="020B0A04020102020204" pitchFamily="34" charset="0"/>
              </a:rPr>
              <a:t>በሙት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ባህር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አከባቢ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በቁፋሮ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የተገኘ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መጽሐፍ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ነው</a:t>
            </a:r>
            <a:endParaRPr lang="en-US" sz="3600" b="1" dirty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ሰፕቱጅንት</a:t>
            </a:r>
            <a:r>
              <a:rPr lang="en-US" sz="3600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(</a:t>
            </a:r>
            <a:r>
              <a:rPr lang="en-US" sz="3600" dirty="0">
                <a:solidFill>
                  <a:srgbClr val="002060"/>
                </a:solidFill>
                <a:latin typeface="Arial Black" panose="020B0A04020102020204" pitchFamily="34" charset="0"/>
              </a:rPr>
              <a:t>Septuagint</a:t>
            </a: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)፡- </a:t>
            </a:r>
            <a:r>
              <a:rPr lang="en-US" sz="3600" b="1" dirty="0" err="1">
                <a:latin typeface="Arial Black" panose="020B0A04020102020204" pitchFamily="34" charset="0"/>
              </a:rPr>
              <a:t>ከእብራይስጥ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ወደ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ግሪክ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የተተረጎመ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የብሉይ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ኪዳን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መጽሐፍ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 smtClean="0">
                <a:latin typeface="Arial Black" panose="020B0A04020102020204" pitchFamily="34" charset="0"/>
              </a:rPr>
              <a:t>ነው</a:t>
            </a:r>
            <a:endParaRPr lang="en-US" sz="3600" b="1" dirty="0" smtClean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የላቲን</a:t>
            </a:r>
            <a:r>
              <a:rPr lang="en-US" sz="3600" b="1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Arial Black" panose="020B0A04020102020204" pitchFamily="34" charset="0"/>
              </a:rPr>
              <a:t>ቩልጌት</a:t>
            </a:r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 (Latin Vulgate)፡- </a:t>
            </a:r>
            <a:r>
              <a:rPr lang="en-US" sz="3600" b="1" dirty="0">
                <a:latin typeface="Arial Black" panose="020B0A04020102020204" pitchFamily="34" charset="0"/>
              </a:rPr>
              <a:t>በ4ኛው ክ/</a:t>
            </a:r>
            <a:r>
              <a:rPr lang="en-US" sz="3600" b="1" dirty="0" err="1">
                <a:latin typeface="Arial Black" panose="020B0A04020102020204" pitchFamily="34" charset="0"/>
              </a:rPr>
              <a:t>ዘመን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ወደ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ላቲን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የተተረጎም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መጽሐፍ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ቅዱሰ</a:t>
            </a:r>
            <a:r>
              <a:rPr lang="en-US" sz="3600" b="1" dirty="0">
                <a:latin typeface="Arial Black" panose="020B0A04020102020204" pitchFamily="34" charset="0"/>
              </a:rPr>
              <a:t> </a:t>
            </a:r>
            <a:r>
              <a:rPr lang="en-US" sz="3600" b="1" dirty="0" err="1">
                <a:latin typeface="Arial Black" panose="020B0A04020102020204" pitchFamily="34" charset="0"/>
              </a:rPr>
              <a:t>ነው</a:t>
            </a:r>
            <a:r>
              <a:rPr lang="en-US" sz="3600" b="1" dirty="0">
                <a:latin typeface="Arial Black" panose="020B0A04020102020204" pitchFamily="34" charset="0"/>
              </a:rPr>
              <a:t>፡፡</a:t>
            </a:r>
            <a:endParaRPr lang="en-US" sz="36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228919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404664"/>
            <a:ext cx="8856984" cy="633670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3. </a:t>
            </a:r>
            <a:r>
              <a:rPr lang="en-US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የመጽሐፍ</a:t>
            </a: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ቅዱስ</a:t>
            </a:r>
            <a:r>
              <a:rPr lang="en-US" b="1" dirty="0" smtClean="0">
                <a:solidFill>
                  <a:srgbClr val="C0000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  <a:latin typeface="Arial Black" panose="020B0A04020102020204" pitchFamily="34" charset="0"/>
              </a:rPr>
              <a:t>ይዘት</a:t>
            </a:r>
            <a:endParaRPr lang="en-US" b="1" dirty="0" smtClean="0">
              <a:solidFill>
                <a:srgbClr val="C00000"/>
              </a:solidFill>
              <a:latin typeface="Arial Black" panose="020B0A040201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የሙሴ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መጽህፍት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ይዘት</a:t>
            </a:r>
            <a:endParaRPr lang="en-US" b="1" dirty="0" smtClean="0">
              <a:solidFill>
                <a:srgbClr val="7030A0"/>
              </a:solidFill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b="1" dirty="0" err="1" smtClean="0">
                <a:latin typeface="Arial Black" panose="020B0A04020102020204" pitchFamily="34" charset="0"/>
              </a:rPr>
              <a:t>የእግዚአብሄር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የፍጥረት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ስራ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ከሰው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ጋር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ስላለው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ግንኙነት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ከሰው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ጋር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ያደረገውን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ቃል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ኪዳን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የእስራኤል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መመረጥ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እና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የህግና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የመስዋዕት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ስርአት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የአብርሃም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ምርጫና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የደህንነት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መንገድ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የእግዚአብሄርን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ባህሪያት</a:t>
            </a:r>
            <a:r>
              <a:rPr lang="en-US" b="1" dirty="0" smtClean="0">
                <a:latin typeface="Arial Black" panose="020B0A04020102020204" pitchFamily="34" charset="0"/>
              </a:rPr>
              <a:t> - </a:t>
            </a:r>
            <a:r>
              <a:rPr lang="en-US" b="1" dirty="0" err="1" smtClean="0">
                <a:latin typeface="Arial Black" panose="020B0A04020102020204" pitchFamily="34" charset="0"/>
              </a:rPr>
              <a:t>ለምሳሌ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ቅድስና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ጽድቅ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ምህረትና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ታማኝነት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የሙሴ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መጻህፍት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የማዳን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ስራ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ጅማሬን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ያስተምሩናል</a:t>
            </a:r>
            <a:endParaRPr lang="en-US" b="1" dirty="0" smtClean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16632"/>
            <a:ext cx="8229600" cy="15800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404664"/>
            <a:ext cx="8856984" cy="6912768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የታሪክ</a:t>
            </a:r>
            <a:r>
              <a:rPr lang="en-US" sz="4000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መጻህፍት</a:t>
            </a:r>
            <a:r>
              <a:rPr lang="en-US" sz="4000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sz="4000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ይዘት</a:t>
            </a:r>
            <a:endParaRPr lang="en-US" sz="4000" b="1" dirty="0" smtClean="0">
              <a:solidFill>
                <a:srgbClr val="7030A0"/>
              </a:solidFill>
              <a:latin typeface="Arial Black" panose="020B0A04020102020204" pitchFamily="34" charset="0"/>
            </a:endParaRPr>
          </a:p>
          <a:p>
            <a:pPr>
              <a:lnSpc>
                <a:spcPct val="160000"/>
              </a:lnSpc>
              <a:buFontTx/>
              <a:buChar char="-"/>
            </a:pPr>
            <a:r>
              <a:rPr lang="en-US" b="1" dirty="0" err="1" smtClean="0">
                <a:latin typeface="Arial Black" panose="020B0A04020102020204" pitchFamily="34" charset="0"/>
              </a:rPr>
              <a:t>የታሪክ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መጻህፍት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ዋና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አላማቸው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የእግዚአብሄርን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ባህርይ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መግለጥ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ከቃል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ኪዳን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ህዝቡ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ጋር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ስላለው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ግንኙነት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ወደፊት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በታሪክ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ውስጥ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ስለሚሰራው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የማዳን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ስራ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ማመልከት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ነው</a:t>
            </a:r>
            <a:r>
              <a:rPr lang="en-US" b="1" dirty="0" smtClean="0">
                <a:latin typeface="Arial Black" panose="020B0A04020102020204" pitchFamily="34" charset="0"/>
              </a:rPr>
              <a:t>፡፡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60000"/>
              </a:lnSpc>
              <a:buFontTx/>
              <a:buChar char="-"/>
            </a:pPr>
            <a:r>
              <a:rPr lang="en-US" b="1" dirty="0" err="1" smtClean="0">
                <a:latin typeface="Arial Black" panose="020B0A04020102020204" pitchFamily="34" charset="0"/>
              </a:rPr>
              <a:t>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በግለሰቦችና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በእስራኤል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ህዝብ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ህይወት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ውስጥ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ጣልቃ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በመግባት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መስራቱን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ቃል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ኪዳኑን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እንደሚጠብቅ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60000"/>
              </a:lnSpc>
              <a:buFontTx/>
              <a:buChar char="-"/>
            </a:pPr>
            <a:r>
              <a:rPr lang="en-US" b="1" dirty="0" err="1" smtClean="0">
                <a:latin typeface="Arial Black" panose="020B0A04020102020204" pitchFamily="34" charset="0"/>
              </a:rPr>
              <a:t>እንዚህ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መጻህፍት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ማንነትና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ስራ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ስለሰው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ኃጢአት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ደህንነት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ቃልኪዳን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የእስራኤል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ማንነትና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ኃላፊነት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በረከትና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እርግማን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የኃጢአትና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የማዳን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ስራ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እሽክርክከሪት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በእግዚአብሄር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የማዳን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ስራ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ውስጥ</a:t>
            </a:r>
            <a:r>
              <a:rPr lang="en-US" b="1" dirty="0" smtClean="0">
                <a:latin typeface="Arial Black" panose="020B0A04020102020204" pitchFamily="34" charset="0"/>
              </a:rPr>
              <a:t>  </a:t>
            </a:r>
            <a:r>
              <a:rPr lang="en-US" b="1" dirty="0" err="1" smtClean="0">
                <a:latin typeface="Arial Black" panose="020B0A04020102020204" pitchFamily="34" charset="0"/>
              </a:rPr>
              <a:t>የመሪዎችና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የነብያት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ተሳትፎ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endParaRPr lang="en-US" b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0"/>
            <a:ext cx="8229600" cy="2746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476672"/>
            <a:ext cx="8856984" cy="626469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የግጥም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መጻህፍት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ይዘት</a:t>
            </a:r>
            <a:endParaRPr lang="en-US" b="1" dirty="0" smtClean="0">
              <a:solidFill>
                <a:srgbClr val="7030A0"/>
              </a:solidFill>
              <a:latin typeface="Arial Black" panose="020B0A04020102020204" pitchFamily="34" charset="0"/>
            </a:endParaRPr>
          </a:p>
          <a:p>
            <a:pPr>
              <a:buFontTx/>
              <a:buChar char="-"/>
            </a:pPr>
            <a:r>
              <a:rPr lang="en-US" b="1" dirty="0" err="1" smtClean="0">
                <a:latin typeface="Arial Black" panose="020B0A04020102020204" pitchFamily="34" charset="0"/>
              </a:rPr>
              <a:t>የግጥም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መጻህፍት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ሰዎች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ከእግዚአብሄር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ጋር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ስለሚኖራቸው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ግንኘነት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ጥበብና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ትርጉም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ያለው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ህይወት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ስለመፈለግ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ያስተምራሉ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buFontTx/>
              <a:buChar char="-"/>
            </a:pPr>
            <a:r>
              <a:rPr lang="en-US" b="1" dirty="0" err="1" smtClean="0">
                <a:latin typeface="Arial Black" panose="020B0A04020102020204" pitchFamily="34" charset="0"/>
              </a:rPr>
              <a:t>እነዚህ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መጻህፍት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ስለመከራና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ሉአላዊነት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ለእግዚአብሄር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ክብርን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ስለመስጠትና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በእርሱ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ላይ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ስለመደገፍ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በምድራዊ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ህይወት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እንዴት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በጥበብ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መኖር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እንደሚገባ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ህይወት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ከእግዚአብሄር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ውጪ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ከንቱ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እንደሆነ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በትዳር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ውስጥ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ስላለው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ግንኙነትና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ታማኝነት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buFontTx/>
              <a:buChar char="-"/>
            </a:pPr>
            <a:endParaRPr lang="en-US" b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88640"/>
            <a:ext cx="8229600" cy="8599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548680"/>
            <a:ext cx="8928992" cy="6192688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የነብያት</a:t>
            </a:r>
            <a:r>
              <a:rPr lang="en-US" sz="4000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መጻህፍት</a:t>
            </a:r>
            <a:r>
              <a:rPr lang="en-US" sz="4000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sz="4000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ይዘት</a:t>
            </a:r>
            <a:endParaRPr lang="en-US" sz="4000" b="1" dirty="0" smtClean="0">
              <a:solidFill>
                <a:srgbClr val="7030A0"/>
              </a:solidFill>
              <a:latin typeface="Arial Black" panose="020B0A04020102020204" pitchFamily="34" charset="0"/>
            </a:endParaRPr>
          </a:p>
          <a:p>
            <a:pPr>
              <a:lnSpc>
                <a:spcPct val="170000"/>
              </a:lnSpc>
              <a:buFontTx/>
              <a:buChar char="-"/>
            </a:pPr>
            <a:r>
              <a:rPr lang="en-US" b="1" dirty="0" err="1" smtClean="0">
                <a:latin typeface="Arial Black" panose="020B0A04020102020204" pitchFamily="34" charset="0"/>
              </a:rPr>
              <a:t>የነብያት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መጻህፍት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አላማ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የእግዚአብሄርን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መልዕክት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ለህዝቡ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ማስተላለፍ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ነው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70000"/>
              </a:lnSpc>
              <a:buFontTx/>
              <a:buChar char="-"/>
            </a:pPr>
            <a:r>
              <a:rPr lang="en-US" b="1" dirty="0" err="1" smtClean="0">
                <a:latin typeface="Arial Black" panose="020B0A04020102020204" pitchFamily="34" charset="0"/>
              </a:rPr>
              <a:t>መጻህፍቱ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ትኩረት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የሚያደርጉት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ለቃል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ኪዳን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ታማኝ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ስለመሆንን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ባለመታዘዝ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ምክንያት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ስለሚመጣ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ፍርድ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ስለማህበራዊ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ፍትህ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ስለወደፊት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ነገሮች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የእግዚአብሄር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ሉአላዊነት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የእግዚአብሄርንነ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የደህንነት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እቅድ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ለሰዎች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ማስታወቅ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ስለእግዚአብሄር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ባህሪያት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ለንስሐ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ጥሪ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ማድረግ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ስለተሃድሶና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ደህንነት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ያስተምራሉ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70000"/>
              </a:lnSpc>
              <a:buFontTx/>
              <a:buChar char="-"/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ነብያቱ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ህዝቡን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ለእግዚአብሄር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እንዲታዘዝ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ጥሪ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ያደርጋሉ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70000"/>
              </a:lnSpc>
              <a:buFontTx/>
              <a:buChar char="-"/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ነብያቱ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የተሰጣቸው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መልዕክት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ለግለሰቦች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ለእስራኤል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ህዝብና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ለሌሎች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ህዝቦች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ጭምር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ነው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endParaRPr lang="en-US" b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16632"/>
            <a:ext cx="8229600" cy="15800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404664"/>
            <a:ext cx="8856984" cy="633670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4500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sz="4500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የወንጌላት</a:t>
            </a:r>
            <a:r>
              <a:rPr lang="en-US" sz="4500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sz="4500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መጻህፍት</a:t>
            </a:r>
            <a:r>
              <a:rPr lang="en-US" sz="4500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sz="4500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ይዘት</a:t>
            </a:r>
            <a:endParaRPr lang="en-US" sz="4500" b="1" dirty="0" smtClean="0">
              <a:solidFill>
                <a:srgbClr val="7030A0"/>
              </a:solidFill>
              <a:latin typeface="Arial Black" panose="020B0A04020102020204" pitchFamily="34" charset="0"/>
            </a:endParaRPr>
          </a:p>
          <a:p>
            <a:pPr>
              <a:lnSpc>
                <a:spcPct val="160000"/>
              </a:lnSpc>
              <a:buFontTx/>
              <a:buChar char="-"/>
            </a:pPr>
            <a:r>
              <a:rPr lang="en-US" b="1" dirty="0" err="1" smtClean="0">
                <a:latin typeface="Arial Black" panose="020B0A04020102020204" pitchFamily="34" charset="0"/>
              </a:rPr>
              <a:t>የወንጌላት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ዋና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አላማ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ስለጌታችን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ኢየሱስ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ክርስቶች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የምስራች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ወንጌል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መመስከር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ነው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60000"/>
              </a:lnSpc>
              <a:buFontTx/>
              <a:buChar char="-"/>
            </a:pPr>
            <a:r>
              <a:rPr lang="en-US" b="1" dirty="0" err="1" smtClean="0">
                <a:latin typeface="Arial Black" panose="020B0A04020102020204" pitchFamily="34" charset="0"/>
              </a:rPr>
              <a:t>ትኩረት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የሚያደርጉትም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በክርስቶስ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ህይወት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አገልግሎት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ሞትና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ትንሳኤ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እና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ልጅና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አዳኝ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ወደሆነው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ወደ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ኢየሱስ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ክርስቶስ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መጥራት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ነው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60000"/>
              </a:lnSpc>
              <a:buFontTx/>
              <a:buChar char="-"/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መንግስትና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ስለሰዎች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መዳን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ይናገራሉ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60000"/>
              </a:lnSpc>
              <a:buFontTx/>
              <a:buChar char="-"/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የአይሁድን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መጻህፍት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በማጣቀስ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እንደሚመጣ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ተስፋ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ስለተሰጠው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ስለመሲሁ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የደህንነት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ታሪከ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ይተርካሉ</a:t>
            </a:r>
            <a:r>
              <a:rPr lang="en-US" b="1" dirty="0" smtClean="0">
                <a:latin typeface="Arial Black" panose="020B0A04020102020204" pitchFamily="34" charset="0"/>
              </a:rPr>
              <a:t>፤ </a:t>
            </a:r>
            <a:r>
              <a:rPr lang="en-US" b="1" dirty="0" err="1" smtClean="0">
                <a:latin typeface="Arial Black" panose="020B0A04020102020204" pitchFamily="34" charset="0"/>
              </a:rPr>
              <a:t>ለሰዎችም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ጥሪ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ያደርጋሉ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60000"/>
              </a:lnSpc>
              <a:buFontTx/>
              <a:buChar char="-"/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ዋና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ዋና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ትኩረት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የተሰጣቸው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ነጥቦች</a:t>
            </a:r>
            <a:r>
              <a:rPr lang="en-US" b="1" dirty="0" smtClean="0">
                <a:latin typeface="Arial Black" panose="020B0A04020102020204" pitchFamily="34" charset="0"/>
              </a:rPr>
              <a:t>፡- </a:t>
            </a:r>
            <a:r>
              <a:rPr lang="en-US" b="1" dirty="0" err="1" smtClean="0">
                <a:latin typeface="Arial Black" panose="020B0A04020102020204" pitchFamily="34" charset="0"/>
              </a:rPr>
              <a:t>የእየሱስ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መሲህነት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የእግዚአብሄር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መንግስት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ደህንነት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ፍቅርና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ቸርነት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እየሱስን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መከተልና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ደቀመዝሙርነት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የትንቢት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ፍጻሜ፣የመንፈስ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ቅዱስ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ኃይል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ክርስቶስን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መከተል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የሚያስከፍለው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ዋጋ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ወዘተ</a:t>
            </a:r>
            <a:r>
              <a:rPr lang="en-US" b="1" dirty="0" smtClean="0">
                <a:latin typeface="Arial Black" panose="020B0A04020102020204" pitchFamily="34" charset="0"/>
              </a:rPr>
              <a:t>…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buFontTx/>
              <a:buChar char="-"/>
            </a:pPr>
            <a:endParaRPr lang="en-US" b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88640"/>
            <a:ext cx="8229600" cy="8599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404664"/>
            <a:ext cx="8856984" cy="633670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095" b="1" dirty="0" err="1">
                <a:solidFill>
                  <a:srgbClr val="7030A0"/>
                </a:solidFill>
                <a:cs typeface="+mn-lt"/>
              </a:rPr>
              <a:t>የሐዋሪያት</a:t>
            </a:r>
            <a:r>
              <a:rPr lang="en-US" sz="3095" b="1" dirty="0">
                <a:solidFill>
                  <a:srgbClr val="7030A0"/>
                </a:solidFill>
                <a:cs typeface="+mn-lt"/>
              </a:rPr>
              <a:t> </a:t>
            </a:r>
            <a:r>
              <a:rPr lang="en-US" sz="3095" b="1" dirty="0" err="1">
                <a:solidFill>
                  <a:srgbClr val="7030A0"/>
                </a:solidFill>
                <a:cs typeface="+mn-lt"/>
              </a:rPr>
              <a:t>መልዕክቶች</a:t>
            </a:r>
            <a:r>
              <a:rPr lang="en-US" sz="3095" b="1" dirty="0">
                <a:solidFill>
                  <a:srgbClr val="7030A0"/>
                </a:solidFill>
                <a:cs typeface="+mn-lt"/>
              </a:rPr>
              <a:t> </a:t>
            </a:r>
            <a:r>
              <a:rPr lang="en-US" sz="3095" b="1" dirty="0" err="1" smtClean="0">
                <a:solidFill>
                  <a:srgbClr val="7030A0"/>
                </a:solidFill>
                <a:cs typeface="+mn-lt"/>
              </a:rPr>
              <a:t>ይዘት</a:t>
            </a:r>
            <a:endParaRPr lang="en-US" sz="3095" b="1" dirty="0" smtClean="0">
              <a:solidFill>
                <a:srgbClr val="7030A0"/>
              </a:solidFill>
              <a:cs typeface="+mn-lt"/>
            </a:endParaRP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3095" b="1" dirty="0" err="1" smtClean="0">
                <a:cs typeface="+mn-lt"/>
              </a:rPr>
              <a:t>የሐዋሪያት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መልዕክቶች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የተጻፉት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ክርስቲያኖች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በእምነታቸው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እንዴት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መኖር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እንዳለባቸውና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ለሚገጥማቸው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ችግር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መንፈሳዊ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ምሪት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ለመስጠት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ነው</a:t>
            </a:r>
            <a:endParaRPr lang="en-US" sz="3095" b="1" dirty="0" smtClean="0">
              <a:cs typeface="+mn-lt"/>
            </a:endParaRPr>
          </a:p>
          <a:p>
            <a:pPr>
              <a:lnSpc>
                <a:spcPct val="100000"/>
              </a:lnSpc>
              <a:buFontTx/>
              <a:buChar char="-"/>
            </a:pPr>
            <a:r>
              <a:rPr lang="en-US" sz="3095" b="1" dirty="0" err="1" smtClean="0">
                <a:cs typeface="+mn-lt"/>
              </a:rPr>
              <a:t>ዋና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ዋና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ርዕሶት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በክርስቶስ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በማመን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ብቻ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ስለሚገኝ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ደህንነት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እና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የእግዚአብሄር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ጸጋ</a:t>
            </a:r>
            <a:r>
              <a:rPr lang="en-US" sz="3095" b="1" dirty="0" smtClean="0">
                <a:cs typeface="+mn-lt"/>
              </a:rPr>
              <a:t>፣ </a:t>
            </a:r>
            <a:r>
              <a:rPr lang="en-US" sz="3095" b="1" dirty="0" err="1" smtClean="0">
                <a:cs typeface="+mn-lt"/>
              </a:rPr>
              <a:t>የመልካም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ስራ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አስፈላጊነት</a:t>
            </a:r>
            <a:r>
              <a:rPr lang="en-US" sz="3095" b="1" dirty="0" smtClean="0">
                <a:cs typeface="+mn-lt"/>
              </a:rPr>
              <a:t>፣ </a:t>
            </a:r>
            <a:r>
              <a:rPr lang="en-US" sz="3095" b="1" dirty="0" err="1" smtClean="0">
                <a:cs typeface="+mn-lt"/>
              </a:rPr>
              <a:t>ንጹህና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እውነተኛ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አስተምህሮ</a:t>
            </a:r>
            <a:r>
              <a:rPr lang="en-US" sz="3095" b="1" dirty="0" smtClean="0">
                <a:cs typeface="+mn-lt"/>
              </a:rPr>
              <a:t>፣ </a:t>
            </a:r>
            <a:r>
              <a:rPr lang="en-US" sz="3095" b="1" dirty="0" err="1" smtClean="0">
                <a:cs typeface="+mn-lt"/>
              </a:rPr>
              <a:t>በቤተክርስቲያንና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በማህበረሰብ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ውስጥ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ስለሚኖር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ክርስቲያናዊ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ስነ-ምግባር</a:t>
            </a:r>
            <a:r>
              <a:rPr lang="en-US" sz="3095" b="1" dirty="0" smtClean="0">
                <a:cs typeface="+mn-lt"/>
              </a:rPr>
              <a:t>፣ </a:t>
            </a:r>
            <a:r>
              <a:rPr lang="en-US" sz="3095" b="1" dirty="0" err="1" smtClean="0">
                <a:cs typeface="+mn-lt"/>
              </a:rPr>
              <a:t>ስለቤተክርስቲያንና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የቤተክርስቲያን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አመራር</a:t>
            </a:r>
            <a:r>
              <a:rPr lang="en-US" sz="3095" b="1" dirty="0" smtClean="0">
                <a:cs typeface="+mn-lt"/>
              </a:rPr>
              <a:t>፣ </a:t>
            </a:r>
            <a:r>
              <a:rPr lang="en-US" sz="3095" b="1" dirty="0" err="1" smtClean="0">
                <a:cs typeface="+mn-lt"/>
              </a:rPr>
              <a:t>አንድነትና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ፍቅር</a:t>
            </a:r>
            <a:r>
              <a:rPr lang="en-US" sz="3095" b="1" dirty="0" smtClean="0">
                <a:cs typeface="+mn-lt"/>
              </a:rPr>
              <a:t>፣ </a:t>
            </a:r>
            <a:r>
              <a:rPr lang="en-US" sz="3095" b="1" dirty="0" err="1" smtClean="0">
                <a:cs typeface="+mn-lt"/>
              </a:rPr>
              <a:t>ስለወደፊት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ተስፋ</a:t>
            </a:r>
            <a:r>
              <a:rPr lang="en-US" sz="3095" b="1" dirty="0" smtClean="0">
                <a:cs typeface="+mn-lt"/>
              </a:rPr>
              <a:t>፣ </a:t>
            </a:r>
            <a:r>
              <a:rPr lang="en-US" sz="3095" b="1" dirty="0" err="1" smtClean="0">
                <a:cs typeface="+mn-lt"/>
              </a:rPr>
              <a:t>መንፈሳዊ</a:t>
            </a:r>
            <a:r>
              <a:rPr lang="en-US" sz="3095" b="1" dirty="0" smtClean="0">
                <a:cs typeface="+mn-lt"/>
              </a:rPr>
              <a:t> </a:t>
            </a:r>
            <a:r>
              <a:rPr lang="en-US" sz="3095" b="1" dirty="0" err="1" smtClean="0">
                <a:cs typeface="+mn-lt"/>
              </a:rPr>
              <a:t>ውጊያ</a:t>
            </a:r>
            <a:r>
              <a:rPr lang="en-US" sz="3095" b="1" dirty="0" smtClean="0">
                <a:cs typeface="+mn-lt"/>
              </a:rPr>
              <a:t>፣ </a:t>
            </a:r>
            <a:r>
              <a:rPr lang="en-US" sz="3095" b="1" dirty="0" err="1" smtClean="0">
                <a:cs typeface="+mn-lt"/>
              </a:rPr>
              <a:t>ወዘተ</a:t>
            </a:r>
            <a:r>
              <a:rPr lang="en-US" sz="3095" b="1" dirty="0" smtClean="0">
                <a:cs typeface="+mn-lt"/>
              </a:rPr>
              <a:t>….</a:t>
            </a:r>
            <a:endParaRPr lang="en-US" sz="3095" b="1" dirty="0" smtClean="0">
              <a:cs typeface="+mn-lt"/>
            </a:endParaRPr>
          </a:p>
          <a:p>
            <a:pPr>
              <a:lnSpc>
                <a:spcPct val="100000"/>
              </a:lnSpc>
              <a:buFontTx/>
              <a:buChar char="-"/>
            </a:pPr>
            <a:endParaRPr lang="en-US" sz="3095" b="1" dirty="0">
              <a:cs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88640"/>
            <a:ext cx="8229600" cy="8599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404664"/>
            <a:ext cx="8856984" cy="633670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የሐዋሪያት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ስራ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መጽሐፍ</a:t>
            </a:r>
            <a:endParaRPr lang="en-US" b="1" dirty="0" smtClean="0">
              <a:solidFill>
                <a:srgbClr val="7030A0"/>
              </a:solidFill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b="1" dirty="0" err="1" smtClean="0">
                <a:latin typeface="Arial Black" panose="020B0A04020102020204" pitchFamily="34" charset="0"/>
              </a:rPr>
              <a:t>የቤተክርስቲያን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ምስረታ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ታሪክና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ወንጌል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ከኢየሩሳሌም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ተነስቶ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እስከ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አለም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ዳርቻ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ድረስ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እንዴት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እንደደረሰ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ይተርካል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ዋና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ዋና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ትኩረቶች</a:t>
            </a:r>
            <a:r>
              <a:rPr lang="en-US" b="1" dirty="0" smtClean="0">
                <a:latin typeface="Arial Black" panose="020B0A04020102020204" pitchFamily="34" charset="0"/>
              </a:rPr>
              <a:t>፡-  </a:t>
            </a:r>
            <a:r>
              <a:rPr lang="en-US" b="1" dirty="0" err="1" smtClean="0">
                <a:latin typeface="Arial Black" panose="020B0A04020102020204" pitchFamily="34" charset="0"/>
              </a:rPr>
              <a:t>የመንፈስ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ቅዱስ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ኃይልና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በሚሽን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ውስጥ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ያለው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ስራ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ወንጌል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በአይሁድና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በአህዛብ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መካከል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እንዴት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እንደሰፋ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የቤተክርስቲያን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እድገት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ታላቁ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ተልዕኮ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የእግዚአብሄር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ሉአላዊነት</a:t>
            </a:r>
            <a:r>
              <a:rPr lang="en-US" b="1" dirty="0" smtClean="0">
                <a:latin typeface="Arial Black" panose="020B0A04020102020204" pitchFamily="34" charset="0"/>
              </a:rPr>
              <a:t> (</a:t>
            </a:r>
            <a:r>
              <a:rPr lang="en-US" b="1" dirty="0" err="1" smtClean="0">
                <a:latin typeface="Arial Black" panose="020B0A04020102020204" pitchFamily="34" charset="0"/>
              </a:rPr>
              <a:t>በእግዚአብሄር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መንግስት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ስራ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ውስጥ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እንዴት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ጣልቃ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እንደሚገባ</a:t>
            </a:r>
            <a:r>
              <a:rPr lang="en-US" b="1" dirty="0" smtClean="0">
                <a:latin typeface="Arial Black" panose="020B0A04020102020204" pitchFamily="34" charset="0"/>
              </a:rPr>
              <a:t>)</a:t>
            </a:r>
            <a:endParaRPr lang="en-US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01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476672"/>
            <a:ext cx="8856984" cy="6264696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የራዕይ</a:t>
            </a:r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Arial Black" panose="020B0A04020102020204" pitchFamily="34" charset="0"/>
              </a:rPr>
              <a:t>መጽሐፍ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rial Black" panose="020B0A04020102020204" pitchFamily="34" charset="0"/>
              </a:rPr>
              <a:t>ይዘት</a:t>
            </a:r>
            <a:endParaRPr lang="en-US" b="1" dirty="0" smtClean="0">
              <a:solidFill>
                <a:srgbClr val="7030A0"/>
              </a:solidFill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b="1" dirty="0" err="1" smtClean="0">
                <a:latin typeface="Arial Black" panose="020B0A04020102020204" pitchFamily="34" charset="0"/>
              </a:rPr>
              <a:t>ይህ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መጽሐፍ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የክርስቶስን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ድል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ነሺነት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በታማኝነት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ጌታን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የሚከተሉትን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ለማበረታታት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የእግዚአብሄር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መ</a:t>
            </a:r>
            <a:r>
              <a:rPr lang="en-US" b="1" dirty="0" err="1" smtClean="0">
                <a:latin typeface="Arial Black" panose="020B0A04020102020204" pitchFamily="34" charset="0"/>
              </a:rPr>
              <a:t>ንግስት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በክፋት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ላይ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ድል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ማድረግን</a:t>
            </a:r>
            <a:r>
              <a:rPr lang="en-US" b="1" dirty="0" smtClean="0">
                <a:latin typeface="Arial Black" panose="020B0A04020102020204" pitchFamily="34" charset="0"/>
              </a:rPr>
              <a:t>፣ </a:t>
            </a:r>
            <a:r>
              <a:rPr lang="en-US" b="1" dirty="0" err="1" smtClean="0">
                <a:latin typeface="Arial Black" panose="020B0A04020102020204" pitchFamily="34" charset="0"/>
              </a:rPr>
              <a:t>አዲስ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ፍጥረትና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አዲስ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ሰማይ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መፈጠርን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ያስተምራል</a:t>
            </a:r>
            <a:r>
              <a:rPr lang="en-US" b="1" dirty="0" smtClean="0">
                <a:latin typeface="Arial Black" panose="020B0A04020102020204" pitchFamily="34" charset="0"/>
              </a:rPr>
              <a:t>፡፡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እግዚአብሄር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ፍርድና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በመንግስተ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ሰማያት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ስለሚኖረው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ህይወት</a:t>
            </a:r>
            <a:endParaRPr lang="en-US" b="1" dirty="0" smtClean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የፍጥረት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ፍጻሜና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አዲስ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ህይወት</a:t>
            </a:r>
            <a:endParaRPr lang="en-US" b="1" dirty="0" smtClean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57200" y="188640"/>
            <a:ext cx="8229600" cy="8599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404664"/>
            <a:ext cx="9036496" cy="633670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  <a:buFontTx/>
              <a:buChar char="-"/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በዘፍጥረት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መጽሐፍ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አዲስ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ፍጥረትን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ያስተዋውቃል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ነገር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ግን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በራዕይ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መጽሐፍ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የፍጥረት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ፍጻሜና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አዲስ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ህይወትን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ያስተዋውቃል</a:t>
            </a:r>
            <a:r>
              <a:rPr lang="en-US" b="1" dirty="0">
                <a:latin typeface="Arial Black" panose="020B0A04020102020204" pitchFamily="34" charset="0"/>
              </a:rPr>
              <a:t>፡፡</a:t>
            </a:r>
            <a:endParaRPr lang="en-US" b="1" dirty="0">
              <a:latin typeface="Arial Black" panose="020B0A04020102020204" pitchFamily="34" charset="0"/>
            </a:endParaRPr>
          </a:p>
          <a:p>
            <a:pPr>
              <a:lnSpc>
                <a:spcPct val="160000"/>
              </a:lnSpc>
              <a:buFontTx/>
              <a:buChar char="-"/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ከኤደን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ገነት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የተባረረውን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ሰው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እንደገና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ወደ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መንግስተ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ሰማያት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ይመልሰዋል</a:t>
            </a:r>
            <a:r>
              <a:rPr lang="en-US" b="1" dirty="0">
                <a:latin typeface="Arial Black" panose="020B0A04020102020204" pitchFamily="34" charset="0"/>
              </a:rPr>
              <a:t>፡፡</a:t>
            </a:r>
            <a:endParaRPr lang="en-US" b="1" dirty="0">
              <a:latin typeface="Arial Black" panose="020B0A04020102020204" pitchFamily="34" charset="0"/>
            </a:endParaRPr>
          </a:p>
          <a:p>
            <a:pPr>
              <a:lnSpc>
                <a:spcPct val="160000"/>
              </a:lnSpc>
              <a:buFontTx/>
              <a:buChar char="-"/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ስለዚህ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መጽሐፍ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ቅዱስ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በአጠቃላይ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ከሰው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ውድቀት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በኃላ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እግዚአብሄር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የጀመረውን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የደህንነነት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ታሪክ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ወደ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ፍጻሜ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በማምጣት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የታሪኩን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ሂደት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ይዘጋዋል</a:t>
            </a:r>
            <a:r>
              <a:rPr lang="en-US" b="1" dirty="0">
                <a:latin typeface="Arial Black" panose="020B0A04020102020204" pitchFamily="34" charset="0"/>
              </a:rPr>
              <a:t>፡፡</a:t>
            </a:r>
            <a:endParaRPr lang="en-US" b="1" dirty="0">
              <a:latin typeface="Arial Black" panose="020B0A04020102020204" pitchFamily="34" charset="0"/>
            </a:endParaRPr>
          </a:p>
          <a:p>
            <a:pPr>
              <a:lnSpc>
                <a:spcPct val="160000"/>
              </a:lnSpc>
              <a:buFontTx/>
              <a:buChar char="-"/>
            </a:pP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በመጽሐፍ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ቅዱስ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አንድ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ትልቅ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ታሪክ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አለ</a:t>
            </a:r>
            <a:r>
              <a:rPr lang="en-US" b="1" dirty="0">
                <a:latin typeface="Arial Black" panose="020B0A04020102020204" pitchFamily="34" charset="0"/>
              </a:rPr>
              <a:t> - </a:t>
            </a:r>
            <a:r>
              <a:rPr lang="en-US" b="1" dirty="0" err="1">
                <a:latin typeface="Arial Black" panose="020B0A04020102020204" pitchFamily="34" charset="0"/>
              </a:rPr>
              <a:t>እርሱም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የደህንነት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ታሪክ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ነው</a:t>
            </a:r>
            <a:r>
              <a:rPr lang="en-US" b="1" dirty="0">
                <a:latin typeface="Arial Black" panose="020B0A04020102020204" pitchFamily="34" charset="0"/>
              </a:rPr>
              <a:t>፡፡ </a:t>
            </a:r>
            <a:r>
              <a:rPr lang="en-US" b="1" dirty="0" err="1">
                <a:latin typeface="Arial Black" panose="020B0A04020102020204" pitchFamily="34" charset="0"/>
              </a:rPr>
              <a:t>ሁሉም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ታሪኮች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ከዚህ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ታሪክ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ጋር</a:t>
            </a: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b="1" dirty="0" err="1" smtClean="0">
                <a:latin typeface="Arial Black" panose="020B0A04020102020204" pitchFamily="34" charset="0"/>
              </a:rPr>
              <a:t>ይጋጠማሉ</a:t>
            </a:r>
            <a:r>
              <a:rPr lang="en-US" b="1" dirty="0" smtClean="0">
                <a:latin typeface="Arial Black" panose="020B0A04020102020204" pitchFamily="34" charset="0"/>
              </a:rPr>
              <a:t>፡፡</a:t>
            </a:r>
            <a:endParaRPr lang="en-US" b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4836</Words>
  <Application>WPS Presentation</Application>
  <PresentationFormat>On-screen Show (4:3)</PresentationFormat>
  <Paragraphs>125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SimSun</vt:lpstr>
      <vt:lpstr>Wingdings</vt:lpstr>
      <vt:lpstr>Arial Black</vt:lpstr>
      <vt:lpstr>Microsoft YaHei</vt:lpstr>
      <vt:lpstr>Arial Unicode MS</vt:lpstr>
      <vt:lpstr>Calibri</vt:lpstr>
      <vt:lpstr>Office Theme</vt:lpstr>
      <vt:lpstr>ለሙስሊሞች ጥያቄዎች የክርስቲያኖች መልስ</vt:lpstr>
      <vt:lpstr>PowerPoint 演示文稿</vt:lpstr>
      <vt:lpstr>የሙስሊሞችን ጥያቄዎች እንዴት እንመልስ?</vt:lpstr>
      <vt:lpstr>መጽሐፍ ቅዱስ</vt:lpstr>
      <vt:lpstr>ስለ ቁርአን መገለጥ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የሙስሊም ወንጌል ስርጭት ስልጠና</dc:title>
  <dc:creator>anwar Berhe</dc:creator>
  <cp:lastModifiedBy>Biniyam Girma</cp:lastModifiedBy>
  <cp:revision>276</cp:revision>
  <dcterms:created xsi:type="dcterms:W3CDTF">2019-06-09T15:28:00Z</dcterms:created>
  <dcterms:modified xsi:type="dcterms:W3CDTF">2025-11-28T11:08:45Z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961A2C23B2124F3CB262DB075D44D9BF_12</vt:lpwstr>
  </property>
  <property fmtid="{D5CDD505-2E9C-101B-9397-08002B2CF9AE}" pid="3" name="KSOProductBuildVer">
    <vt:lpwstr>2057-12.2.0.23149</vt:lpwstr>
  </property>
</Properties>
</file>