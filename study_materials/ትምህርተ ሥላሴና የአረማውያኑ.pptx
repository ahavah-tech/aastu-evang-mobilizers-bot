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3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5" r:id="rId39"/>
    <p:sldId id="293" r:id="rId40"/>
    <p:sldId id="294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061" autoAdjust="0"/>
  </p:normalViewPr>
  <p:slideViewPr>
    <p:cSldViewPr snapToGrid="0">
      <p:cViewPr varScale="1">
        <p:scale>
          <a:sx n="62" d="100"/>
          <a:sy n="62" d="100"/>
        </p:scale>
        <p:origin x="1056" y="2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C9D62-4B46-4772-88B2-CCF0ECB987C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5E665-4B57-43C5-BF93-9EF2A314AB62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6538" y="1261985"/>
            <a:ext cx="6010834" cy="3625298"/>
          </a:xfrm>
        </p:spPr>
        <p:txBody>
          <a:bodyPr anchor="b">
            <a:normAutofit fontScale="90000"/>
          </a:bodyPr>
          <a:lstStyle/>
          <a:p>
            <a:pPr algn="l">
              <a:lnSpc>
                <a:spcPct val="100000"/>
              </a:lnSpc>
            </a:pPr>
            <a:br>
              <a:rPr lang="en-US" b="1" cap="none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Addis" panose="02000500000000020004" pitchFamily="2" charset="0"/>
              </a:rPr>
            </a:br>
            <a:r>
              <a:rPr lang="en-US" sz="4900" b="1" cap="none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Addis" panose="02000500000000020004" pitchFamily="2" charset="0"/>
              </a:rPr>
              <a:t>ትምህርተ</a:t>
            </a:r>
            <a:r>
              <a:rPr lang="en-US" sz="4900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Addis" panose="02000500000000020004" pitchFamily="2" charset="0"/>
              </a:rPr>
              <a:t> </a:t>
            </a:r>
            <a:r>
              <a:rPr lang="en-US" sz="4900" b="1" cap="none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Addis" panose="02000500000000020004" pitchFamily="2" charset="0"/>
              </a:rPr>
              <a:t>ሥላሴና</a:t>
            </a:r>
            <a:r>
              <a:rPr lang="en-US" sz="4900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Addis" panose="02000500000000020004" pitchFamily="2" charset="0"/>
              </a:rPr>
              <a:t>      </a:t>
            </a:r>
            <a:br>
              <a:rPr lang="en-US" sz="4000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Addis" panose="02000500000000020004" pitchFamily="2" charset="0"/>
              </a:rPr>
            </a:br>
            <a:r>
              <a:rPr lang="en-US" sz="4000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Addis" panose="02000500000000020004" pitchFamily="2" charset="0"/>
              </a:rPr>
              <a:t>       </a:t>
            </a:r>
            <a:br>
              <a:rPr lang="en-US" sz="4000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Addis" panose="02000500000000020004" pitchFamily="2" charset="0"/>
              </a:rPr>
            </a:br>
            <a:r>
              <a:rPr lang="en-US" sz="4800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Addis" panose="02000500000000020004" pitchFamily="2" charset="0"/>
              </a:rPr>
              <a:t>       </a:t>
            </a:r>
            <a:r>
              <a:rPr lang="en-US" sz="4900" b="1" cap="none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Addis" panose="02000500000000020004" pitchFamily="2" charset="0"/>
              </a:rPr>
              <a:t>የአረማውያኑ</a:t>
            </a:r>
            <a:r>
              <a:rPr lang="en-US" sz="4900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Addis" panose="02000500000000020004" pitchFamily="2" charset="0"/>
              </a:rPr>
              <a:t> </a:t>
            </a:r>
            <a:br>
              <a:rPr lang="en-US" sz="4000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Kiros" panose="02000000070000080003" pitchFamily="2" charset="0"/>
              </a:rPr>
            </a:br>
            <a:r>
              <a:rPr lang="en-US" sz="4000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Kiros" panose="02000000070000080003" pitchFamily="2" charset="0"/>
              </a:rPr>
              <a:t>  </a:t>
            </a:r>
            <a:r>
              <a:rPr lang="en-US" sz="4900" b="1" cap="none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Sadiss Light" pitchFamily="2" charset="0"/>
              </a:rPr>
              <a:t>መድብለ</a:t>
            </a:r>
            <a:r>
              <a:rPr lang="en-US" sz="4900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Sadiss Light" pitchFamily="2" charset="0"/>
              </a:rPr>
              <a:t> </a:t>
            </a:r>
            <a:r>
              <a:rPr lang="en-US" sz="4900" b="1" cap="none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Sadiss Light" pitchFamily="2" charset="0"/>
              </a:rPr>
              <a:t>አማልክት</a:t>
            </a:r>
            <a:br>
              <a:rPr lang="en-US" sz="4000" dirty="0">
                <a:solidFill>
                  <a:srgbClr val="FFFFFF"/>
                </a:solidFill>
                <a:latin typeface="Kiros" panose="02000000070000080003" pitchFamily="2" charset="0"/>
              </a:rPr>
            </a:br>
            <a:endParaRPr lang="en-US" sz="4000" dirty="0">
              <a:solidFill>
                <a:srgbClr val="FFFFFF"/>
              </a:solidFill>
              <a:latin typeface="Kiros" panose="02000000070000080003" pitchFamily="2" charset="0"/>
            </a:endParaRPr>
          </a:p>
        </p:txBody>
      </p:sp>
      <p:pic>
        <p:nvPicPr>
          <p:cNvPr id="5" name="Picture 4" descr="A group of gold statues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355" y="1261985"/>
            <a:ext cx="5596328" cy="33100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drawing of two men wrestling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49" b="16628"/>
          <a:stretch>
            <a:fillRect/>
          </a:stretch>
        </p:blipFill>
        <p:spPr>
          <a:xfrm>
            <a:off x="1" y="0"/>
            <a:ext cx="948017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35402" y="743447"/>
            <a:ext cx="4053398" cy="369202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Kiros" panose="02000000070000080003" pitchFamily="2" charset="0"/>
                <a:ea typeface="+mj-ea"/>
                <a:cs typeface="+mj-cs"/>
              </a:rPr>
              <a:t>ሽረት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Kiros" panose="02000000070000080003" pitchFamily="2" charset="0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Kiros" panose="02000000070000080003" pitchFamily="2" charset="0"/>
                <a:ea typeface="+mj-ea"/>
                <a:cs typeface="+mj-cs"/>
              </a:rPr>
              <a:t>ሻሪ</a:t>
            </a:r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Kiros" panose="02000000070000080003" pitchFamily="2" charset="0"/>
                <a:ea typeface="+mj-ea"/>
                <a:cs typeface="+mj-cs"/>
              </a:rPr>
              <a:t> </a:t>
            </a:r>
            <a:r>
              <a:rPr lang="en-US" sz="5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Kiros" panose="02000000070000080003" pitchFamily="2" charset="0"/>
                <a:ea typeface="+mj-ea"/>
                <a:cs typeface="+mj-cs"/>
              </a:rPr>
              <a:t>ዐጸፋ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Kiros" panose="02000000070000080003" pitchFamily="2" charset="0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7655" y="1441449"/>
            <a:ext cx="7115342" cy="474833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endParaRPr lang="en-US" sz="9600" b="1" dirty="0">
              <a:latin typeface="Ethiopic Addis" panose="02000500000000020004" pitchFamily="2" charset="0"/>
            </a:endParaRP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240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Ethiopic Addis" panose="02000500000000020004" pitchFamily="2" charset="0"/>
              </a:rPr>
              <a:t>ትልም</a:t>
            </a:r>
            <a:r>
              <a:rPr lang="en-US" sz="14400" b="1" dirty="0">
                <a:latin typeface="Ethiopic Addis" panose="02000500000000020004" pitchFamily="2" charset="0"/>
              </a:rPr>
              <a:t> </a:t>
            </a:r>
            <a:endParaRPr lang="en-US" sz="14400" b="1" dirty="0">
              <a:latin typeface="Ethiopic Addis" panose="02000500000000020004" pitchFamily="2" charset="0"/>
            </a:endParaRPr>
          </a:p>
          <a:p>
            <a:pPr algn="just" defTabSz="914400">
              <a:lnSpc>
                <a:spcPct val="90000"/>
              </a:lnSpc>
              <a:spcAft>
                <a:spcPts val="600"/>
              </a:spcAft>
            </a:pPr>
            <a:endParaRPr lang="en-US" dirty="0"/>
          </a:p>
          <a:p>
            <a:pPr algn="just" defTabSz="914400">
              <a:lnSpc>
                <a:spcPct val="200000"/>
              </a:lnSpc>
              <a:spcAft>
                <a:spcPts val="600"/>
              </a:spcAft>
            </a:pPr>
            <a:r>
              <a:rPr lang="en-US" sz="8000" dirty="0" err="1">
                <a:latin typeface="Power Geez Unicode1" panose="00000400000000000000" pitchFamily="2" charset="0"/>
              </a:rPr>
              <a:t>በዚህ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የትምህርት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ክፍለ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ጊዜ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በስፋት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የምንገምግመው</a:t>
            </a:r>
            <a:r>
              <a:rPr lang="en-US" sz="8000" dirty="0">
                <a:latin typeface="Power Geez Unicode1" panose="00000400000000000000" pitchFamily="2" charset="0"/>
              </a:rPr>
              <a:t>፣ </a:t>
            </a:r>
            <a:r>
              <a:rPr lang="en-US" sz="8000" dirty="0" err="1">
                <a:latin typeface="Power Geez Unicode1" panose="00000400000000000000" pitchFamily="2" charset="0"/>
              </a:rPr>
              <a:t>አርዮሳውያንና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ሰባልዮሳውያን</a:t>
            </a:r>
            <a:r>
              <a:rPr lang="en-US" sz="8000" dirty="0">
                <a:latin typeface="Power Geez Unicode1" panose="00000400000000000000" pitchFamily="2" charset="0"/>
              </a:rPr>
              <a:t> “</a:t>
            </a:r>
            <a:r>
              <a:rPr lang="en-US" sz="8000" dirty="0" err="1">
                <a:latin typeface="Power Geez Unicode1" panose="00000400000000000000" pitchFamily="2" charset="0"/>
              </a:rPr>
              <a:t>ትምህርተ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ሥላሴ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ከአረማውያን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መድብለ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አማልክት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ዐስተሳሰብ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የተቀዳ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ነው</a:t>
            </a:r>
            <a:r>
              <a:rPr lang="en-US" sz="8000" dirty="0">
                <a:latin typeface="Power Geez Unicode1" panose="00000400000000000000" pitchFamily="2" charset="0"/>
              </a:rPr>
              <a:t>” </a:t>
            </a:r>
            <a:r>
              <a:rPr lang="en-US" sz="8000" dirty="0" err="1">
                <a:latin typeface="Power Geez Unicode1" panose="00000400000000000000" pitchFamily="2" charset="0"/>
              </a:rPr>
              <a:t>የሚለውን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ትችታቸውን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ነው</a:t>
            </a:r>
            <a:r>
              <a:rPr lang="en-US" sz="8000" dirty="0">
                <a:latin typeface="Power Geez Unicode1" panose="00000400000000000000" pitchFamily="2" charset="0"/>
              </a:rPr>
              <a:t>፡፡ </a:t>
            </a:r>
            <a:r>
              <a:rPr lang="en-US" sz="8000" dirty="0" err="1">
                <a:latin typeface="Power Geez Unicode1" panose="00000400000000000000" pitchFamily="2" charset="0"/>
              </a:rPr>
              <a:t>እነዚህ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መናፍቃዊ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ድርጅቶች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እማኝ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አድርገው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ያቀረቧቸውን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የታሪክ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ሰነዶች</a:t>
            </a:r>
            <a:r>
              <a:rPr lang="en-US" sz="8000" dirty="0">
                <a:latin typeface="Power Geez Unicode1" panose="00000400000000000000" pitchFamily="2" charset="0"/>
              </a:rPr>
              <a:t>፣ </a:t>
            </a:r>
            <a:r>
              <a:rPr lang="en-US" sz="8000" dirty="0" err="1">
                <a:latin typeface="Power Geez Unicode1" panose="00000400000000000000" pitchFamily="2" charset="0"/>
              </a:rPr>
              <a:t>የሙግት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ነጥቦችና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ድምዳሜዎች</a:t>
            </a:r>
            <a:r>
              <a:rPr lang="en-US" sz="8000" dirty="0">
                <a:latin typeface="Power Geez Unicode1" panose="00000400000000000000" pitchFamily="2" charset="0"/>
              </a:rPr>
              <a:t>፣ </a:t>
            </a:r>
            <a:r>
              <a:rPr lang="en-US" sz="8000" dirty="0" err="1">
                <a:latin typeface="Power Geez Unicode1" panose="00000400000000000000" pitchFamily="2" charset="0"/>
              </a:rPr>
              <a:t>ሙግታቸውን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ያዋቀሩባቸውን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ታሳቢያን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መሠረቶች</a:t>
            </a:r>
            <a:r>
              <a:rPr lang="en-US" sz="8000" dirty="0">
                <a:latin typeface="Power Geez Unicode1" panose="00000400000000000000" pitchFamily="2" charset="0"/>
              </a:rPr>
              <a:t> </a:t>
            </a:r>
            <a:r>
              <a:rPr lang="en-US" sz="8000" dirty="0" err="1">
                <a:latin typeface="Power Geez Unicode1" panose="00000400000000000000" pitchFamily="2" charset="0"/>
              </a:rPr>
              <a:t>ይገመገማሉ</a:t>
            </a:r>
            <a:r>
              <a:rPr lang="en-US" sz="8000" dirty="0">
                <a:latin typeface="Power Geez Unicode1" panose="00000400000000000000" pitchFamily="2" charset="0"/>
              </a:rPr>
              <a:t>፡፡</a:t>
            </a:r>
            <a:endParaRPr lang="en-US" sz="8000" dirty="0">
              <a:latin typeface="Power Geez Unicode1" panose="00000400000000000000" pitchFamily="2" charset="0"/>
            </a:endParaRPr>
          </a:p>
        </p:txBody>
      </p:sp>
      <p:pic>
        <p:nvPicPr>
          <p:cNvPr id="6" name="Picture 5" descr="A red and white target with a yellow arrow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07" r="1" b="8441"/>
          <a:stretch>
            <a:fillRect/>
          </a:stretch>
        </p:blipFill>
        <p:spPr>
          <a:xfrm>
            <a:off x="7379138" y="1725978"/>
            <a:ext cx="4521200" cy="34109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oster with various ancient artifacts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42" y="511293"/>
            <a:ext cx="4227461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486400" y="812800"/>
            <a:ext cx="5867400" cy="53641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effectLst/>
                <a:latin typeface="Power Geez Unicode1" panose="00000400000000000000" pitchFamily="2" charset="0"/>
              </a:rPr>
              <a:t>በአገራችን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እንዲሁም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በዐማርኛ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ቋንቋ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በተጻፉ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ጽሑፎች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፣ “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ትምህርተ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ሥላሴ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ከአረማውያን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መድብለ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አማልክት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የተወረሰ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ትምህርት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”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የሚለውን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ዐሳብ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ለመጀመሪያ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ጊዜ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ያስተዋወቀው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፣ “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የይሖዋ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ምስክሮች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”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ድርጅት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፣ “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የመጠበቂያ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ግንብ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የመጽሐፍ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ቅዱስና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የትራክት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ማኅበር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”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፤ በ1980ዎቹ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መጀመሪያ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</a:rPr>
              <a:t>ላይ</a:t>
            </a:r>
            <a:r>
              <a:rPr lang="en-US" sz="2400" dirty="0">
                <a:effectLst/>
                <a:latin typeface="Power Geez Unicode1" panose="00000400000000000000" pitchFamily="2" charset="0"/>
              </a:rPr>
              <a:t>፡፡ </a:t>
            </a:r>
            <a:endParaRPr lang="en-US" sz="2400" dirty="0">
              <a:effectLst/>
              <a:latin typeface="Power Geez Unicode1" panose="00000400000000000000" pitchFamily="2" charset="0"/>
            </a:endParaRPr>
          </a:p>
          <a:p>
            <a:pPr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Power Geez Unicode1" panose="00000400000000000000" pitchFamily="2" charset="0"/>
              </a:rPr>
              <a:t>መጠበቂያ</a:t>
            </a:r>
            <a:r>
              <a:rPr lang="en-US" sz="2400" dirty="0"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</a:rPr>
              <a:t>ግንብ</a:t>
            </a:r>
            <a:r>
              <a:rPr lang="en-US" sz="2400" dirty="0">
                <a:latin typeface="Power Geez Unicode1" panose="00000400000000000000" pitchFamily="2" charset="0"/>
              </a:rPr>
              <a:t>፣ </a:t>
            </a:r>
            <a:r>
              <a:rPr lang="en-US" sz="2400" dirty="0" err="1">
                <a:latin typeface="Power Geez Unicode1" panose="00000400000000000000" pitchFamily="2" charset="0"/>
              </a:rPr>
              <a:t>በትምህርተ</a:t>
            </a:r>
            <a:r>
              <a:rPr lang="en-US" sz="2400" dirty="0"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</a:rPr>
              <a:t>ሥላሴ</a:t>
            </a:r>
            <a:r>
              <a:rPr lang="en-US" sz="2400" dirty="0"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</a:rPr>
              <a:t>ላይ</a:t>
            </a:r>
            <a:r>
              <a:rPr lang="en-US" sz="2400" dirty="0"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</a:rPr>
              <a:t>ተጽእኖ</a:t>
            </a:r>
            <a:r>
              <a:rPr lang="en-US" sz="2400" dirty="0"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</a:rPr>
              <a:t>አመጡ</a:t>
            </a:r>
            <a:r>
              <a:rPr lang="en-US" sz="2400" dirty="0"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</a:rPr>
              <a:t>ያላቸውን</a:t>
            </a:r>
            <a:r>
              <a:rPr lang="en-US" sz="2400" dirty="0"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</a:rPr>
              <a:t>ዐሥር</a:t>
            </a:r>
            <a:r>
              <a:rPr lang="en-US" sz="2400" dirty="0"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</a:rPr>
              <a:t>አረማውያን</a:t>
            </a:r>
            <a:r>
              <a:rPr lang="en-US" sz="2400" dirty="0"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</a:rPr>
              <a:t>ጣዖታት</a:t>
            </a:r>
            <a:r>
              <a:rPr lang="en-US" sz="2400" dirty="0"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</a:rPr>
              <a:t>በሥዕል</a:t>
            </a:r>
            <a:r>
              <a:rPr lang="en-US" sz="2400" dirty="0">
                <a:latin typeface="Power Geez Unicode1" panose="00000400000000000000" pitchFamily="2" charset="0"/>
              </a:rPr>
              <a:t> </a:t>
            </a:r>
            <a:r>
              <a:rPr lang="en-US" sz="2400" dirty="0" err="1">
                <a:latin typeface="Power Geez Unicode1" panose="00000400000000000000" pitchFamily="2" charset="0"/>
              </a:rPr>
              <a:t>አቅርቧል</a:t>
            </a:r>
            <a:r>
              <a:rPr lang="en-US" sz="2400" dirty="0">
                <a:latin typeface="Power Geez Unicode1" panose="00000400000000000000" pitchFamily="2" charset="0"/>
              </a:rPr>
              <a:t>፡፡</a:t>
            </a:r>
            <a:endParaRPr lang="en-US" sz="2400" dirty="0">
              <a:latin typeface="Power Geez Unicode1" panose="000004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94268" y="1537264"/>
            <a:ext cx="7484532" cy="3904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buNone/>
            </a:pP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</a:t>
            </a:r>
            <a:r>
              <a:rPr lang="en-US" sz="28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2008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ዓ.ም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ይህንኑ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ሙግት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ተከትሎ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360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ገጽ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ያለው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የክስ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ዶሴ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ያቀረቡልን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ቀሲስ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ኤልያስ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ሽባባው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ቀሲስ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ኤልያስ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በክርስትና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አድርገዋል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ያሏቸው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የጣዖታት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ብዛት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ከ</a:t>
            </a:r>
            <a:r>
              <a:rPr lang="en-US" sz="28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65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በላይ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ምዕራፍ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የእነዚህን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መጻሕፍት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ዐቢይ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ትችት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ይተቻል</a:t>
            </a:r>
            <a:r>
              <a:rPr lang="en-US" sz="2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      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ook cover with a light shining through the pages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801" y="1286933"/>
            <a:ext cx="3251200" cy="43349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5836" y="54405"/>
            <a:ext cx="9103659" cy="6534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ቀሲስ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ኤልያስ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ሽባባው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ትምህርተ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የአረማውያን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ውርስ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ሆነ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አንዳችም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የመጽሐፍ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ድጋፍ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እንደሌለው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ማሳየት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የመጽሐፌ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ቀዳማይ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ግብ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ብለዋል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:—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5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ጥንታዊዎቹን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የአረማውያን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ሕዝቦች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አምልኮ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የሆነውን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ሦስትነት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በአንድነት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የሚያመለክቱ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ሥዕላዊና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የጽሑፍ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ማስረጃዎችን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ማሰባሰብ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የቻሉ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ምሁራን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አንድ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ትልቅ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ነገር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እንድንረዳ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አድርገውናል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የአረማውያኑን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አምልኮ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እና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ልማድ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በዘመናችን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ባሉ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የእምነት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አስተምህሮች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ውስጥ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ምን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ያህል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ዘልቈ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ገባ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እና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ተመሳስሎ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ተቀመጠ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ያስገነዝቡናል</a:t>
            </a:r>
            <a:r>
              <a:rPr lang="en-US" sz="2800" kern="0" dirty="0">
                <a:latin typeface="Times New Roman" panose="02020603050405020304" pitchFamily="18" charset="0"/>
              </a:rPr>
              <a:t>”</a:t>
            </a:r>
            <a:endParaRPr lang="en-US" sz="5400" kern="0" dirty="0">
              <a:latin typeface="Times New Roman" panose="02020603050405020304" pitchFamily="18" charset="0"/>
            </a:endParaRPr>
          </a:p>
        </p:txBody>
      </p:sp>
      <p:pic>
        <p:nvPicPr>
          <p:cNvPr id="5" name="Picture 4" descr="A person in a blue shirt and tie holding microphones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95" y="1896034"/>
            <a:ext cx="2792506" cy="28507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22800" y="347357"/>
            <a:ext cx="7382933" cy="5215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የኦንሊ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ጂሰስ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ዓለም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ዐቀፍ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ቢሮ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የበላይ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ጠባቂ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ዴቪድ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ኬ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በርናርድ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የሥላሴ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የተወሰደው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ከጥንት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አሶራውያን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ከባቢሎናውያን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ከግብፃውያን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ከሂንዱና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ከታኦይስት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ሃይማኖት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እንዲሁም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ከአፍላጦናዊው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ፍልስፍና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ሆነ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ይገልጻሉ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:—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SzPts val="1200"/>
              <a:buFont typeface="Courier New" panose="02070309020205020404" pitchFamily="49" charset="0"/>
              <a:buChar char="□"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ስለዚህም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የሥላሴ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ዐስተሳሰብ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ከክርስትና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አስተምህሮ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ውስጥ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የበቀለ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ሳይሆን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የአረማውያን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ሃይማኖትና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ፍልስፍና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ዐይነተኛው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ገጽታ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SzPts val="1200"/>
              <a:buFont typeface="Courier New" panose="02070309020205020404" pitchFamily="49" charset="0"/>
              <a:buChar char="□"/>
            </a:pP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እንዲያውም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ቀደምት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ነባቤ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መለኮቶች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ዐይነቱን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ጭፍን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ስሕተት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እንዴት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ሊሠሩ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ቻሉ</a:t>
            </a:r>
            <a:r>
              <a:rPr lang="en-US" sz="18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ያለፈውን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ታሪካቸውንም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ሆነ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ባህላቸውን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ከአረማውያን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ዐስተሳሰብ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ማራቅ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ተስኖአቸዋል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lnSpc>
                <a:spcPct val="150000"/>
              </a:lnSpc>
              <a:buNone/>
            </a:pP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David K. Bernard, </a:t>
            </a:r>
            <a:r>
              <a:rPr lang="en-US" sz="1400" i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Oneness of God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(Hazelwood, Mo.: Word Aflame Press, 1983), 164-65.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buNone/>
            </a:pP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ዝኒ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ከማሁ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176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ose-up of a person smiling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7" y="1465249"/>
            <a:ext cx="4148667" cy="3483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31334" y="931332"/>
            <a:ext cx="10651066" cy="6923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4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5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የመናፍቃኑ</a:t>
            </a:r>
            <a:r>
              <a:rPr lang="en-US" sz="5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5400" kern="100" dirty="0" err="1"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ሙግት</a:t>
            </a:r>
            <a:r>
              <a:rPr lang="en-US" sz="5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5400" kern="100" dirty="0">
              <a:effectLst/>
              <a:latin typeface="Ethiopic Yebse" panose="02000500000000000000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5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ዐሥራ</a:t>
            </a:r>
            <a:r>
              <a:rPr lang="en-US" sz="5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5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ሦስት</a:t>
            </a:r>
            <a:r>
              <a:rPr lang="en-US" sz="5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endParaRPr lang="en-US" sz="5400" kern="100" dirty="0">
              <a:effectLst/>
              <a:latin typeface="Ethiopic Yebse" panose="02000500000000000000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5400" kern="100" dirty="0"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 </a:t>
            </a:r>
            <a:r>
              <a:rPr lang="en-US" sz="5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መሠረታውያን</a:t>
            </a:r>
            <a:r>
              <a:rPr lang="en-US" sz="5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5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ሕጸጾች</a:t>
            </a:r>
            <a:endParaRPr lang="en-US" sz="5400" kern="100" dirty="0">
              <a:effectLst/>
              <a:latin typeface="Ethiopic Yebse" panose="02000500000000000000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ctr">
              <a:lnSpc>
                <a:spcPct val="150000"/>
              </a:lnSpc>
              <a:spcAft>
                <a:spcPts val="800"/>
              </a:spcAft>
            </a:pPr>
            <a:r>
              <a:rPr lang="en-US" sz="80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13</a:t>
            </a:r>
            <a:endParaRPr lang="en-US" sz="8000" b="1" dirty="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marL="342900" marR="0" indent="-342900" algn="ctr">
              <a:lnSpc>
                <a:spcPct val="150000"/>
              </a:lnSpc>
              <a:spcAft>
                <a:spcPts val="800"/>
              </a:spcAft>
              <a:buNone/>
            </a:pP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03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87600" y="913440"/>
            <a:ext cx="6231467" cy="155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88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፩</a:t>
            </a:r>
            <a:endParaRPr lang="en-US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87600" y="2254030"/>
            <a:ext cx="6096000" cy="234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4000" kern="100" dirty="0" err="1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የቃላት</a:t>
            </a:r>
            <a:r>
              <a:rPr lang="en-US" sz="40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መመሳሰል</a:t>
            </a:r>
            <a:r>
              <a:rPr lang="en-US" sz="40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የፅንሰ</a:t>
            </a:r>
            <a:r>
              <a:rPr lang="en-US" sz="40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ዐሳብ</a:t>
            </a:r>
            <a:r>
              <a:rPr lang="en-US" sz="40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መመሳሰልን</a:t>
            </a:r>
            <a:r>
              <a:rPr lang="en-US" sz="40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አያሳይም</a:t>
            </a:r>
            <a:r>
              <a:rPr lang="en-US" sz="40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!</a:t>
            </a:r>
            <a:endParaRPr lang="en-US" sz="3600" kern="100" dirty="0">
              <a:effectLst/>
              <a:latin typeface="Ethiopic Sadiss Light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6598" y="1581386"/>
            <a:ext cx="7721600" cy="1144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በእንግሊዝኛ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ቋንቋ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የተጻፉ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የምርምር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መጻሕፍት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24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Triad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የተጠቀሙት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736598" y="3022417"/>
            <a:ext cx="10854266" cy="1143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የመጠበቂያ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ግንብ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በሦስት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በሦስት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የተደራጁ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በሦስትነት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የተጣመሩ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እንዲሁም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ስያሜ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ሰጥቶአቸዋል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7464" y="4462872"/>
            <a:ext cx="10532535" cy="113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አርዮሳውያኑ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ሁሉ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የኦንሊ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ጂሰስ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አስተማሪው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ቄስ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ኤልያስ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ሽባባው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ሥሉስ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እንዲሁም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እያቀያየሩ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ተጠቅመዋል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4216400" y="844038"/>
            <a:ext cx="6096000" cy="671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3600" kern="0" dirty="0" err="1">
                <a:effectLst/>
                <a:latin typeface="Ethiopic Addis" panose="02000500000000020004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ጠላት</a:t>
            </a:r>
            <a:r>
              <a:rPr lang="en-GB" sz="3600" kern="0" dirty="0">
                <a:effectLst/>
                <a:latin typeface="Ethiopic Addis" panose="02000500000000020004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kern="0" dirty="0" err="1">
                <a:effectLst/>
                <a:latin typeface="Ethiopic Addis" panose="02000500000000020004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ይቀባል</a:t>
            </a:r>
            <a:r>
              <a:rPr lang="en-GB" sz="3600" kern="0" dirty="0">
                <a:effectLst/>
                <a:latin typeface="Ethiopic Addis" panose="02000500000000020004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kern="0" dirty="0" err="1">
                <a:effectLst/>
                <a:latin typeface="Ethiopic Addis" panose="02000500000000020004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ጥላት</a:t>
            </a:r>
            <a:r>
              <a:rPr lang="en-GB" sz="3600" kern="0" dirty="0">
                <a:effectLst/>
                <a:latin typeface="Ethiopic Addis" panose="02000500000000020004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endParaRPr lang="en-US" sz="4000" kern="100" dirty="0">
              <a:effectLst/>
              <a:latin typeface="Ethiopic Addis" panose="02000500000000020004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71332" y="1016001"/>
            <a:ext cx="7399867" cy="3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3200" kern="100" dirty="0" err="1">
                <a:effectLst/>
                <a:latin typeface="Ethiopic Addis" panose="0200050000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የሥላሴ</a:t>
            </a:r>
            <a:r>
              <a:rPr lang="en-US" sz="3200" kern="100" dirty="0">
                <a:effectLst/>
                <a:latin typeface="Ethiopic Addis" panose="0200050000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Addis" panose="0200050000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ዐይነት</a:t>
            </a:r>
            <a:r>
              <a:rPr lang="en-US" sz="3200" kern="100" dirty="0">
                <a:effectLst/>
                <a:latin typeface="Ethiopic Addis" panose="0200050000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Addis" panose="0200050000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3200" kern="100" dirty="0">
                <a:effectLst/>
                <a:latin typeface="Ethiopic Addis" panose="0200050000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Addis" panose="0200050000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አልታየም</a:t>
            </a:r>
            <a:r>
              <a:rPr lang="en-US" sz="3200" kern="100" dirty="0">
                <a:effectLst/>
                <a:latin typeface="Ethiopic Addis" panose="0200050000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3600" kern="100" dirty="0">
              <a:effectLst/>
              <a:latin typeface="Ethiopic Addis" panose="02000500000000020004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5265" y="1645524"/>
            <a:ext cx="9795934" cy="96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ከየትኛውም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የጣዖት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አምልኮ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ዐስተሳሰብ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ፍጹም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የተለየ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ዐይነት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የአረማውያን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አልታየም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አልተሰማም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265" y="2690131"/>
            <a:ext cx="10219268" cy="2353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ክርስትና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በወልድ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በመንፈስ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ያለው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አስተምህሮ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በሚከተሉት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ነጥቦች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መሠረት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ያደርጋል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:— (</a:t>
            </a:r>
            <a:r>
              <a:rPr lang="en-US" sz="20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እግዚአብሔር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አንድ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ወልድና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የተለያየ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ማንነት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አላቸው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ወልድና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አንድ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ባሕርይ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አላቸው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ዐይነት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እምነት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ያለው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ጥንታዊ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የአረማውያን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ሃይማኖት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የለም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ከተባለ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ተኣማኒ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ምንጭ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ጠቅሶ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መሞገት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ይቻላል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5265" y="5043532"/>
            <a:ext cx="10219268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ክርስትና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አሐዳዊ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(monotheism)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አረማውያኑ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የመድብለ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አማልክት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አምልኮ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(Polytheism)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ስለዚህ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አንዳችም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ግንኙነት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የሌለውን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ነገር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አመሳስሎ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በማቅረብ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ኂስ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ለመሰንዘር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መሞከር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የትክክለኛ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ሙግት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ባሕርይ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ድርሳነ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ባልቴት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3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5" dur="3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04532" y="914401"/>
            <a:ext cx="7078135" cy="98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54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፪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533" y="1760402"/>
            <a:ext cx="12192000" cy="166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እና</a:t>
            </a: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ውርስ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የሚሉት</a:t>
            </a: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ፅንሰ</a:t>
            </a: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ዐሳቦች</a:t>
            </a: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የጊዜ</a:t>
            </a: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ቅደም</a:t>
            </a: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ተከተል</a:t>
            </a: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ይፈልጋሉ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!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8533" y="1772509"/>
            <a:ext cx="12192000" cy="2732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marR="0" indent="-182880" algn="just">
              <a:lnSpc>
                <a:spcPct val="150000"/>
              </a:lnSpc>
              <a:buNone/>
            </a:pP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የመጠበቂያ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ግንብ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ክርስትና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አድርገዋል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የሚላቸው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የመድበለ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አማልክት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ምንጮች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ዐሥር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እነርሱም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:—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ግብፅ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ባቢሎን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ፓሊሚራ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ሕንድ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ካምፑቺያ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ኖርዌይ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ፈረንሳይ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ኢጣልያ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ጀርመን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ጀርመን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ሁለት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ጊዜ</a:t>
            </a:r>
            <a:r>
              <a:rPr lang="en-US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ከመጀመሪያዎቹ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ሁለት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ጥንታውያን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የጣዖት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አምልኮዎች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በስተቀር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የተቀሩት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ሁሉ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ከክርስትና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እምነት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በኋላ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ህልውናቸውን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ያገኙ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የጣዖት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አምልኮዎች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መሆናቸውን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በራሱ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ጽሑፍ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ገልጾአል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r>
              <a:rPr lang="en-US" sz="2000" dirty="0">
                <a:effectLst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እነዚህ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ሃይማኖቶች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መቼ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ተጀመሩ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በሚለው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ጒዳይ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እኛ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ባቀረብነው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መረጃና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የመጠበቂያ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ግንብ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ድርጅት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ባቀረበው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ዘገባ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መኻል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ጒልህ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ልዩነት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የለም</a:t>
            </a:r>
            <a:r>
              <a:rPr lang="en-US" sz="16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73867" y="4690599"/>
            <a:ext cx="9482666" cy="1704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መጠበቂያ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ግንብ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ካቀረባቸው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ዐሥር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ሥዕሎች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መኻል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ክርስትና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ከመጀመሩ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በፊት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የነበሩት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አረማዊ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እምነቶች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የመጀመሪያዎቹ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ሁለቱ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ብቻ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ናቸው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ተጽእኖ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ካደረጉም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ተጽእኖ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የሚያደርጉት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እነዚህ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ሁለቱ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የግብፃውያንና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የባቢሎናውያን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ሃይማኖቶች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ብቻ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ናቸው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፤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በዕድሜ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ከክርስትና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ስለሚቀድሙ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27322" y="634173"/>
            <a:ext cx="98208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ትከሻው</a:t>
            </a:r>
            <a:r>
              <a:rPr lang="en-US" sz="2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ሰፊ</a:t>
            </a:r>
            <a:r>
              <a:rPr lang="en-US" sz="2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ስለሆነ</a:t>
            </a:r>
            <a:r>
              <a:rPr lang="en-US" sz="2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ከጀርባዬ</a:t>
            </a:r>
            <a:r>
              <a:rPr lang="en-US" sz="2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ተቀምጦ</a:t>
            </a:r>
            <a:r>
              <a:rPr lang="en-US" sz="2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እንኳ</a:t>
            </a:r>
            <a:r>
              <a:rPr lang="en-US" sz="2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ከፊት</a:t>
            </a:r>
            <a:r>
              <a:rPr lang="en-US" sz="2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ለፊት</a:t>
            </a:r>
            <a:r>
              <a:rPr lang="en-US" sz="2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ያለውን</a:t>
            </a:r>
            <a:r>
              <a:rPr lang="en-US" sz="2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ቴሌቪዠን</a:t>
            </a:r>
            <a:r>
              <a:rPr lang="en-US" sz="2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ይጋርደኛል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" y="1118653"/>
            <a:ext cx="11887200" cy="188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እንዲያውም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ቄስ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ኤልያስ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ሽባባው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ከሥልሳ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አምስት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የማያንሱ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በክርስትና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ላይ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ተጽእኖ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አድርገዋል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የሚሏቸውን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የጣዖት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ዝርዝር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አቅርበዋል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ምናልባትም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ከ</a:t>
            </a:r>
            <a:r>
              <a:rPr lang="en-US" sz="2000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360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ገጽ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መጽሐፋቸው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ውስጥ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ወደ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ሦስት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መቶ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የሚደርሰው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ገጽ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የተሸፈነው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በእነዚህ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ጣዖታት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ዝርዝር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መጽሐፉ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የአረማውያን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የጣዖት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ሜኑ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(menu)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ቢባል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ግነት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የሚሆን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አይመስለኝም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3701610"/>
            <a:ext cx="11811000" cy="1430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መንሥኤአዊ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ተወስኖት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ለሚለው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ፅንሰ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ዐሳብ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ጊዜ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እጅግ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ወሳኝ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ጒዳይ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በሙያዊ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ቃሉ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መንሥኤዊ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ተወስኖት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”)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ለሚባለው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ርእሰ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ጒዳይ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ጊዜ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(time)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በአንገብጋቢ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ቅድመ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ሁኔታ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(necessary condition)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5132386"/>
            <a:ext cx="11413066" cy="1213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ቄስ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ኤልያስ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ከክርስትና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በኋላ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የተጀመሩ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አረማዊ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እምነቶች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በክርስትና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አድርገዋል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ጥሪት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አውርሰዋል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እያሉ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የትንታኔ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ችግር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ሳይሆን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የጥሬ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እውነታ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ስሕተት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(factual error)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በሳይንስና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በዲበአካል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ጥናት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“backward causation”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የሚባል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ነገር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የለም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915639"/>
            <a:ext cx="11430000" cy="5021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ቄስ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ኤልያስ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ካቀረቧቸው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ከሥልሳ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አምስት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በላይ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የጣዖት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ዝርዝሮች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መኻል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ከክርስትና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በፊት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የነበሩት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የባቢሎንና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የግብፅ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ጣዖታት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እነዚህም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ሃይማኖቶች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አስተምህሮአቸውን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ለሥላሴአዊው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አውርሰዋል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አድርገዋል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ብንል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እንዲሁም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በዚህ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የተቀመጡ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ሙግቶች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በሙሉ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መቶ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በመቶ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ስሕተት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ብለን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ብናስብ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የቄስ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ኤልያስ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ከሥልሳ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አምስት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ነጥብ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ሁለት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(2/65)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ትክክል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የሚሆነው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በመቶኛ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እናስላው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ካልን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3.08/100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ትክክል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የሚሆነው</a:t>
            </a:r>
            <a:r>
              <a:rPr lang="en-US" sz="24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በዝርዝር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የቀረቡ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ጣዖታት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ብዛት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ወደ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ሰባ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ሁለት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ይደርሳል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ፍትሓዊ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ለመሆን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አናሳውን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ቊጥር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በመውሰድ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ስሌቱን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አቅርበናል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36800" y="5937206"/>
            <a:ext cx="9499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መጠበቂያ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ግንብ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ደግሞ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ትክክል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የመሆን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ዕድሉ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ሁለት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ከዐሥር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6133" y="856777"/>
            <a:ext cx="10278533" cy="86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ts val="1900"/>
              </a:lnSpc>
              <a:buNone/>
            </a:pPr>
            <a:endParaRPr lang="en-US" sz="3600" dirty="0">
              <a:effectLst/>
              <a:latin typeface="Ethiopic Yebse" panose="02000500000000000000" pitchFamily="2" charset="0"/>
              <a:ea typeface="Times New Roman" panose="02020603050405020304" pitchFamily="18" charset="0"/>
            </a:endParaRPr>
          </a:p>
          <a:p>
            <a:pPr marL="0" marR="0" algn="ctr">
              <a:lnSpc>
                <a:spcPts val="1900"/>
              </a:lnSpc>
              <a:buNone/>
            </a:pPr>
            <a:endParaRPr lang="en-US" sz="3600" dirty="0">
              <a:latin typeface="Ethiopic Yebse" panose="02000500000000000000" pitchFamily="2" charset="0"/>
              <a:ea typeface="Times New Roman" panose="02020603050405020304" pitchFamily="18" charset="0"/>
            </a:endParaRPr>
          </a:p>
          <a:p>
            <a:pPr marL="0" marR="0" algn="ctr">
              <a:lnSpc>
                <a:spcPts val="1900"/>
              </a:lnSpc>
              <a:buNone/>
            </a:pPr>
            <a:r>
              <a:rPr lang="en-US" sz="36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የአረማውያኑ</a:t>
            </a:r>
            <a:r>
              <a:rPr lang="en-US" sz="36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አማልክት</a:t>
            </a:r>
            <a:r>
              <a:rPr lang="en-US" sz="36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ሦስት</a:t>
            </a:r>
            <a:r>
              <a:rPr lang="en-US" sz="36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ብቻ</a:t>
            </a:r>
            <a:r>
              <a:rPr lang="en-US" sz="36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አይደሉም</a:t>
            </a:r>
            <a:r>
              <a:rPr lang="en-US" sz="36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!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0" y="202239"/>
            <a:ext cx="6096000" cy="108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60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፫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46495" y="2380527"/>
            <a:ext cx="12192000" cy="2127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በስመ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ጥር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ዩኒቨርሲቲዎች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የታተሙ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መጻሕፍት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ግብፅና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ባቢሎን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የሚሉት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የአማልክት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ቊጥር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ሦስት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እጅግ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በርካታ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እውነት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ሦስቱን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ቈንጥሮ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በማውጣት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የጥንት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ግብፃውያንና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ባቢሎናውያን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ሦስት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አማልክት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የሚያመልኩ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አስፈለገ</a:t>
            </a:r>
            <a:r>
              <a:rPr lang="en-US" sz="18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በርእሰ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ጒዳዩ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የተዘጋጁ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ተኣማኒ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የሚባሉ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መጻሕፍት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የአረማውያኑ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አማልክት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ቊጥር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ሦስት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አይደሉም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እንዲያውም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ከዐሥር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በላይ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ሆኑ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የሚገለጸው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ግለሰቡ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ሥሉስ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ከሚሉት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ዐሳብ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እንዲዛመድላቸው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ጣዖታቱን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ሦስት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አድርገው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አቅርበዋል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7465" y="1477650"/>
            <a:ext cx="11006667" cy="796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40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መመሳሰል</a:t>
            </a:r>
            <a:r>
              <a:rPr lang="en-US" sz="40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መቀዳዳትን</a:t>
            </a:r>
            <a:r>
              <a:rPr lang="en-US" sz="40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የግድ</a:t>
            </a:r>
            <a:r>
              <a:rPr lang="en-US" sz="40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አመልካች</a:t>
            </a:r>
            <a:r>
              <a:rPr lang="en-US" sz="40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40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!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10933" y="388506"/>
            <a:ext cx="6841067" cy="108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60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፬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6400" y="2304158"/>
            <a:ext cx="11497732" cy="2804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በርካታ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አረማውያን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መሰል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ዐስተሳሰብ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አላቸው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ዕሳቤ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አስተምህሮተ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አረማዊ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መሠረት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ወደሚለው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ድምዳሜ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ሊያደርሰን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አይችልም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ለመሆኑ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አጥጋቢ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ማስረጃ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ካልቀረበ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በስተቀር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በርካታ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አረማውያን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ዓለማት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ፈጣሪ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እንዳላቸው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ያምናሉ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ማለት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ቅዱሳዊው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ክርስትና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አስተምህሮ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የቀዳው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ከአረማውያን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ማለት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ስሕተት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በኢትዮጵያ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ውስጥ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የሚገኙ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በርካታ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ባህላዊ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ሃይማኖቶች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ለኀጢአት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ሥርየት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ደም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መፍሰስ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አለበት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እምነት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አላቸው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እነዚህ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ባህላዊ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ሃይማኖቶች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ዐይነቱ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እምነት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አላቸው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ማለት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45066" y="5139036"/>
            <a:ext cx="11159065" cy="1131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ደም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ሳይፈስ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ሥርየት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የለም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የብሉይና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የዐዲስ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ኪዳን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መሠረተ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ትምህርት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ጥንታውያን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ከሆኑት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ባህላዊ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ሃይማኖቶች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የተቀዳ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ማለት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ግን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ስሕተት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1867" y="2205606"/>
            <a:ext cx="11650133" cy="3830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marR="0" indent="-182880">
              <a:lnSpc>
                <a:spcPct val="150000"/>
              </a:lnSpc>
              <a:buNone/>
            </a:pP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በርካታ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ኢአማንያን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የሆኑ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ምሁራን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ክርስትና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ሁሉንም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ትምህርቱን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የወሰደው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ከአረማውያን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አቋም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አላቸው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የኦንሊ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ጂሰስ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እና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የመጠበቂያ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ግንብ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ተከታዮች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ከዚህ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ሁሉ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ውስጥ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ቈንጥሮ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በማውጣት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ከአረማዊ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ሃይማኖት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የተቀዳ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ይሉናል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ዛሬ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ከእነዚህ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ሰዎች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በቀጥታ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ቀድተው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አረማዊ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ተጽእኖ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ያሉ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ሰዎች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ነገ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ሌላው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ከእነዚህ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መጻሕፍት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በቀጥታ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በመጥቀስ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ክርስትና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በውሃ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ጥምቀት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በድነት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አስተምህሮ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በትንሣኤ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ሙታን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በክርስቶስ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ቤዞታዊ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ሥራ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በነፍስና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በሥጋ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ተፈጥሮ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ወዘተ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የሚያስተምረው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ሁሉ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ከአረማዊ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ቢል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መልሳቸው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ይሆን</a:t>
            </a:r>
            <a:r>
              <a:rPr lang="en-US" sz="24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እኛ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የማንፈልገውን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እስከ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ተቸልን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ድረስ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የምንጭ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መረጣ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ማድረግ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የለብንም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ለማለት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ከሆነ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ነገ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የሚያስከትለው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መዘዝ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ትልቅ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93999" y="87847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0" dirty="0">
                <a:effectLst/>
                <a:latin typeface="Ethiopic Sadiss Light" pitchFamily="2" charset="0"/>
                <a:ea typeface="Times New Roman" panose="02020603050405020304" pitchFamily="18" charset="0"/>
              </a:rPr>
              <a:t>“</a:t>
            </a:r>
            <a:r>
              <a:rPr lang="en-US" sz="4000" kern="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በሬ</a:t>
            </a:r>
            <a:r>
              <a:rPr lang="en-US" sz="4000" kern="0" dirty="0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kern="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ሆይ</a:t>
            </a:r>
            <a:r>
              <a:rPr lang="en-US" sz="4000" kern="0" dirty="0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kern="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ሣሩን</a:t>
            </a:r>
            <a:r>
              <a:rPr lang="en-US" sz="4000" kern="0" dirty="0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kern="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እንጂ</a:t>
            </a:r>
            <a:r>
              <a:rPr lang="en-US" sz="4000" kern="0" dirty="0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kern="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ገደሉን</a:t>
            </a:r>
            <a:r>
              <a:rPr lang="en-US" sz="4000" kern="0" dirty="0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kern="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ሳታይ</a:t>
            </a:r>
            <a:r>
              <a:rPr lang="en-US" sz="4400" kern="0" dirty="0">
                <a:effectLst/>
                <a:latin typeface="Ethiopic Sadiss Light" pitchFamily="2" charset="0"/>
                <a:ea typeface="Times New Roman" panose="02020603050405020304" pitchFamily="18" charset="0"/>
              </a:rPr>
              <a:t>”</a:t>
            </a:r>
            <a:endParaRPr lang="en-US" sz="4000" dirty="0">
              <a:latin typeface="Ethiopic Sadiss Light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7999" y="276639"/>
            <a:ext cx="6096000" cy="98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54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፭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333" y="1007895"/>
            <a:ext cx="10583333" cy="130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buNone/>
            </a:pPr>
            <a:r>
              <a:rPr lang="en-US" sz="28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መመሳሰል</a:t>
            </a:r>
            <a:r>
              <a:rPr lang="en-US" sz="28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መቀዳዳትን</a:t>
            </a:r>
            <a:r>
              <a:rPr lang="en-US" sz="28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የግድ</a:t>
            </a:r>
            <a:r>
              <a:rPr lang="en-US" sz="28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የሚያሳይ</a:t>
            </a:r>
            <a:r>
              <a:rPr lang="en-US" sz="28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ከሆነ</a:t>
            </a:r>
            <a:r>
              <a:rPr lang="en-US" sz="28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ብዙ</a:t>
            </a:r>
            <a:r>
              <a:rPr lang="en-US" sz="28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የክርስትና</a:t>
            </a:r>
            <a:r>
              <a:rPr lang="en-US" sz="28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ትምህርቶች</a:t>
            </a:r>
            <a:r>
              <a:rPr lang="en-US" sz="28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ከአረማያኑ</a:t>
            </a:r>
            <a:r>
              <a:rPr lang="en-US" sz="28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ጋር</a:t>
            </a:r>
            <a:r>
              <a:rPr lang="en-US" sz="28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ይመሳሰላሉ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!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5468" y="2268676"/>
            <a:ext cx="8382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ብዙ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የክርስትና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ተቺዎች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ክርስትና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ከአረማውያን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አስተምህሮ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ቀድቶአል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ተውሷል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የሚሉት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ትምህርተ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ሥላሴን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ብቻ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አይደለም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፤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ሁሉንም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የክርስትና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መሠረታውያን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ትምህርቶች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እንጂ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ስመ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ጥሩ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የፍልስፍናና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የሃይማኖት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መምህር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ሮናልድ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ናሽ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ወንጌልና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ግሪካውያን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በተሰኘው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ዕውቅ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መጽሐፋቸው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ለዘብተኛ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አቋም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ያላቸው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የነገረ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መለኮት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ምሁራን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ክርስትና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ከአረማውያን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ምስጢራዊ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ሃይማኖቶች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በርካታ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አስተምህሮ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ቀድቶአል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የሚል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ክስ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እንዳላቸው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ይገልጻሉ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Picture 8" descr="A book cover with a black and white background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413" y="1896467"/>
            <a:ext cx="3003595" cy="4792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2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784102"/>
            <a:ext cx="8619066" cy="3609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በአረማውያኑ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መድብለ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ሃይማኖት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ውስጥ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ኦሲሪስ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ታሙዝ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አዶኒስ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አቲስና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ማርዱክ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ሞተው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ተነሡ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ይታመናል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እንግዲያው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መመሳሳል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መቀዳዳትን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አመልካች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ከሆነ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ክርስቶስ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ከሙታን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ተነሥቶአል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የሚለው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ትምህርት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ከአረማውያን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መድብለ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አማልክት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የተቀዳ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ነውን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?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መጽሐፍ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ቅዱሳዊ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ትምህርት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አይደለም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ማለት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?</a:t>
            </a:r>
            <a:r>
              <a:rPr lang="en-GB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ts val="1400"/>
              </a:lnSpc>
              <a:buNone/>
            </a:pPr>
            <a:r>
              <a:rPr lang="en-US" sz="1800" kern="100" dirty="0">
                <a:effectLst/>
                <a:latin typeface="VG2 Main" panose="020B7200000000000000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green book with a picture of a person on it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50" y="1452568"/>
            <a:ext cx="2774912" cy="3952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539" y="1029235"/>
            <a:ext cx="8482527" cy="1653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መመሳሰል</a:t>
            </a:r>
            <a:r>
              <a:rPr lang="en-US" sz="3600" b="1" dirty="0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መቀዳዳትን</a:t>
            </a:r>
            <a:r>
              <a:rPr lang="en-US" sz="3600" b="1" dirty="0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አመልካች</a:t>
            </a:r>
            <a:r>
              <a:rPr lang="en-US" sz="3600" b="1" dirty="0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3600" b="1" dirty="0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3600" b="1" dirty="0" err="1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ከብክለት</a:t>
            </a:r>
            <a:r>
              <a:rPr lang="en-US" sz="3600" b="1" dirty="0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የሚነጻ</a:t>
            </a:r>
            <a:r>
              <a:rPr lang="en-US" sz="3600" b="1" dirty="0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አንዳችም</a:t>
            </a:r>
            <a:r>
              <a:rPr lang="en-US" sz="3600" b="1" dirty="0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ክርስቲያናዊ</a:t>
            </a:r>
            <a:r>
              <a:rPr lang="en-US" sz="3600" b="1" dirty="0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3600" b="1" dirty="0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የለም</a:t>
            </a:r>
            <a:r>
              <a:rPr lang="en-US" sz="3600" b="1" dirty="0">
                <a:effectLst/>
                <a:latin typeface="Ethiopic Dire Dawa" panose="02000500030000020004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latin typeface="Ethiopic Dire Dawa" panose="0200050003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7067" y="1772472"/>
            <a:ext cx="6705600" cy="4205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buNone/>
            </a:pP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እንደ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ለዘብተኞቹ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ምሁራን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ሐዋርያው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ጳውሎስና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ሌሎች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የዐዲስ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ኪዳን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ጸሓፍያን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ስለ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ዳግም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ልደት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ስለ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ዐዲስ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ልደት</a:t>
            </a:r>
            <a:r>
              <a:rPr lang="en-US" sz="1800" dirty="0"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የውሃ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ጥምቀት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የጌታ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ራት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ትምህርተ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ሥላሴ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ትንሣኤ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ሙታን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ዘላለማዊ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ኲነኔ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ነፍስና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ሥጋ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ልዩነትና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አንድነት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ስለ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ዳግም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ምጽአት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ወዘተረፈ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ከአረማውያን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አስተምህሮ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የተቀዳ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አርዮሳውያኑ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ኦንሊ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ጂሰሶቹ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ከእነዚህ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ሰዎች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መጻሕፍት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አንድ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ምዕራፍ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ጠቅሰው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ትምህርተ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ሥላሴ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አረማዊ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ያሉት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ትውልድ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ነገ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ሁለተኛውንና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ሦስተኛውን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ምዕራፍ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ጠቅሶ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የክርስትና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መሠረተ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እምነቶች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ሁሉ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ከአረማውያኑ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በውርስ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የመጡ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ናቸው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ቢል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መልሳቸው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ምን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ይሆን</a:t>
            </a: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?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 descr="A person with his hands out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667" y="2282508"/>
            <a:ext cx="5045362" cy="28348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9333" y="1502591"/>
            <a:ext cx="9533467" cy="504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buNone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ለምሳሌ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መጠበቂያ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ግንብ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ድርጅት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ኢ.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ደብሊው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ሆፕኪንስን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ጠቅሶ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እንዲህ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ብሏል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:— 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buSzPts val="1200"/>
              <a:buFont typeface="Courier New" panose="02070309020205020404" pitchFamily="49" charset="0"/>
              <a:buChar char="□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ኢ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ደብልዩ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ሆፕኪንስ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ኦሪጅን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ኤድ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ኤቮሉሽን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ኦቭ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ሪሊጅን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የሃይማኖት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ምንጭና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ዕድገት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በተባለው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እንዲህ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በማለት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መልስ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ይሰጣሉ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በመጨረሻ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የሥላሴ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ትርጒም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ሰፊ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ተቀባይነት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ያገኘው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በአብዛኛው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የቤተ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ክርስቲያን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ፖለቲካ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ውጤት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buNone/>
            </a:pP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ይኸው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ግለሰብ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በዚህ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መጽሐፉ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ላይ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እንዲህ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ይላል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:—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buSzPts val="1200"/>
              <a:buFont typeface="Courier New" panose="02070309020205020404" pitchFamily="49" charset="0"/>
              <a:buChar char="□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በመጨረሻ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ዘላለማዊ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ሕይወት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የኀጢአት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ፈተና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ተኣምራት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ምሳሌአዊ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ንግግሮች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ዐሳብ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የኢየሱስ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ደቀ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መዛሙርት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ከቡድሃ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ሃይማኖት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የወሰዱት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0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   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marR="0" indent="-182880">
              <a:lnSpc>
                <a:spcPct val="150000"/>
              </a:lnSpc>
              <a:buNone/>
            </a:pPr>
            <a:r>
              <a:rPr lang="en-US" sz="14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           </a:t>
            </a:r>
            <a:r>
              <a:rPr lang="en-US" sz="1400" i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በሥላሴ</a:t>
            </a:r>
            <a:r>
              <a:rPr lang="en-US" sz="14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ማመን</a:t>
            </a:r>
            <a:r>
              <a:rPr lang="en-US" sz="14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ይገባሃልን</a:t>
            </a:r>
            <a:r>
              <a:rPr lang="en-US" sz="1400" i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ገጽ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9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በቅንፍ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ያለውን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ይጨምራል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82880" marR="0" indent="-182880">
              <a:lnSpc>
                <a:spcPct val="150000"/>
              </a:lnSpc>
              <a:buNone/>
            </a:pP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                                     E. Washburn Hopkins, </a:t>
            </a:r>
            <a:r>
              <a:rPr lang="en-US" sz="1400" i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Origin and Evolution of Religion 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(Kessinger Publishing, 2010), 336.   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red book cover with white text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667" y="2389022"/>
            <a:ext cx="2282000" cy="3537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3959" y="1954397"/>
            <a:ext cx="8331200" cy="2949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buNone/>
            </a:pP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ደብልዩ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ሆፕኪንስን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ጨምሮ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ከአረማውያን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ተውሷል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ተቺዎች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የትችታቸው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ትኲረት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ራሱ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የአስተምህሮ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ዘረፋ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አካሂደዋል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የተባሉት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የመጽሐፍ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ጸሓፍያን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የመጠበቂያ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የኦንሊ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ጂሰስ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ሰዎች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ብሉያትና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ዐዲሳት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ተጽፈው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ከተጠናቀቁ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በኋላ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በክርስትና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የገባ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አረማዊ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ቢሉም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እንኳ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ለዚህ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ንግግር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ያደረጓቸው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ለዘብተኛ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ምሁራን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የትኛውንም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ጠቅሰው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እንዲያስተምሩ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አይፈቅዱላቸውም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erson in a suit and tie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7815" y="1481411"/>
            <a:ext cx="3070226" cy="4115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00041" y="58785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Edward Washburn Hopkins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8936" y="398425"/>
            <a:ext cx="10414861" cy="2902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7200" kern="100" dirty="0">
                <a:latin typeface="Ethiopic Sadiss Light" pitchFamily="2" charset="0"/>
                <a:cs typeface="Times New Roman" panose="02020603050405020304" pitchFamily="18" charset="0"/>
              </a:rPr>
              <a:t>፮</a:t>
            </a:r>
            <a:endParaRPr lang="en-US" sz="7200" kern="100" dirty="0">
              <a:latin typeface="Ethiopic Sadiss Light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US" sz="3600" dirty="0" err="1">
                <a:latin typeface="Ethiopic Yebse" panose="02000500000000000000" pitchFamily="2" charset="0"/>
              </a:rPr>
              <a:t>ኀያሲያኑ</a:t>
            </a:r>
            <a:r>
              <a:rPr lang="en-US" sz="3600" dirty="0">
                <a:latin typeface="Ethiopic Yebse" panose="02000500000000000000" pitchFamily="2" charset="0"/>
              </a:rPr>
              <a:t> </a:t>
            </a:r>
            <a:r>
              <a:rPr lang="en-US" sz="3600" dirty="0" err="1">
                <a:latin typeface="Ethiopic Yebse" panose="02000500000000000000" pitchFamily="2" charset="0"/>
              </a:rPr>
              <a:t>የተቹት</a:t>
            </a:r>
            <a:r>
              <a:rPr lang="en-US" sz="3600" dirty="0">
                <a:latin typeface="Ethiopic Yebse" panose="02000500000000000000" pitchFamily="2" charset="0"/>
              </a:rPr>
              <a:t> </a:t>
            </a:r>
            <a:r>
              <a:rPr lang="en-US" sz="3600" dirty="0" err="1">
                <a:latin typeface="Ethiopic Yebse" panose="02000500000000000000" pitchFamily="2" charset="0"/>
              </a:rPr>
              <a:t>ትምህርተ</a:t>
            </a:r>
            <a:r>
              <a:rPr lang="en-US" sz="3600" dirty="0">
                <a:latin typeface="Ethiopic Yebse" panose="02000500000000000000" pitchFamily="2" charset="0"/>
              </a:rPr>
              <a:t> </a:t>
            </a:r>
            <a:r>
              <a:rPr lang="en-US" sz="3600" dirty="0" err="1">
                <a:latin typeface="Ethiopic Yebse" panose="02000500000000000000" pitchFamily="2" charset="0"/>
              </a:rPr>
              <a:t>ሥላሴን</a:t>
            </a:r>
            <a:r>
              <a:rPr lang="en-US" sz="3600" dirty="0">
                <a:latin typeface="Ethiopic Yebse" panose="02000500000000000000" pitchFamily="2" charset="0"/>
              </a:rPr>
              <a:t> </a:t>
            </a:r>
            <a:r>
              <a:rPr lang="en-US" sz="3600" dirty="0" err="1">
                <a:latin typeface="Ethiopic Yebse" panose="02000500000000000000" pitchFamily="2" charset="0"/>
              </a:rPr>
              <a:t>ብቻ</a:t>
            </a:r>
            <a:r>
              <a:rPr lang="en-US" sz="3600" dirty="0">
                <a:latin typeface="Ethiopic Yebse" panose="02000500000000000000" pitchFamily="2" charset="0"/>
              </a:rPr>
              <a:t> </a:t>
            </a:r>
            <a:r>
              <a:rPr lang="en-US" sz="3600" dirty="0" err="1">
                <a:latin typeface="Ethiopic Yebse" panose="02000500000000000000" pitchFamily="2" charset="0"/>
              </a:rPr>
              <a:t>አይደለም</a:t>
            </a:r>
            <a:r>
              <a:rPr lang="en-US" sz="3600" dirty="0">
                <a:latin typeface="Ethiopic Yebse" panose="02000500000000000000" pitchFamily="2" charset="0"/>
              </a:rPr>
              <a:t>፣ </a:t>
            </a:r>
            <a:r>
              <a:rPr lang="en-US" sz="3600" dirty="0" err="1">
                <a:latin typeface="Ethiopic Yebse" panose="02000500000000000000" pitchFamily="2" charset="0"/>
              </a:rPr>
              <a:t>ሁሉንም</a:t>
            </a:r>
            <a:r>
              <a:rPr lang="en-US" sz="3600" dirty="0">
                <a:latin typeface="Ethiopic Yebse" panose="02000500000000000000" pitchFamily="2" charset="0"/>
              </a:rPr>
              <a:t> </a:t>
            </a:r>
            <a:r>
              <a:rPr lang="en-US" sz="3600" dirty="0" err="1">
                <a:latin typeface="Ethiopic Yebse" panose="02000500000000000000" pitchFamily="2" charset="0"/>
              </a:rPr>
              <a:t>ክርስቲያናዊ</a:t>
            </a:r>
            <a:r>
              <a:rPr lang="en-US" sz="3600" dirty="0">
                <a:latin typeface="Ethiopic Yebse" panose="02000500000000000000" pitchFamily="2" charset="0"/>
              </a:rPr>
              <a:t> </a:t>
            </a:r>
            <a:r>
              <a:rPr lang="en-US" sz="3600" dirty="0" err="1">
                <a:latin typeface="Ethiopic Yebse" panose="02000500000000000000" pitchFamily="2" charset="0"/>
              </a:rPr>
              <a:t>ትምህርቶች</a:t>
            </a:r>
            <a:r>
              <a:rPr lang="en-US" sz="3600" dirty="0">
                <a:latin typeface="Ethiopic Yebse" panose="02000500000000000000" pitchFamily="2" charset="0"/>
              </a:rPr>
              <a:t> </a:t>
            </a:r>
            <a:r>
              <a:rPr lang="en-US" sz="3600" dirty="0" err="1">
                <a:latin typeface="Ethiopic Yebse" panose="02000500000000000000" pitchFamily="2" charset="0"/>
              </a:rPr>
              <a:t>እንጂ</a:t>
            </a:r>
            <a:r>
              <a:rPr lang="en-US" sz="3600" dirty="0">
                <a:latin typeface="Ethiopic Yebse" panose="02000500000000000000" pitchFamily="2" charset="0"/>
              </a:rPr>
              <a:t>!</a:t>
            </a:r>
            <a:endParaRPr lang="en-US" sz="3600" dirty="0">
              <a:latin typeface="Ethiopic Yebse" panose="02000500000000000000" pitchFamily="2" charset="0"/>
            </a:endParaRP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199" y="4350663"/>
            <a:ext cx="112606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እንዲያውም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ከአረማውያኑ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አስተምህሮ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ጋር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በጭራሽ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የማይመሳሰለው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ትምህርተ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ሌሎች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ክርስቲያናዊ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ትምህርቶች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በጥሩ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መንገድ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ይመሳሰላሉ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666" y="1302203"/>
            <a:ext cx="12022667" cy="5394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የእነዚህ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አረማውያን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አምልኮ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ከሥላሴ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ትምህርት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ጋር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ይመሳሰላል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ቢባል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እንኳ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መመሳሰል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መዋዋስን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መቀዳዳትን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መኰራረጅን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የግድ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ያሳያል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ማለት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እንዳልሆነ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መታወቅ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አለበት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ቢያንስ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በፅንሰ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ዐሳብ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ደረጃ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ይህ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ዐስተሳሰብ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ሥነ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አመክንዮአዊ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አይደለም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“correlation does not imply causation” 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የሥነ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አመክንዮ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ሊቃውንት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ዐይነት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አዝማሚያ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ያላቸውን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ሙግቶች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በተለያየ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ይጠሯቸዋል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ለምሳሌ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:—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20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“Guilt by Association” or “Genetic Fallacy”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or “Post Hoc Ergo Propter Hoc” (“After this therefore because of this”).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እነዚህን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የሥነ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አመክንዮ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ሙያዊ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ቃላት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በመከተል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ዐስተሳሰብ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ኢምክንዮአዊ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ጥናት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ያድርጉ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Power Geez Unicode1" panose="00000400000000000000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የፓስተር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ኤልያስ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ሽባባው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ሙሉ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ለሙሉ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በሚባል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ደረጃ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ትኲረት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የሚያደርገው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ተመሳስሏል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ከሌላው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ወስዷል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ስሑት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ሙግት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መመሳሰል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መቀዳዳትን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የግድ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አመልካች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ካልሆነ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የግለሰቡ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ዜሮ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ከዐሥር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አገኘ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ተመሳስሏል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ቢባል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እንኳ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በሌላው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አድርጓል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ወስዷል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79893"/>
            <a:ext cx="12192000" cy="2750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66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፯</a:t>
            </a:r>
            <a:endParaRPr lang="en-US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buNone/>
            </a:pP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መመሳሰል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መቀዳዳትን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የግድ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አመልካች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ከሆነ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ለአረማውያኑ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ትምህርት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የሚቀርበው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አስተምህሮተ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ሥላሴ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ሳይሆን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ሰባልዮሳዊና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አርዮሳዊ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ዐስተሳሰብ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ነው</a:t>
            </a:r>
            <a:r>
              <a:rPr lang="en-US" sz="320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</a:rPr>
              <a:t>!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3935" y="3429000"/>
            <a:ext cx="11446933" cy="1702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መመሳሰል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መቀዳዳትን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አመልካች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የአረማውያኑ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በብዙ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የሚቀርበው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ለትምህርተ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ሳይሆን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ለመጠበቂያ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ግንብና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ኦንሊ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ጂሰስ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ኑፋቄ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እኛ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መመሳሰል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መቀዳዳትን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ያሳያል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ስለማንል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ዐይነቱን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በእነዚህ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መናፍቃን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አላቀረብንም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መመሳሰል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መቀዳዳትን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የግድ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ያሳያል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ከተባለ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ከእነሱ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ይልቅ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ጒዳይ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ማቅረብ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ያለብን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እኛ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እነርሱ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አይደሉም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3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867" y="1348772"/>
            <a:ext cx="10176933" cy="2462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እንዲያውም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ከሥላሴ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አስተምህሮ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ይልቅ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አረማዊ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ሃይማኖቶችና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ፍልስፍናዎች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ጋር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የሚመሳሰለው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የኦንሊ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ጂሰስ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አስተምህሮ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ለምሳሌ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:—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የሂንዱ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(Hinduism)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ፍጹምና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የማይከፋፈለው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አምላክ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ብርሃማን</a:t>
            </a:r>
            <a:r>
              <a:rPr lang="en-US" sz="1800" b="1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ራሱን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በሦስት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መንገዶች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ገልጾአል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1800" b="1" i="1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ብርሃማ</a:t>
            </a:r>
            <a:r>
              <a:rPr lang="en-US" sz="1800" b="1" i="1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(Brahma)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እንደ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ፈጣሪ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b="1" i="1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ቪሽኑ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(Vishnu)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እንደ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ጠባቂ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እንዲሁም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ሺቫ</a:t>
            </a:r>
            <a:r>
              <a:rPr lang="en-US" sz="1800" b="1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(Shiva)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እንደ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አጥፊ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አንዱ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አምላክ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ራሱን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በሦስት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መንገዶች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ገልጿል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ባይ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ስለዚህ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ቪሽኑና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ሺቫ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የብርሃማ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የተለያዩ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መገለጦች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ናቸው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የሚል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አቋም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አለው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Alexander Hislop, </a:t>
            </a:r>
            <a:r>
              <a:rPr lang="en-US" sz="1400" i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Two </a:t>
            </a:r>
            <a:r>
              <a:rPr lang="en-US" sz="1400" i="1" kern="100" dirty="0" err="1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Babylons</a:t>
            </a:r>
            <a:r>
              <a:rPr lang="en-US" sz="1400" i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Or, the Papal Worship Proved to Be the Worship of Nimrod, 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(Cedar Lake Classics, 2023), 51.  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red and white book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917" y="1020416"/>
            <a:ext cx="1638300" cy="2790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1" y="4049195"/>
            <a:ext cx="10176933" cy="2044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የሂንዱ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እምነት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ሐዋርያት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ቤተ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ክርስቲያን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ከሚሰጠው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ግላጼ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ለምሳሌ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:—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ቢሾፕ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ተክሌ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ይላሉ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በሦስት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መንገድ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የተገለጸበትም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ምስጢር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በአብነት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ዐይን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ሳይታይ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በወልድነት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እየታየ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በመንፈስ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እስትንፋሱን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በሕዝቡ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በማሳደር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ተገልጦአል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ተክለ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ማርያም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ገዛኸኝ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400" i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ኢየሱስን</a:t>
            </a:r>
            <a:r>
              <a:rPr lang="en-US" sz="14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ማን</a:t>
            </a:r>
            <a:r>
              <a:rPr lang="en-US" sz="14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ይሉታል</a:t>
            </a:r>
            <a:r>
              <a:rPr lang="en-US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?</a:t>
            </a:r>
            <a:r>
              <a:rPr lang="en-US" sz="14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ገጽ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Palatino Linotype" panose="0204050205050503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8)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918" y="4216461"/>
            <a:ext cx="1638299" cy="21858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4133" y="6331619"/>
            <a:ext cx="10837333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ታዲያ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የተክሌ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ዘጮማ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እምኒ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ከሂንዱ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አይመሳሰልምን</a:t>
            </a:r>
            <a:r>
              <a:rPr lang="en-US" sz="18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098800" y="609600"/>
            <a:ext cx="5113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kern="0" dirty="0" err="1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የምዬን</a:t>
            </a:r>
            <a:r>
              <a:rPr lang="en-GB" sz="3600" b="1" kern="0" dirty="0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b="1" kern="0" dirty="0" err="1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ወደ</a:t>
            </a:r>
            <a:r>
              <a:rPr lang="en-GB" sz="3600" b="1" kern="0" dirty="0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b="1" kern="0" dirty="0" err="1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አብዬ</a:t>
            </a:r>
            <a:r>
              <a:rPr lang="en-GB" sz="3600" b="1" kern="0" dirty="0">
                <a:effectLst/>
                <a:latin typeface="Kiros" panose="02000000070000080003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endParaRPr lang="en-US" sz="3600" b="1" dirty="0">
              <a:latin typeface="Kiros" panose="02000000070000080003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387" y="491876"/>
            <a:ext cx="9431866" cy="2462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ኒምሮድ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(Nimrod)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የተባለው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ተባዕት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አምላክ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ሴሚራሚስ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(Semiramis)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የተባለች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እንስት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አምላክ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አግብቶ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ይኖር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እንደ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ነበር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ኒምሮድ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ከሞተ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በኋላ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ግን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ሚስቱ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ሴሚራሚስ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ተኣምራዊ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በሆነ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መንገድ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ከእርሱ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ልጅ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ትወልዳለች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በዚህ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አግባብ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ኒምሮድ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ባልም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ልጅም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ሆነ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ማለት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በዚህ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ታሪክ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ውስጥ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የምናገኘው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ባልና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ሚስት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እንዲሁም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ልጅ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ሆነው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የቀረቡ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ሁለት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አማልክትን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እንጂ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ባሕርያዊ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አንድነት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ያላቸው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በአኃዛዊ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አንድነት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የተለያዩ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አካላትን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አይደለም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Jean </a:t>
            </a:r>
            <a:r>
              <a:rPr lang="en-US" sz="1400" kern="100" dirty="0" err="1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Bottero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400" i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Everyday Life in Ancient Mesopotamia, 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(Edinburgh University Press, 2001), 44.  </a:t>
            </a:r>
            <a:r>
              <a:rPr lang="en-US" sz="1400" i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ook cover with a red and white cov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173" y="775408"/>
            <a:ext cx="2109121" cy="31694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87" y="3181380"/>
            <a:ext cx="7419146" cy="294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ከሥላሴ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ይልቅ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ለኦንሊ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ጂሰስ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ኑፋቄ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በብዙ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ይቀርባል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ምክንያቱም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አባትም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ልጅም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አንድ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አካል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የኦንሊ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ጂሰሶቹ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ኑፋቄ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የክርስትና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እውነት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ቄስ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ኤልያስ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በምን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አግባብ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ሥላሴአውያንን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ለመክሰስ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የሂንዱን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በእማኝነት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ሊጠቅሱ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ቻሉ</a:t>
            </a:r>
            <a:r>
              <a:rPr lang="en-US" sz="18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በመሠረቱ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የሂንዱ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የተጀመረው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በሰባተኛው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መቶ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ክፍለ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ዘመን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ሆነ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ይሏል</a:t>
            </a:r>
            <a:r>
              <a:rPr lang="en-US" dirty="0">
                <a:effectLst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ፓስተር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ኤልያስ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ሽባባው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400" i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የሥላሴ</a:t>
            </a:r>
            <a:r>
              <a:rPr lang="en-US" sz="14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አጠያያቂ</a:t>
            </a:r>
            <a:r>
              <a:rPr lang="en-US" sz="14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ምስጢር</a:t>
            </a:r>
            <a:r>
              <a:rPr lang="en-US" sz="14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400" i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ገጽ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91-94</a:t>
            </a:r>
            <a:r>
              <a:rPr lang="en-US" sz="14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23200" y="3903655"/>
            <a:ext cx="4252613" cy="295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ሥላሴአዊ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እምነት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ቢያንስ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ከሰባተኛው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መቶ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ክፍለ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ዘመን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በፊት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ነበረ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ቄስ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ኤልያስን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በእማኝነት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መጥቀስ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ይቻላል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በመጽሐፋቸው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በብዙ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ቦታ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ትምህርተ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በኒቂያ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ጉባኤ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ማለትም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በአራተኛው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መቶ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ክፍለ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ዘመን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ተጀምሯል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ብለዋልና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91892" y="1262127"/>
            <a:ext cx="8406108" cy="1631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የይሖዋ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ምስክር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የሚለው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ሮበርት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ኪንግ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ትምህርተ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ሥላሴ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ከባቢሎናውያን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እምነት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የተቀዳ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ይላል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ነገር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ግን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ይህ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እንዴት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እንደ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ሆነ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ሙግት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አላቀረበም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፤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ወይም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ተቀድቶአል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የሚሉ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ምንጮችን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አንድም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ጊዜ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አልጠቀሰም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</a:rPr>
              <a:t>፡፡</a:t>
            </a:r>
            <a:r>
              <a:rPr lang="en-US" dirty="0">
                <a:latin typeface="Power Geez Unicode1" panose="000004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Robert King, </a:t>
            </a:r>
            <a:r>
              <a:rPr lang="en-US" sz="1400" i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Jehovah Himself Has Become King 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400" kern="100" dirty="0" err="1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Authorhouse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May 28, 2010).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ook cover with a purple background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062" y="3429000"/>
            <a:ext cx="2133938" cy="31993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09334" y="0"/>
            <a:ext cx="6096000" cy="98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54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፰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338666" y="769305"/>
            <a:ext cx="12192000" cy="1493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ቅዱስን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እናምናለን</a:t>
            </a:r>
            <a:r>
              <a:rPr lang="en-US" sz="3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የሚሉት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ሥላሴአውያን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አይደሉም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አርዮሳውያኑና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ሰባልዮሳውያኑ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ጭምር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!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6933" y="2482924"/>
            <a:ext cx="12192000" cy="211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እዚህ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ልናደርገው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የሚገባ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አንድ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ቊልፍ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ጒዳይ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የሥላሴ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አማንያን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እንደምንለው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ሁሉ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የይሖዋ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ምስክሮችም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ሆኑ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የሐዋርያት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ቤተ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ክርስቲያን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ምዕመናንና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ቀሳውስት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ይላሉ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ምክንያቱም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ከላይ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ለማየት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ሞከርነው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እጅግ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በርካታ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የዐዲስ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ኪዳን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ምንባባት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በአንድ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ዐውድ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ውስጥ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የሚሉትን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ቃላት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ተጠቅመዋል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ውስጥ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ጒዳይ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ማጥፋት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እስካልተቻለ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ድረስ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ማጥፋት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በጭራሽ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አይቻልም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-135468" y="4600940"/>
            <a:ext cx="12175067" cy="871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በርግጥ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የአረማውያን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ተጽእኖ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ከሆነ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ተጽእኖው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በመጽሐፍ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እንጂ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ወልድና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በተነተኑ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አባቶች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ሊሆን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በጭራሽ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አይችልም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-16933" y="5757333"/>
            <a:ext cx="12056531" cy="336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ts val="19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ስለዚህ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በትንታኔ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ተለያየን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እንጂ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ሁሉም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ቅዱስን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“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አምናለሁ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ባይ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" y="1893248"/>
            <a:ext cx="8679051" cy="365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የኦንሊ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ጂሰስ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መምህራን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አሶራውያን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ባቢሎናውያን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ግብፃውያን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ወዘተ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ሥላሴያዊ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ዐስተሳሰብ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አላቸው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ይበሉ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እንጂ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እነዚህ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አረማዊ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ሃይማኖቶችና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ፍልስፍናዎች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የሦስት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አማልክትነት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ዐስተሳሰብ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ያለው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የመድብለ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አማልክት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አቋም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እንጂ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ሥላሴያዊ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አስተምህሮ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አይደለም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</a:t>
            </a:r>
            <a:r>
              <a:rPr lang="en-US" dirty="0">
                <a:effectLst/>
              </a:rPr>
              <a:t> </a:t>
            </a:r>
            <a:r>
              <a:rPr lang="en-US" sz="18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Benjamin B. Warfield, “Trinity,” in </a:t>
            </a:r>
            <a:r>
              <a:rPr lang="en-US" sz="1800" i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International Standard Bible Encyclopedia,</a:t>
            </a:r>
            <a:r>
              <a:rPr lang="en-US" sz="18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ed. James Orr et al., 5 vols. (1956, reprint; Peabody, Mass.: Hendrickson, 1994), 3012.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4634" y="172677"/>
            <a:ext cx="6138332" cy="98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54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፱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903810"/>
            <a:ext cx="12192000" cy="920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40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ትምህርተ</a:t>
            </a:r>
            <a:r>
              <a:rPr lang="en-GB" sz="40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</a:t>
            </a:r>
            <a:r>
              <a:rPr lang="en-GB" sz="40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የሦስት</a:t>
            </a:r>
            <a:r>
              <a:rPr lang="en-GB" sz="40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አማልክት</a:t>
            </a:r>
            <a:r>
              <a:rPr lang="en-GB" sz="40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ጥምረት</a:t>
            </a:r>
            <a:r>
              <a:rPr lang="en-GB" sz="40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አይደለም</a:t>
            </a:r>
            <a:r>
              <a:rPr lang="en-GB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row of blue books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715" y="2180861"/>
            <a:ext cx="3054076" cy="32074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" y="5903933"/>
            <a:ext cx="119637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ክርስትና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ሦስት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አማልክት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አሉ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ብሎ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አያምንምና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እግዚአብሔር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አንድና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አንድ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29466" y="-79914"/>
            <a:ext cx="6096000" cy="98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54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፲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44599" y="503213"/>
            <a:ext cx="9465733" cy="754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32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ጥሬ</a:t>
            </a:r>
            <a:r>
              <a:rPr lang="en-GB" sz="32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መረጃዎች</a:t>
            </a:r>
            <a:r>
              <a:rPr lang="en-GB" sz="32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ከዐውዳቸው</a:t>
            </a:r>
            <a:r>
              <a:rPr lang="en-GB" sz="32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እየተገነጠሉ</a:t>
            </a:r>
            <a:r>
              <a:rPr lang="en-GB" sz="32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ተተርጒመዋል</a:t>
            </a:r>
            <a:r>
              <a:rPr lang="en-GB" sz="32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01600" y="1197652"/>
            <a:ext cx="12192000" cy="1287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መናፍቃን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ቅዱሳት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መጻሕፍትን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ከዐውዳቸው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ገንጥለው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አላቀው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የመተርጐም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ነባር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አካሄድ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አላቸው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በመጽሐፍ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የተወሰነ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አይደለም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የታሪክ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መዛግብትንም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ሆነ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የነገረ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መለኮት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መጻሕፍትን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የሚጠቅሱት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የጸሓፊውን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ዐሳብ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በተከተለ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መንገድ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አይደለም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2303948"/>
            <a:ext cx="12090400" cy="2250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ቄስ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ኤልያስ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ሽባባው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አንድን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ክፍል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ከዐውዱ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ገንጥለው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እንዴት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እንደሚተረጒሙት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እንመልከት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:—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800"/>
              </a:spcAft>
              <a:buSzPts val="1200"/>
              <a:buFont typeface="Courier New" panose="02070309020205020404" pitchFamily="49" charset="0"/>
              <a:buChar char="□"/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ቄስ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ኮሊን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ማንስል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ምስክርነታቸውን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ሲሰጡ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ይህን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‘ (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ትምህርት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ሥላሴን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ለማስተዋል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የተደረጉ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በርካታ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ጥረቶች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ቅዱስን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በማጥናት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የተመሠረቱ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ሳይሆን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በፍልስፍና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ዘዴዎች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የሚያተኲሩ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ነበሩ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በመጨረሻ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የእነዚህ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ጥረቶች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ውጤት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ወደ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ልዩ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ልዩ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ስሕተት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አመራ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በማለት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ምስክርነታቸውን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ሰጥተዋል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marR="0" indent="-228600" algn="just">
              <a:lnSpc>
                <a:spcPct val="150000"/>
              </a:lnSpc>
              <a:buNone/>
            </a:pP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ፖስተር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ኤልያስ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ሽባባው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400" i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የሥላሴ</a:t>
            </a:r>
            <a:r>
              <a:rPr lang="en-US" sz="14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አጠያያቂ</a:t>
            </a:r>
            <a:r>
              <a:rPr lang="en-US" sz="14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i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ምስጢር</a:t>
            </a:r>
            <a:r>
              <a:rPr lang="en-US" sz="14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ገጽ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69</a:t>
            </a:r>
            <a:r>
              <a:rPr lang="en-US" sz="1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4549305"/>
            <a:ext cx="12073467" cy="2222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ኮሊን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ማንስልን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በቀጥታ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እንመልከት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:—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ከሥላሴ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አሠራሮች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በአካላት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መካከል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ካሉት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ግንኙነቶች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የተወሰኑ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ነጥቦች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ስለተገለጡ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እነርሱን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በመጠኑ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ልናስተውላቸው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እንችላለን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መሠረታዊ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ህላዌያቸውን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ግን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ልናስተውለው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አንችልም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ይህን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ለማስተዋል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የተደረጉ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በርካታ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ጥናቶች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ቅዱስን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በማጥናት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የተመሠረቱ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ሳይሆን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በፍልስፍና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ዘዴዎች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የሚያተኲሩ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ነበሩ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በመጨረሻ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የእነዚህ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ጥረቶች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ውጤት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ወደ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ልዩ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ልዩ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ስሕተት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አመራ</a:t>
            </a:r>
            <a:r>
              <a:rPr lang="en-US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3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109790"/>
            <a:ext cx="8890000" cy="5451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ኮሊን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ማንስል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አሉ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የተባልነው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ለመረዳት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የተደረጉ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ጥረቶች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በማጥናት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የተገኙ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አይደሉም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እንዲያውም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ሥላሴአውያንን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ወደ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ስሕተት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እንዲሄዱ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አድርጓል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ቄስ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ኤልያስ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ሽባባው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የኮሊን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ማንስልን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የጠቀሱት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የአረማዊነት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ተጽእኖ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በክርስትና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እምነት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ክፍሎች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በሚለው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ርእስ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ኮሊን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ማንስል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ያሉት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ትምህርተ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በገለጠልን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በተወሰነ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መጠን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ልንረዳው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እንችላለን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የአምላክን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መሠረታዊ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ህላዌ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GB" sz="18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(basic ontology)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ልናስተውል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አንችልም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የአምላክን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መሠረታዊ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ህላዌ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ለማብራራት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ፍልስፍናዊ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ምርመራ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ተካሂዷል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ጥረት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ወደ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ተሳሳተ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መንገድ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ሰዎችን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ወስዷል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ያሉት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እንዲያውም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ኮሊን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ማንስል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ከምዕራፍ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እስከ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ምዕራፍ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ከገጽ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209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እስከ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ገጽ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258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የሚተነትኑት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የትምህርተ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ቅዱሳዊ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መሠረት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እውን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በሆነበት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ዐውድ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ኮሊን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ማንስል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ትምህርተ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ቅዱሳዊ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መሠረት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የለውም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አሉ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ማለት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ቅጥፈት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አይደለምን</a:t>
            </a:r>
            <a:r>
              <a:rPr lang="en-GB" sz="18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ቃል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አባይነት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አይደለምን</a:t>
            </a:r>
            <a:r>
              <a:rPr lang="en-GB" sz="18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ከአንድ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የሃይማኖት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መምህር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የሥነ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ምግባር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አስተማሪ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የሚጠበቅ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ነውን</a:t>
            </a:r>
            <a:r>
              <a:rPr lang="en-GB" sz="18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yellow and white book cov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682" y="1645820"/>
            <a:ext cx="2809641" cy="38711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0" y="202239"/>
            <a:ext cx="6096000" cy="98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54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፲፩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988477"/>
            <a:ext cx="12191999" cy="13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ትምህርተ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አረማዊ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ዐስተሳሰብ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ከሆነ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ተጽእኖው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በመጽሐፍ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እንጂ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በቀደምት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የነገረ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መለኮት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ሊቃውንት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ላይ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አይደለም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99" y="3093025"/>
            <a:ext cx="12039600" cy="2119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በርካታ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ኢአማንያንና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የሙስሊም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ተሟጋቾች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ሙግት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የሚጠቀሙት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ዐሳብ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የቀዳው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ከአረማውያን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መድበለ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አማልክት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ትችታቸውን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ለማጽደቅ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መናገሩ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እሙን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በአረማውያኑ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የወደቀው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የክርስትና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ሳይሆን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ራሱ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ለዘብተኛ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ምሁራንና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ሙስሊም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ተሟጋቾች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ሙግት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የሚጠቀሙት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ዐሳብ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ለማጣጣልና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ለመንቀፍ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27866" y="110067"/>
            <a:ext cx="6096000" cy="98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54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፲፪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782816"/>
            <a:ext cx="12192000" cy="13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ትምህርተ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ሥላሴ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መጽሐፍ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ቅዱሳዊ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ባይሆን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እንዲሁም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አረማዊ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ዐስተሳሰብ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ቢሆን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እንኳ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የኦንሊ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ጂሰስ</a:t>
            </a:r>
            <a:r>
              <a:rPr lang="en-GB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ኑፋቄ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ትክክል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ማለት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አይደለም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101126"/>
            <a:ext cx="12192000" cy="378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ገበያው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ብዙ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አስተምህሮዎች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ካልሆነ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የማይቀበሉ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ሃይማኖቶች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ትክክለኛ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የመሆን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ዕድል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ይኖራቸዋል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ትክክል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አለመሆኑ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በቀጥታ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ኦንሊ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ጂሰስ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ትክክል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ይሆናል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የይሖዋ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ምስክሮች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ኑፋቄ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ትክክል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ይሆናል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ከኦንሊ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ጂሰስ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ከይሖዋ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ምስክሮች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ውጪ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የማይቀበሉ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እጅግ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በርካታ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ክፍሎች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ለምሳሌ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:—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ዩኒቴሪያን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ክርስቲያን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ሳይንስ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ክርስቶዳልፊያንስ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እስልምና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የይሁዲ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ሂንዱ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የቡዲሂዝም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የሲክ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የባሃይ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የዞራስተር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የራስ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ተፈሪ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ተከታዮች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የእነዚህ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ስሕተት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የሚሉ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የዓለማችን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ሃይማኖቶች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በርግጥ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ትምህርተ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ቅዱሳዊ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ካልሆነ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እንዲሁም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አረማዊ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እውነት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መሆኑ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የኦንሊ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ጂሰስ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ሃይማኖትን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የይሖዋ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ምስክሮች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ኑፋቄን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ትክክል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አያደርገውም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3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89200" y="54735"/>
            <a:ext cx="6096000" cy="98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54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፲፫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" y="787953"/>
            <a:ext cx="12192000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የመረጃ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ምንጫቸውን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በውል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መለየት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kern="0" dirty="0" err="1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አልተቻለም</a:t>
            </a:r>
            <a:r>
              <a:rPr lang="en-GB" sz="2800" kern="0" dirty="0">
                <a:effectLst/>
                <a:latin typeface="Ethiopic Yebse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01" y="1459932"/>
            <a:ext cx="12141199" cy="1287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የቄስ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ኤልያስ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ሽባባው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ችግር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መረጃዎችን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ከዐውዳቸው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እያፈናቀሉ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መተርጐም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አይደለም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ክርስትናን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ከአረማዊ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ሃይማኖት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አስተምህሮ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ዘርፏል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ትልቅ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ወቀሳ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ውንጀላ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ይዘው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የቀረቡ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ቢሆንም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ዐዋጃቸውን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እንድናመሳክር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አልፈቀዱልንም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0801" y="2695854"/>
            <a:ext cx="12141198" cy="457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በዚህ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ረገድ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የተወሰኑ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እማኞችን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እነሆ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:—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kern="0" dirty="0">
              <a:effectLst/>
              <a:latin typeface="Power Geez Unicode1" panose="000004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4466" y="3077991"/>
            <a:ext cx="9066509" cy="456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86100" lvl="6" indent="-342900" algn="just">
              <a:lnSpc>
                <a:spcPct val="150000"/>
              </a:lnSpc>
              <a:buAutoNum type="arabicParenBoth"/>
            </a:pP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አንዳችም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ምንጭ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አለመጥቀስ</a:t>
            </a:r>
            <a:r>
              <a:rPr lang="en-GB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 </a:t>
            </a:r>
            <a:endParaRPr lang="en-GB" kern="0" dirty="0">
              <a:effectLst/>
              <a:latin typeface="Power Geez Unicode1" panose="000004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4466" y="3646819"/>
            <a:ext cx="9779432" cy="33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6" algn="just">
              <a:lnSpc>
                <a:spcPts val="1900"/>
              </a:lnSpc>
              <a:spcAft>
                <a:spcPts val="800"/>
              </a:spcAft>
              <a:tabLst>
                <a:tab pos="3200400" algn="l"/>
              </a:tabLst>
            </a:pP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(2)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ተኣማኒ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ምንጮችን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አለመጥቀስ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4466" y="4095486"/>
            <a:ext cx="6571280" cy="33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6" algn="just">
              <a:lnSpc>
                <a:spcPts val="1900"/>
              </a:lnSpc>
              <a:spcAft>
                <a:spcPts val="800"/>
              </a:spcAft>
              <a:tabLst>
                <a:tab pos="3200400" algn="l"/>
              </a:tabLst>
            </a:pP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(3)</a:t>
            </a:r>
            <a:r>
              <a:rPr lang="en-GB" kern="100" dirty="0"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ነጻ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ምንጮችን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አለመጠቀም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4466" y="4544153"/>
            <a:ext cx="6571280" cy="33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6" algn="just">
              <a:lnSpc>
                <a:spcPts val="1900"/>
              </a:lnSpc>
              <a:spcAft>
                <a:spcPts val="800"/>
              </a:spcAft>
              <a:tabLst>
                <a:tab pos="3200400" algn="l"/>
              </a:tabLst>
            </a:pP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(4)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ምንጮችን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ማምታታት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06671" y="4880207"/>
            <a:ext cx="6571280" cy="33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900"/>
              </a:lnSpc>
              <a:spcAft>
                <a:spcPts val="800"/>
              </a:spcAft>
              <a:tabLst>
                <a:tab pos="3200400" algn="l"/>
              </a:tabLst>
            </a:pPr>
            <a:r>
              <a:rPr lang="en-GB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(5) </a:t>
            </a:r>
            <a:r>
              <a:rPr lang="en-GB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መረጃዎችን</a:t>
            </a:r>
            <a:r>
              <a:rPr lang="en-GB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አሟልቶ</a:t>
            </a:r>
            <a:r>
              <a:rPr lang="en-GB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አለመጻፍ</a:t>
            </a:r>
            <a:r>
              <a:rPr lang="en-GB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0482" y="5328874"/>
            <a:ext cx="6571280" cy="33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6" algn="just">
              <a:lnSpc>
                <a:spcPts val="1900"/>
              </a:lnSpc>
              <a:spcAft>
                <a:spcPts val="800"/>
              </a:spcAft>
              <a:tabLst>
                <a:tab pos="3200400" algn="l"/>
              </a:tabLst>
            </a:pP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(6)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መረጃዎችን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አሟልቶ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አለመጻፍ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4466" y="5733993"/>
            <a:ext cx="8431078" cy="336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6" algn="just">
              <a:lnSpc>
                <a:spcPts val="1900"/>
              </a:lnSpc>
              <a:spcAft>
                <a:spcPts val="800"/>
              </a:spcAft>
              <a:tabLst>
                <a:tab pos="3200400" algn="l"/>
              </a:tabLst>
            </a:pP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(7)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መረጃው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የት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ጀምሮ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የት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እንደሚጨርስ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አለማወቅ</a:t>
            </a:r>
            <a:r>
              <a:rPr lang="en-GB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5" grpId="0"/>
      <p:bldP spid="17" grpId="0"/>
      <p:bldP spid="19" grpId="0"/>
      <p:bldP spid="21" grpId="0"/>
      <p:bldP spid="23" grpId="0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01319" y="123521"/>
            <a:ext cx="6098582" cy="1047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4800" b="1" kern="0" dirty="0" err="1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ማጠቃለያ</a:t>
            </a:r>
            <a:r>
              <a:rPr lang="en-GB" sz="1400" b="1" kern="0" dirty="0">
                <a:effectLst/>
                <a:latin typeface="Ethiopic Sadiss Light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b="1" kern="100" dirty="0">
              <a:effectLst/>
              <a:latin typeface="Ethiopic Sadiss Light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281021"/>
            <a:ext cx="12192000" cy="1712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የዚህ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ምዕራፍ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ርእስ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ሁለት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ምክንዮአዊ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ባሕርያትን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በጥምረት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የያዘ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የሙግት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አካሄድ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አንደኛው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የምስስል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ሙግት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(analogical argument)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ሲሆን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ሁለተኛው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ደግሞ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የመንሥኤ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ሥነ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አመክንዮ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(Causal reasoning)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የምስስል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ሙግት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ሁለት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ነገሮች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ለምን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ተመሳሰሉ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ጒዳይ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የሚመለከት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ሲሆን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የመንሥኤ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ሥነ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አመክንዮ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ደግሞ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የሁለት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ነገሮች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የመንሥኤና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የተገብሮት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(cause and effect)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ግንኙነታቸው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ምንድን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ጒዳይ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ይመረምራል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" y="2995653"/>
            <a:ext cx="7997125" cy="457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እስካሁን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ያየነው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የኀያሲያኑ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ሙግት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የሚከተለው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ውቅር</a:t>
            </a:r>
            <a:r>
              <a:rPr lang="en-GB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አለው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:—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kern="0" dirty="0">
              <a:effectLst/>
              <a:latin typeface="Power Geez Unicode1" panose="000004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7827" y="3453342"/>
            <a:ext cx="6145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(1)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ባሕርዮቱ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ዐይነት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80448" y="3864588"/>
            <a:ext cx="6362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(2)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እና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አንድ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ዐይነት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37827" y="4233920"/>
            <a:ext cx="6362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(3)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ባሕርዮት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አለው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687519" y="3125924"/>
            <a:ext cx="4936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(False Analogy) </a:t>
            </a:r>
            <a:r>
              <a:rPr lang="en-US" dirty="0" err="1">
                <a:latin typeface="Power Geez Unicode1" panose="00000400000000000000" pitchFamily="2" charset="0"/>
              </a:rPr>
              <a:t>የሚከተለውን</a:t>
            </a:r>
            <a:r>
              <a:rPr lang="en-US" dirty="0">
                <a:latin typeface="Power Geez Unicode1" panose="00000400000000000000" pitchFamily="2" charset="0"/>
              </a:rPr>
              <a:t> </a:t>
            </a:r>
            <a:r>
              <a:rPr lang="en-US" dirty="0" err="1">
                <a:latin typeface="Power Geez Unicode1" panose="00000400000000000000" pitchFamily="2" charset="0"/>
              </a:rPr>
              <a:t>የሙግት</a:t>
            </a:r>
            <a:r>
              <a:rPr lang="en-US" dirty="0">
                <a:latin typeface="Power Geez Unicode1" panose="00000400000000000000" pitchFamily="2" charset="0"/>
              </a:rPr>
              <a:t> </a:t>
            </a:r>
            <a:r>
              <a:rPr lang="en-US" dirty="0" err="1">
                <a:latin typeface="Power Geez Unicode1" panose="00000400000000000000" pitchFamily="2" charset="0"/>
              </a:rPr>
              <a:t>አወቃቀር</a:t>
            </a:r>
            <a:r>
              <a:rPr lang="en-US" dirty="0">
                <a:latin typeface="Power Geez Unicode1" panose="00000400000000000000" pitchFamily="2" charset="0"/>
              </a:rPr>
              <a:t> </a:t>
            </a:r>
            <a:r>
              <a:rPr lang="en-US" dirty="0" err="1">
                <a:latin typeface="Power Geez Unicode1" panose="00000400000000000000" pitchFamily="2" charset="0"/>
              </a:rPr>
              <a:t>የተከተለ</a:t>
            </a:r>
            <a:r>
              <a:rPr lang="en-US" dirty="0">
                <a:latin typeface="Power Geez Unicode1" panose="00000400000000000000" pitchFamily="2" charset="0"/>
              </a:rPr>
              <a:t> </a:t>
            </a:r>
            <a:r>
              <a:rPr lang="en-US" dirty="0" err="1">
                <a:latin typeface="Power Geez Unicode1" panose="00000400000000000000" pitchFamily="2" charset="0"/>
              </a:rPr>
              <a:t>ነው</a:t>
            </a:r>
            <a:r>
              <a:rPr lang="en-US" dirty="0"/>
              <a:t>:—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8442702" y="3798518"/>
            <a:ext cx="6362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(1) x has property A 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593811" y="4194113"/>
            <a:ext cx="7640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(2) x and Y are similar 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593811" y="4603623"/>
            <a:ext cx="8361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(3) Therefore, Y has Property A 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" y="5353545"/>
            <a:ext cx="12191999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ሙግት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እና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መመሳሰላቸው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አንድ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ባሕርይ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መጋራታቸውን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ያመለክታል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የሚል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ታሳቢ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የተዋቀረ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ስሑት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ሙግት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79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5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1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13" tmFilter="0, 0; 0.125,0.2665; 0.25,0.4; 0.375,0.465; 0.5,0.5;  0.625,0.535; 0.75,0.6; 0.875,0.7335; 1,1">
                                          <p:stCondLst>
                                            <p:cond delay="91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6" tmFilter="0, 0; 0.125,0.2665; 0.25,0.4; 0.375,0.465; 0.5,0.5;  0.625,0.535; 0.75,0.6; 0.875,0.7335; 1,1">
                                          <p:stCondLst>
                                            <p:cond delay="1821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26" tmFilter="0, 0; 0.125,0.2665; 0.25,0.4; 0.375,0.465; 0.5,0.5;  0.625,0.535; 0.75,0.6; 0.875,0.7335; 1,1">
                                          <p:stCondLst>
                                            <p:cond delay="227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36">
                                          <p:stCondLst>
                                            <p:cond delay="89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228" decel="50000">
                                          <p:stCondLst>
                                            <p:cond delay="93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36">
                                          <p:stCondLst>
                                            <p:cond delay="180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228" decel="50000">
                                          <p:stCondLst>
                                            <p:cond delay="18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36">
                                          <p:stCondLst>
                                            <p:cond delay="225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228" decel="50000">
                                          <p:stCondLst>
                                            <p:cond delay="2293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36">
                                          <p:stCondLst>
                                            <p:cond delay="248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228" decel="50000">
                                          <p:stCondLst>
                                            <p:cond delay="252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1" grpId="0"/>
      <p:bldP spid="13" grpId="0"/>
      <p:bldP spid="15" grpId="0"/>
      <p:bldP spid="17" grpId="0"/>
      <p:bldP spid="19" grpId="0"/>
      <p:bldP spid="21" grpId="0"/>
      <p:bldP spid="23" grpId="0"/>
      <p:bldP spid="2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626633"/>
            <a:ext cx="12192000" cy="2435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SzPts val="1200"/>
              <a:buFont typeface="Garamond" panose="02020404030301010803" pitchFamily="18" charset="0"/>
              <a:buAutoNum type="arabicParenBoth"/>
            </a:pP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ትምህርተ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አረማዊ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SzPts val="1200"/>
              <a:buFont typeface="Garamond" panose="02020404030301010803" pitchFamily="18" charset="0"/>
              <a:buAutoNum type="arabicParenBoth"/>
            </a:pP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ትምህርተ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ከአረማውያኑ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አንድ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ዐይነት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SzPts val="1200"/>
              <a:buFont typeface="Garamond" panose="02020404030301010803" pitchFamily="18" charset="0"/>
              <a:buAutoNum type="arabicParenBoth"/>
            </a:pP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ትምህርተ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ከአረማውያኑ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መድብለ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አማልክት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የተገኘ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endParaRPr lang="en-US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marR="0" indent="-228600" algn="just">
              <a:lnSpc>
                <a:spcPct val="150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4061723"/>
            <a:ext cx="12192000" cy="2609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ኀያስያኑ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አረማውያኑና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ትምህርተ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ሥላሴ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ሦስት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በሚለው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ጒዳይ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መመሳሰላቸው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የአረማውያኑ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ዐስተሳሰብ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በሥላሴ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እንዳደረገ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ያሳያል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እያሉ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መመሳሰል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መቀዳዳትን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አያሳይም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ሁለት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ነገሮች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መመሳሰላቸው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አንዱ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ሌላው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መንሥአዊ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ተጽእኖ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ማድረጉን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አመልካች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marR="0" indent="-228600" algn="just">
              <a:lnSpc>
                <a:spcPts val="14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50533" y="1279453"/>
            <a:ext cx="7433734" cy="755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ስለተከታተላችሁኝ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ከልብ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አመሰግናለሁ</a:t>
            </a:r>
            <a:r>
              <a:rPr lang="en-US" sz="3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!</a:t>
            </a:r>
            <a:r>
              <a:rPr lang="en-US" sz="32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19400" y="2885998"/>
            <a:ext cx="6096000" cy="1086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4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ጌታ</a:t>
            </a:r>
            <a:r>
              <a:rPr lang="en-US" sz="4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ይባርካችሁ</a:t>
            </a:r>
            <a:endParaRPr lang="en-US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822635"/>
            <a:ext cx="12192000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ጥቂት</a:t>
            </a:r>
            <a:r>
              <a:rPr lang="en-US" sz="2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የዕረፍት</a:t>
            </a:r>
            <a:r>
              <a:rPr lang="en-US" sz="2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ጊዜ</a:t>
            </a:r>
            <a:r>
              <a:rPr lang="en-US" sz="2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አድርገን</a:t>
            </a:r>
            <a:r>
              <a:rPr lang="en-US" sz="2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የጥያቄና</a:t>
            </a:r>
            <a:r>
              <a:rPr lang="en-US" sz="2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የመልስ</a:t>
            </a:r>
            <a:r>
              <a:rPr lang="en-US" sz="2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ጊዜ</a:t>
            </a:r>
            <a:r>
              <a:rPr lang="en-US" sz="2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ይኖረናል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500" autoRev="1" fill="remov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1500" autoRev="1" fill="remov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1500" autoRev="1" fill="remov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1500" autoRev="1" fill="remov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4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0</TotalTime>
  <Words>15072</Words>
  <Application>WPS Presentation</Application>
  <PresentationFormat>Widescreen</PresentationFormat>
  <Paragraphs>249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65" baseType="lpstr">
      <vt:lpstr>Arial</vt:lpstr>
      <vt:lpstr>SimSun</vt:lpstr>
      <vt:lpstr>Wingdings</vt:lpstr>
      <vt:lpstr>Ethiopic Addis</vt:lpstr>
      <vt:lpstr>Sans Serif Collection</vt:lpstr>
      <vt:lpstr>Kiros</vt:lpstr>
      <vt:lpstr>Ethiopic Sadiss Light</vt:lpstr>
      <vt:lpstr>Segoe Print</vt:lpstr>
      <vt:lpstr>Power Geez Unicode1</vt:lpstr>
      <vt:lpstr>Aptos</vt:lpstr>
      <vt:lpstr>Segoe UI</vt:lpstr>
      <vt:lpstr>Times New Roman</vt:lpstr>
      <vt:lpstr>Garamond</vt:lpstr>
      <vt:lpstr>Courier New</vt:lpstr>
      <vt:lpstr>Ethiopic Yebse</vt:lpstr>
      <vt:lpstr>Segoe UI Symbol</vt:lpstr>
      <vt:lpstr>Microsoft YaHei</vt:lpstr>
      <vt:lpstr>Arial Unicode MS</vt:lpstr>
      <vt:lpstr>Century Gothic</vt:lpstr>
      <vt:lpstr>Calibri</vt:lpstr>
      <vt:lpstr>VG2 Main</vt:lpstr>
      <vt:lpstr>Ethiopic Dire Dawa</vt:lpstr>
      <vt:lpstr>Georgia</vt:lpstr>
      <vt:lpstr>Palatino Linotype</vt:lpstr>
      <vt:lpstr>Maiandra GD</vt:lpstr>
      <vt:lpstr>Vapor Trail</vt:lpstr>
      <vt:lpstr>ትምህርተ ሥላሴና                      የአረማውያኑ    መድብለ አማልክት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Tesfaye Tesfaye</dc:creator>
  <cp:lastModifiedBy>Biniyam Girma</cp:lastModifiedBy>
  <cp:revision>47</cp:revision>
  <dcterms:created xsi:type="dcterms:W3CDTF">2025-06-29T22:44:00Z</dcterms:created>
  <dcterms:modified xsi:type="dcterms:W3CDTF">2025-12-23T06:11:38Z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239D0D1E622040C28C19F0E0A574E829_12</vt:lpwstr>
  </property>
  <property fmtid="{D5CDD505-2E9C-101B-9397-08002B2CF9AE}" pid="3" name="KSOProductBuildVer">
    <vt:lpwstr>2057-12.2.0.23158</vt:lpwstr>
  </property>
</Properties>
</file>