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57" d="100"/>
          <a:sy n="57" d="100"/>
        </p:scale>
        <p:origin x="1260" y="282"/>
      </p:cViewPr>
      <p:guideLst/>
    </p:cSldViewPr>
  </p:slideViewPr>
  <p:notesTextViewPr>
    <p:cViewPr>
      <p:scale>
        <a:sx n="1" d="1"/>
        <a:sy n="1" d="1"/>
      </p:scale>
      <p:origin x="0" y="0"/>
    </p:cViewPr>
  </p:notesTextViewPr>
  <p:sorterViewPr>
    <p:cViewPr>
      <p:scale>
        <a:sx n="100" d="100"/>
        <a:sy n="100" d="100"/>
      </p:scale>
      <p:origin x="0" y="-118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71C60BB5-7975-4307-9443-348E8579031D}" type="datetimeFigureOut">
              <a:rPr lang="en-US" smtClean="0"/>
              <a:t>7/3/2025</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01D2EF93-C835-4147-A311-D748B71BD7B4}"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66738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C60BB5-7975-4307-9443-348E8579031D}" type="datetimeFigureOut">
              <a:rPr lang="en-US" smtClean="0"/>
              <a:t>7/3/2025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D2EF93-C835-4147-A311-D748B71BD7B4}" type="slidenum">
              <a:rPr lang="en-US" smtClean="0"/>
              <a:t>‹#›</a:t>
            </a:fld>
            <a:endParaRPr lang="en-US"/>
          </a:p>
        </p:txBody>
      </p:sp>
    </p:spTree>
    <p:extLst>
      <p:ext uri="{BB962C8B-B14F-4D97-AF65-F5344CB8AC3E}">
        <p14:creationId xmlns:p14="http://schemas.microsoft.com/office/powerpoint/2010/main" val="268605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C60BB5-7975-4307-9443-348E8579031D}" type="datetimeFigureOut">
              <a:rPr lang="en-US" smtClean="0"/>
              <a:t>7/3/2025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D2EF93-C835-4147-A311-D748B71BD7B4}"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186765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1C60BB5-7975-4307-9443-348E8579031D}" type="datetimeFigureOut">
              <a:rPr lang="en-US" smtClean="0"/>
              <a:t>7/3/2025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D2EF93-C835-4147-A311-D748B71BD7B4}" type="slidenum">
              <a:rPr lang="en-US" smtClean="0"/>
              <a:t>‹#›</a:t>
            </a:fld>
            <a:endParaRPr lang="en-US"/>
          </a:p>
        </p:txBody>
      </p:sp>
    </p:spTree>
    <p:extLst>
      <p:ext uri="{BB962C8B-B14F-4D97-AF65-F5344CB8AC3E}">
        <p14:creationId xmlns:p14="http://schemas.microsoft.com/office/powerpoint/2010/main" val="2434918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1C60BB5-7975-4307-9443-348E8579031D}" type="datetimeFigureOut">
              <a:rPr lang="en-US" smtClean="0"/>
              <a:t>7/3/2025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1D2EF93-C835-4147-A311-D748B71BD7B4}"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15671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1C60BB5-7975-4307-9443-348E8579031D}" type="datetimeFigureOut">
              <a:rPr lang="en-US" smtClean="0"/>
              <a:t>7/3/2025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1D2EF93-C835-4147-A311-D748B71BD7B4}"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59890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C60BB5-7975-4307-9443-348E8579031D}" type="datetimeFigureOut">
              <a:rPr lang="en-US" smtClean="0"/>
              <a:t>7/3/2025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1D2EF93-C835-4147-A311-D748B71BD7B4}" type="slidenum">
              <a:rPr lang="en-US" smtClean="0"/>
              <a:t>‹#›</a:t>
            </a:fld>
            <a:endParaRPr lang="en-US"/>
          </a:p>
        </p:txBody>
      </p:sp>
    </p:spTree>
    <p:extLst>
      <p:ext uri="{BB962C8B-B14F-4D97-AF65-F5344CB8AC3E}">
        <p14:creationId xmlns:p14="http://schemas.microsoft.com/office/powerpoint/2010/main" val="26401027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1C60BB5-7975-4307-9443-348E8579031D}" type="datetimeFigureOut">
              <a:rPr lang="en-US" smtClean="0"/>
              <a:t>7/3/2025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D2EF93-C835-4147-A311-D748B71BD7B4}"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586713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1C60BB5-7975-4307-9443-348E8579031D}" type="datetimeFigureOut">
              <a:rPr lang="en-US" smtClean="0"/>
              <a:t>7/3/2025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D2EF93-C835-4147-A311-D748B71BD7B4}" type="slidenum">
              <a:rPr lang="en-US" smtClean="0"/>
              <a:t>‹#›</a:t>
            </a:fld>
            <a:endParaRPr lang="en-US"/>
          </a:p>
        </p:txBody>
      </p:sp>
    </p:spTree>
    <p:extLst>
      <p:ext uri="{BB962C8B-B14F-4D97-AF65-F5344CB8AC3E}">
        <p14:creationId xmlns:p14="http://schemas.microsoft.com/office/powerpoint/2010/main" val="2336393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1C60BB5-7975-4307-9443-348E8579031D}" type="datetimeFigureOut">
              <a:rPr lang="en-US" smtClean="0"/>
              <a:t>7/3/2025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D2EF93-C835-4147-A311-D748B71BD7B4}" type="slidenum">
              <a:rPr lang="en-US" smtClean="0"/>
              <a:t>‹#›</a:t>
            </a:fld>
            <a:endParaRPr lang="en-US"/>
          </a:p>
        </p:txBody>
      </p:sp>
    </p:spTree>
    <p:extLst>
      <p:ext uri="{BB962C8B-B14F-4D97-AF65-F5344CB8AC3E}">
        <p14:creationId xmlns:p14="http://schemas.microsoft.com/office/powerpoint/2010/main" val="3359489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C60BB5-7975-4307-9443-348E8579031D}" type="datetimeFigureOut">
              <a:rPr lang="en-US" smtClean="0"/>
              <a:t>7/3/2025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D2EF93-C835-4147-A311-D748B71BD7B4}"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233931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C60BB5-7975-4307-9443-348E8579031D}" type="datetimeFigureOut">
              <a:rPr lang="en-US" smtClean="0"/>
              <a:t>7/3/2025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D2EF93-C835-4147-A311-D748B71BD7B4}"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06063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C60BB5-7975-4307-9443-348E8579031D}" type="datetimeFigureOut">
              <a:rPr lang="en-US" smtClean="0"/>
              <a:t>7/3/2025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D2EF93-C835-4147-A311-D748B71BD7B4}" type="slidenum">
              <a:rPr lang="en-US" smtClean="0"/>
              <a:t>‹#›</a:t>
            </a:fld>
            <a:endParaRPr lang="en-US"/>
          </a:p>
        </p:txBody>
      </p:sp>
    </p:spTree>
    <p:extLst>
      <p:ext uri="{BB962C8B-B14F-4D97-AF65-F5344CB8AC3E}">
        <p14:creationId xmlns:p14="http://schemas.microsoft.com/office/powerpoint/2010/main" val="9224777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C60BB5-7975-4307-9443-348E8579031D}" type="datetimeFigureOut">
              <a:rPr lang="en-US" smtClean="0"/>
              <a:t>7/3/2025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D2EF93-C835-4147-A311-D748B71BD7B4}"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043487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C60BB5-7975-4307-9443-348E8579031D}" type="datetimeFigureOut">
              <a:rPr lang="en-US" smtClean="0"/>
              <a:t>7/3/2025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D2EF93-C835-4147-A311-D748B71BD7B4}"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205070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C60BB5-7975-4307-9443-348E8579031D}" type="datetimeFigureOut">
              <a:rPr lang="en-US" smtClean="0"/>
              <a:t>7/3/2025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D2EF93-C835-4147-A311-D748B71BD7B4}"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922938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C60BB5-7975-4307-9443-348E8579031D}" type="datetimeFigureOut">
              <a:rPr lang="en-US" smtClean="0"/>
              <a:t>7/3/2025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D2EF93-C835-4147-A311-D748B71BD7B4}"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15137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1C60BB5-7975-4307-9443-348E8579031D}" type="datetimeFigureOut">
              <a:rPr lang="en-US" smtClean="0"/>
              <a:t>7/3/2025</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1D2EF93-C835-4147-A311-D748B71BD7B4}" type="slidenum">
              <a:rPr lang="en-US" smtClean="0"/>
              <a:t>‹#›</a:t>
            </a:fld>
            <a:endParaRPr lang="en-US"/>
          </a:p>
        </p:txBody>
      </p:sp>
    </p:spTree>
    <p:extLst>
      <p:ext uri="{BB962C8B-B14F-4D97-AF65-F5344CB8AC3E}">
        <p14:creationId xmlns:p14="http://schemas.microsoft.com/office/powerpoint/2010/main" val="42496330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F7503-85C7-7DB5-D610-74DDBFE609D2}"/>
              </a:ext>
            </a:extLst>
          </p:cNvPr>
          <p:cNvSpPr>
            <a:spLocks noGrp="1"/>
          </p:cNvSpPr>
          <p:nvPr>
            <p:ph type="ctrTitle"/>
          </p:nvPr>
        </p:nvSpPr>
        <p:spPr/>
        <p:txBody>
          <a:bodyPr>
            <a:normAutofit fontScale="90000"/>
          </a:bodyPr>
          <a:lstStyle/>
          <a:p>
            <a:br>
              <a:rPr lang="en-GB" b="1" dirty="0">
                <a:latin typeface="Ethiopic Sadiss Light" pitchFamily="2" charset="0"/>
              </a:rPr>
            </a:br>
            <a:br>
              <a:rPr lang="en-US" b="1" dirty="0">
                <a:latin typeface="Ethiopic Sadiss Light" pitchFamily="2" charset="0"/>
              </a:rPr>
            </a:br>
            <a:r>
              <a:rPr lang="en-GB" b="1" dirty="0" err="1">
                <a:latin typeface="Ethiopic Sadiss Light" pitchFamily="2" charset="0"/>
              </a:rPr>
              <a:t>አብ</a:t>
            </a:r>
            <a:r>
              <a:rPr lang="en-GB" b="1" dirty="0">
                <a:latin typeface="Ethiopic Sadiss Light" pitchFamily="2" charset="0"/>
              </a:rPr>
              <a:t>፣</a:t>
            </a:r>
            <a:r>
              <a:rPr lang="en-GB" b="1" dirty="0">
                <a:latin typeface="Ethiopic Lessan Light" pitchFamily="2" charset="0"/>
              </a:rPr>
              <a:t> </a:t>
            </a:r>
            <a:r>
              <a:rPr lang="en-GB" b="1" dirty="0" err="1">
                <a:latin typeface="Ethiopic Sadiss Light" pitchFamily="2" charset="0"/>
              </a:rPr>
              <a:t>ወልድና</a:t>
            </a:r>
            <a:r>
              <a:rPr lang="en-GB" b="1" dirty="0">
                <a:latin typeface="Ethiopic Sadiss Light" pitchFamily="2" charset="0"/>
              </a:rPr>
              <a:t> </a:t>
            </a:r>
            <a:r>
              <a:rPr lang="en-GB" b="1" dirty="0" err="1">
                <a:latin typeface="Ethiopic Sadiss Light" pitchFamily="2" charset="0"/>
              </a:rPr>
              <a:t>መንፈስ</a:t>
            </a:r>
            <a:r>
              <a:rPr lang="en-GB" b="1" dirty="0">
                <a:latin typeface="Ethiopic Sadiss Light" pitchFamily="2" charset="0"/>
              </a:rPr>
              <a:t> </a:t>
            </a:r>
            <a:r>
              <a:rPr lang="en-GB" b="1" dirty="0" err="1">
                <a:latin typeface="Ethiopic Sadiss Light" pitchFamily="2" charset="0"/>
              </a:rPr>
              <a:t>ቅዱስ</a:t>
            </a:r>
            <a:r>
              <a:rPr lang="en-GB" b="1" dirty="0">
                <a:latin typeface="Ethiopic Sadiss Light" pitchFamily="2" charset="0"/>
              </a:rPr>
              <a:t> </a:t>
            </a:r>
            <a:r>
              <a:rPr lang="en-GB" b="1" dirty="0" err="1">
                <a:latin typeface="Ethiopic Sadiss Light" pitchFamily="2" charset="0"/>
              </a:rPr>
              <a:t>የተለያዩ</a:t>
            </a:r>
            <a:r>
              <a:rPr lang="en-GB" b="1" dirty="0">
                <a:latin typeface="Ethiopic Sadiss Light" pitchFamily="2" charset="0"/>
              </a:rPr>
              <a:t> </a:t>
            </a:r>
            <a:r>
              <a:rPr lang="en-GB" b="1" dirty="0" err="1">
                <a:latin typeface="Ethiopic Sadiss Light" pitchFamily="2" charset="0"/>
              </a:rPr>
              <a:t>አካላት</a:t>
            </a:r>
            <a:r>
              <a:rPr lang="en-GB" b="1" dirty="0">
                <a:latin typeface="Ethiopic Sadiss Light" pitchFamily="2" charset="0"/>
              </a:rPr>
              <a:t> </a:t>
            </a:r>
            <a:r>
              <a:rPr lang="en-GB" b="1" dirty="0" err="1">
                <a:latin typeface="Ethiopic Sadiss Light" pitchFamily="2" charset="0"/>
              </a:rPr>
              <a:t>አይደሉምን</a:t>
            </a:r>
            <a:r>
              <a:rPr lang="en-GB" b="1" dirty="0">
                <a:latin typeface="Ethiopic Sadiss Light" pitchFamily="2" charset="0"/>
              </a:rPr>
              <a:t>? </a:t>
            </a:r>
            <a:endParaRPr lang="en-US" b="1" dirty="0">
              <a:latin typeface="Ethiopic Sadiss Light" pitchFamily="2" charset="0"/>
            </a:endParaRPr>
          </a:p>
        </p:txBody>
      </p:sp>
      <p:sp>
        <p:nvSpPr>
          <p:cNvPr id="3" name="Subtitle 2">
            <a:extLst>
              <a:ext uri="{FF2B5EF4-FFF2-40B4-BE49-F238E27FC236}">
                <a16:creationId xmlns:a16="http://schemas.microsoft.com/office/drawing/2014/main" id="{7B92381C-0BDE-1F3D-18E0-D90B74B9E11B}"/>
              </a:ext>
            </a:extLst>
          </p:cNvPr>
          <p:cNvSpPr>
            <a:spLocks noGrp="1"/>
          </p:cNvSpPr>
          <p:nvPr>
            <p:ph type="subTitle" idx="1"/>
          </p:nvPr>
        </p:nvSpPr>
        <p:spPr>
          <a:xfrm>
            <a:off x="1524000" y="3429000"/>
            <a:ext cx="9144000" cy="1083734"/>
          </a:xfrm>
        </p:spPr>
        <p:txBody>
          <a:bodyPr>
            <a:normAutofit/>
          </a:bodyPr>
          <a:lstStyle/>
          <a:p>
            <a:r>
              <a:rPr lang="en-GB" sz="4400" b="1" dirty="0" err="1">
                <a:latin typeface="Kiros" panose="02000000070000080003" pitchFamily="2" charset="0"/>
              </a:rPr>
              <a:t>ከትካች</a:t>
            </a:r>
            <a:r>
              <a:rPr lang="en-GB" sz="4400" b="1" dirty="0">
                <a:latin typeface="Kiros" panose="02000000070000080003" pitchFamily="2" charset="0"/>
              </a:rPr>
              <a:t> </a:t>
            </a:r>
            <a:r>
              <a:rPr lang="en-GB" sz="4400" b="1" dirty="0" err="1">
                <a:latin typeface="Kiros" panose="02000000070000080003" pitchFamily="2" charset="0"/>
              </a:rPr>
              <a:t>ዐጸፋ</a:t>
            </a:r>
            <a:endParaRPr lang="en-US" sz="4400" b="1" dirty="0">
              <a:latin typeface="Kiros" panose="02000000070000080003" pitchFamily="2" charset="0"/>
            </a:endParaRPr>
          </a:p>
        </p:txBody>
      </p:sp>
      <p:pic>
        <p:nvPicPr>
          <p:cNvPr id="5" name="Picture 4" descr="A person cutting a tree&#10;&#10;AI-generated content may be incorrect.">
            <a:extLst>
              <a:ext uri="{FF2B5EF4-FFF2-40B4-BE49-F238E27FC236}">
                <a16:creationId xmlns:a16="http://schemas.microsoft.com/office/drawing/2014/main" id="{5AB633DD-6D9B-92C9-30A2-35EE828088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53375" y="4512734"/>
            <a:ext cx="2714625" cy="1685925"/>
          </a:xfrm>
          <a:prstGeom prst="rect">
            <a:avLst/>
          </a:prstGeom>
        </p:spPr>
      </p:pic>
    </p:spTree>
    <p:extLst>
      <p:ext uri="{BB962C8B-B14F-4D97-AF65-F5344CB8AC3E}">
        <p14:creationId xmlns:p14="http://schemas.microsoft.com/office/powerpoint/2010/main" val="3104856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000"/>
                                        <p:tgtEl>
                                          <p:spTgt spid="2"/>
                                        </p:tgtEl>
                                      </p:cBhvr>
                                    </p:animEffect>
                                    <p:anim calcmode="lin" valueType="num">
                                      <p:cBhvr>
                                        <p:cTn id="8" dur="3000" fill="hold"/>
                                        <p:tgtEl>
                                          <p:spTgt spid="2"/>
                                        </p:tgtEl>
                                        <p:attrNameLst>
                                          <p:attrName>ppt_x</p:attrName>
                                        </p:attrNameLst>
                                      </p:cBhvr>
                                      <p:tavLst>
                                        <p:tav tm="0">
                                          <p:val>
                                            <p:strVal val="#ppt_x"/>
                                          </p:val>
                                        </p:tav>
                                        <p:tav tm="100000">
                                          <p:val>
                                            <p:strVal val="#ppt_x"/>
                                          </p:val>
                                        </p:tav>
                                      </p:tavLst>
                                    </p:anim>
                                    <p:anim calcmode="lin" valueType="num">
                                      <p:cBhvr>
                                        <p:cTn id="9" dur="3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down)">
                                      <p:cBhvr>
                                        <p:cTn id="14" dur="580">
                                          <p:stCondLst>
                                            <p:cond delay="0"/>
                                          </p:stCondLst>
                                        </p:cTn>
                                        <p:tgtEl>
                                          <p:spTgt spid="5"/>
                                        </p:tgtEl>
                                      </p:cBhvr>
                                    </p:animEffect>
                                    <p:anim calcmode="lin" valueType="num">
                                      <p:cBhvr>
                                        <p:cTn id="15"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20" dur="26">
                                          <p:stCondLst>
                                            <p:cond delay="650"/>
                                          </p:stCondLst>
                                        </p:cTn>
                                        <p:tgtEl>
                                          <p:spTgt spid="5"/>
                                        </p:tgtEl>
                                      </p:cBhvr>
                                      <p:to x="100000" y="60000"/>
                                    </p:animScale>
                                    <p:animScale>
                                      <p:cBhvr>
                                        <p:cTn id="21" dur="166" decel="50000">
                                          <p:stCondLst>
                                            <p:cond delay="676"/>
                                          </p:stCondLst>
                                        </p:cTn>
                                        <p:tgtEl>
                                          <p:spTgt spid="5"/>
                                        </p:tgtEl>
                                      </p:cBhvr>
                                      <p:to x="100000" y="100000"/>
                                    </p:animScale>
                                    <p:animScale>
                                      <p:cBhvr>
                                        <p:cTn id="22" dur="26">
                                          <p:stCondLst>
                                            <p:cond delay="1312"/>
                                          </p:stCondLst>
                                        </p:cTn>
                                        <p:tgtEl>
                                          <p:spTgt spid="5"/>
                                        </p:tgtEl>
                                      </p:cBhvr>
                                      <p:to x="100000" y="80000"/>
                                    </p:animScale>
                                    <p:animScale>
                                      <p:cBhvr>
                                        <p:cTn id="23" dur="166" decel="50000">
                                          <p:stCondLst>
                                            <p:cond delay="1338"/>
                                          </p:stCondLst>
                                        </p:cTn>
                                        <p:tgtEl>
                                          <p:spTgt spid="5"/>
                                        </p:tgtEl>
                                      </p:cBhvr>
                                      <p:to x="100000" y="100000"/>
                                    </p:animScale>
                                    <p:animScale>
                                      <p:cBhvr>
                                        <p:cTn id="24" dur="26">
                                          <p:stCondLst>
                                            <p:cond delay="1642"/>
                                          </p:stCondLst>
                                        </p:cTn>
                                        <p:tgtEl>
                                          <p:spTgt spid="5"/>
                                        </p:tgtEl>
                                      </p:cBhvr>
                                      <p:to x="100000" y="90000"/>
                                    </p:animScale>
                                    <p:animScale>
                                      <p:cBhvr>
                                        <p:cTn id="25" dur="166" decel="50000">
                                          <p:stCondLst>
                                            <p:cond delay="1668"/>
                                          </p:stCondLst>
                                        </p:cTn>
                                        <p:tgtEl>
                                          <p:spTgt spid="5"/>
                                        </p:tgtEl>
                                      </p:cBhvr>
                                      <p:to x="100000" y="100000"/>
                                    </p:animScale>
                                    <p:animScale>
                                      <p:cBhvr>
                                        <p:cTn id="26" dur="26">
                                          <p:stCondLst>
                                            <p:cond delay="1808"/>
                                          </p:stCondLst>
                                        </p:cTn>
                                        <p:tgtEl>
                                          <p:spTgt spid="5"/>
                                        </p:tgtEl>
                                      </p:cBhvr>
                                      <p:to x="100000" y="95000"/>
                                    </p:animScale>
                                    <p:animScale>
                                      <p:cBhvr>
                                        <p:cTn id="27" dur="166" decel="50000">
                                          <p:stCondLst>
                                            <p:cond delay="1834"/>
                                          </p:stCondLst>
                                        </p:cTn>
                                        <p:tgtEl>
                                          <p:spTgt spid="5"/>
                                        </p:tgtEl>
                                      </p:cBhvr>
                                      <p:to x="100000" y="100000"/>
                                    </p:animScale>
                                  </p:childTnLst>
                                </p:cTn>
                              </p:par>
                            </p:childTnLst>
                          </p:cTn>
                        </p:par>
                      </p:childTnLst>
                    </p:cTn>
                  </p:par>
                  <p:par>
                    <p:cTn id="28" fill="hold">
                      <p:stCondLst>
                        <p:cond delay="indefinite"/>
                      </p:stCondLst>
                      <p:childTnLst>
                        <p:par>
                          <p:cTn id="29" fill="hold">
                            <p:stCondLst>
                              <p:cond delay="0"/>
                            </p:stCondLst>
                            <p:childTnLst>
                              <p:par>
                                <p:cTn id="30" presetID="26" presetClass="entr" presetSubtype="0" fill="hold" nodeType="clickEffect">
                                  <p:stCondLst>
                                    <p:cond delay="0"/>
                                  </p:stCondLst>
                                  <p:childTnLst>
                                    <p:set>
                                      <p:cBhvr>
                                        <p:cTn id="31" dur="1" fill="hold">
                                          <p:stCondLst>
                                            <p:cond delay="0"/>
                                          </p:stCondLst>
                                        </p:cTn>
                                        <p:tgtEl>
                                          <p:spTgt spid="3">
                                            <p:txEl>
                                              <p:pRg st="0" end="0"/>
                                            </p:txEl>
                                          </p:spTgt>
                                        </p:tgtEl>
                                        <p:attrNameLst>
                                          <p:attrName>style.visibility</p:attrName>
                                        </p:attrNameLst>
                                      </p:cBhvr>
                                      <p:to>
                                        <p:strVal val="visible"/>
                                      </p:to>
                                    </p:set>
                                    <p:animEffect transition="in" filter="wipe(down)">
                                      <p:cBhvr>
                                        <p:cTn id="32" dur="580">
                                          <p:stCondLst>
                                            <p:cond delay="0"/>
                                          </p:stCondLst>
                                        </p:cTn>
                                        <p:tgtEl>
                                          <p:spTgt spid="3">
                                            <p:txEl>
                                              <p:pRg st="0" end="0"/>
                                            </p:txEl>
                                          </p:spTgt>
                                        </p:tgtEl>
                                      </p:cBhvr>
                                    </p:animEffect>
                                    <p:anim calcmode="lin" valueType="num">
                                      <p:cBhvr>
                                        <p:cTn id="33"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34"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35"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36"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37"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38" dur="26">
                                          <p:stCondLst>
                                            <p:cond delay="650"/>
                                          </p:stCondLst>
                                        </p:cTn>
                                        <p:tgtEl>
                                          <p:spTgt spid="3">
                                            <p:txEl>
                                              <p:pRg st="0" end="0"/>
                                            </p:txEl>
                                          </p:spTgt>
                                        </p:tgtEl>
                                      </p:cBhvr>
                                      <p:to x="100000" y="60000"/>
                                    </p:animScale>
                                    <p:animScale>
                                      <p:cBhvr>
                                        <p:cTn id="39" dur="166" decel="50000">
                                          <p:stCondLst>
                                            <p:cond delay="676"/>
                                          </p:stCondLst>
                                        </p:cTn>
                                        <p:tgtEl>
                                          <p:spTgt spid="3">
                                            <p:txEl>
                                              <p:pRg st="0" end="0"/>
                                            </p:txEl>
                                          </p:spTgt>
                                        </p:tgtEl>
                                      </p:cBhvr>
                                      <p:to x="100000" y="100000"/>
                                    </p:animScale>
                                    <p:animScale>
                                      <p:cBhvr>
                                        <p:cTn id="40" dur="26">
                                          <p:stCondLst>
                                            <p:cond delay="1312"/>
                                          </p:stCondLst>
                                        </p:cTn>
                                        <p:tgtEl>
                                          <p:spTgt spid="3">
                                            <p:txEl>
                                              <p:pRg st="0" end="0"/>
                                            </p:txEl>
                                          </p:spTgt>
                                        </p:tgtEl>
                                      </p:cBhvr>
                                      <p:to x="100000" y="80000"/>
                                    </p:animScale>
                                    <p:animScale>
                                      <p:cBhvr>
                                        <p:cTn id="41" dur="166" decel="50000">
                                          <p:stCondLst>
                                            <p:cond delay="1338"/>
                                          </p:stCondLst>
                                        </p:cTn>
                                        <p:tgtEl>
                                          <p:spTgt spid="3">
                                            <p:txEl>
                                              <p:pRg st="0" end="0"/>
                                            </p:txEl>
                                          </p:spTgt>
                                        </p:tgtEl>
                                      </p:cBhvr>
                                      <p:to x="100000" y="100000"/>
                                    </p:animScale>
                                    <p:animScale>
                                      <p:cBhvr>
                                        <p:cTn id="42" dur="26">
                                          <p:stCondLst>
                                            <p:cond delay="1642"/>
                                          </p:stCondLst>
                                        </p:cTn>
                                        <p:tgtEl>
                                          <p:spTgt spid="3">
                                            <p:txEl>
                                              <p:pRg st="0" end="0"/>
                                            </p:txEl>
                                          </p:spTgt>
                                        </p:tgtEl>
                                      </p:cBhvr>
                                      <p:to x="100000" y="90000"/>
                                    </p:animScale>
                                    <p:animScale>
                                      <p:cBhvr>
                                        <p:cTn id="43" dur="166" decel="50000">
                                          <p:stCondLst>
                                            <p:cond delay="1668"/>
                                          </p:stCondLst>
                                        </p:cTn>
                                        <p:tgtEl>
                                          <p:spTgt spid="3">
                                            <p:txEl>
                                              <p:pRg st="0" end="0"/>
                                            </p:txEl>
                                          </p:spTgt>
                                        </p:tgtEl>
                                      </p:cBhvr>
                                      <p:to x="100000" y="100000"/>
                                    </p:animScale>
                                    <p:animScale>
                                      <p:cBhvr>
                                        <p:cTn id="44" dur="26">
                                          <p:stCondLst>
                                            <p:cond delay="1808"/>
                                          </p:stCondLst>
                                        </p:cTn>
                                        <p:tgtEl>
                                          <p:spTgt spid="3">
                                            <p:txEl>
                                              <p:pRg st="0" end="0"/>
                                            </p:txEl>
                                          </p:spTgt>
                                        </p:tgtEl>
                                      </p:cBhvr>
                                      <p:to x="100000" y="95000"/>
                                    </p:animScale>
                                    <p:animScale>
                                      <p:cBhvr>
                                        <p:cTn id="45" dur="166" decel="50000">
                                          <p:stCondLst>
                                            <p:cond delay="1834"/>
                                          </p:stCondLst>
                                        </p:cTn>
                                        <p:tgtEl>
                                          <p:spTgt spid="3">
                                            <p:txEl>
                                              <p:pRg st="0" end="0"/>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0EF88-5266-DA87-0C50-6EC4B3632948}"/>
              </a:ext>
            </a:extLst>
          </p:cNvPr>
          <p:cNvSpPr>
            <a:spLocks noGrp="1"/>
          </p:cNvSpPr>
          <p:nvPr>
            <p:ph type="title"/>
          </p:nvPr>
        </p:nvSpPr>
        <p:spPr>
          <a:xfrm>
            <a:off x="372533" y="382059"/>
            <a:ext cx="11421533" cy="1325563"/>
          </a:xfrm>
        </p:spPr>
        <p:txBody>
          <a:bodyPr>
            <a:normAutofit fontScale="90000"/>
          </a:bodyPr>
          <a:lstStyle/>
          <a:p>
            <a:br>
              <a:rPr lang="en-US" b="1" dirty="0">
                <a:latin typeface="Kiros" panose="02000000070000080003" pitchFamily="2" charset="0"/>
              </a:rPr>
            </a:br>
            <a:r>
              <a:rPr lang="en-US" b="1" dirty="0" err="1">
                <a:latin typeface="Kiros" panose="02000000070000080003" pitchFamily="2" charset="0"/>
              </a:rPr>
              <a:t>ትልም</a:t>
            </a:r>
            <a:r>
              <a:rPr lang="en-US" b="1" dirty="0">
                <a:latin typeface="Kiros" panose="02000000070000080003" pitchFamily="2" charset="0"/>
              </a:rPr>
              <a:t> </a:t>
            </a:r>
            <a:br>
              <a:rPr lang="en-US" b="1" dirty="0">
                <a:latin typeface="Kiros" panose="02000000070000080003" pitchFamily="2" charset="0"/>
              </a:rPr>
            </a:br>
            <a:endParaRPr lang="en-US" b="1" dirty="0">
              <a:latin typeface="Kiros" panose="02000000070000080003" pitchFamily="2" charset="0"/>
            </a:endParaRPr>
          </a:p>
        </p:txBody>
      </p:sp>
      <p:pic>
        <p:nvPicPr>
          <p:cNvPr id="5" name="Content Placeholder 4" descr="A target with an arrow and other objects around it&#10;&#10;AI-generated content may be incorrect.">
            <a:extLst>
              <a:ext uri="{FF2B5EF4-FFF2-40B4-BE49-F238E27FC236}">
                <a16:creationId xmlns:a16="http://schemas.microsoft.com/office/drawing/2014/main" id="{9D2A6295-5A3A-52EC-70EF-25B195C21AC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59771" y="4201925"/>
            <a:ext cx="4247055" cy="1901667"/>
          </a:xfrm>
        </p:spPr>
      </p:pic>
      <p:sp>
        <p:nvSpPr>
          <p:cNvPr id="7" name="TextBox 6">
            <a:extLst>
              <a:ext uri="{FF2B5EF4-FFF2-40B4-BE49-F238E27FC236}">
                <a16:creationId xmlns:a16="http://schemas.microsoft.com/office/drawing/2014/main" id="{56AD6FD2-C1A0-C811-E42F-1D4A4C16CD27}"/>
              </a:ext>
            </a:extLst>
          </p:cNvPr>
          <p:cNvSpPr txBox="1"/>
          <p:nvPr/>
        </p:nvSpPr>
        <p:spPr>
          <a:xfrm>
            <a:off x="169331" y="1707622"/>
            <a:ext cx="11421533" cy="2241511"/>
          </a:xfrm>
          <a:prstGeom prst="rect">
            <a:avLst/>
          </a:prstGeom>
          <a:noFill/>
        </p:spPr>
        <p:txBody>
          <a:bodyPr wrap="square">
            <a:spAutoFit/>
          </a:bodyPr>
          <a:lstStyle/>
          <a:p>
            <a:pPr marL="971550" marR="0" indent="-285750" algn="just">
              <a:lnSpc>
                <a:spcPct val="150000"/>
              </a:lnSpc>
              <a:buFont typeface="Wingdings" panose="05000000000000000000" pitchFamily="2" charset="2"/>
              <a:buChar char="q"/>
            </a:pPr>
            <a:r>
              <a:rPr lang="en-US" sz="24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2400" dirty="0" err="1">
                <a:effectLst/>
                <a:latin typeface="Power Geez Unicode1" panose="00000400000000000000" pitchFamily="2" charset="0"/>
                <a:ea typeface="Aptos" panose="020B0004020202020204" pitchFamily="34" charset="0"/>
                <a:cs typeface="Times New Roman" panose="02020603050405020304" pitchFamily="18" charset="0"/>
              </a:rPr>
              <a:t>የኦንሊ</a:t>
            </a:r>
            <a:r>
              <a:rPr lang="en-US" sz="24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2400" dirty="0" err="1">
                <a:effectLst/>
                <a:latin typeface="Power Geez Unicode1" panose="00000400000000000000" pitchFamily="2" charset="0"/>
                <a:ea typeface="Aptos" panose="020B0004020202020204" pitchFamily="34" charset="0"/>
                <a:cs typeface="Times New Roman" panose="02020603050405020304" pitchFamily="18" charset="0"/>
              </a:rPr>
              <a:t>ጂሰስ</a:t>
            </a:r>
            <a:r>
              <a:rPr lang="en-US" sz="24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2400" dirty="0" err="1">
                <a:effectLst/>
                <a:latin typeface="Power Geez Unicode1" panose="00000400000000000000" pitchFamily="2" charset="0"/>
                <a:ea typeface="Aptos" panose="020B0004020202020204" pitchFamily="34" charset="0"/>
                <a:cs typeface="Times New Roman" panose="02020603050405020304" pitchFamily="18" charset="0"/>
              </a:rPr>
              <a:t>ሃይማኖት</a:t>
            </a:r>
            <a:r>
              <a:rPr lang="en-US" sz="24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2400" dirty="0" err="1">
                <a:effectLst/>
                <a:latin typeface="Power Geez Unicode1" panose="00000400000000000000" pitchFamily="2" charset="0"/>
                <a:ea typeface="Aptos" panose="020B0004020202020204" pitchFamily="34" charset="0"/>
                <a:cs typeface="Times New Roman" panose="02020603050405020304" pitchFamily="18" charset="0"/>
              </a:rPr>
              <a:t>ለአስተምህሮዬ</a:t>
            </a:r>
            <a:r>
              <a:rPr lang="en-US" sz="24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2400" dirty="0" err="1">
                <a:effectLst/>
                <a:latin typeface="Power Geez Unicode1" panose="00000400000000000000" pitchFamily="2" charset="0"/>
                <a:ea typeface="Aptos" panose="020B0004020202020204" pitchFamily="34" charset="0"/>
                <a:cs typeface="Times New Roman" panose="02020603050405020304" pitchFamily="18" charset="0"/>
              </a:rPr>
              <a:t>መሠረት</a:t>
            </a:r>
            <a:r>
              <a:rPr lang="en-US" sz="24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2400" dirty="0" err="1">
                <a:effectLst/>
                <a:latin typeface="Power Geez Unicode1" panose="00000400000000000000" pitchFamily="2" charset="0"/>
                <a:ea typeface="Aptos" panose="020B0004020202020204" pitchFamily="34" charset="0"/>
                <a:cs typeface="Times New Roman" panose="02020603050405020304" pitchFamily="18" charset="0"/>
              </a:rPr>
              <a:t>ሆነውኛል</a:t>
            </a:r>
            <a:r>
              <a:rPr lang="en-US" sz="24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2400" dirty="0" err="1">
                <a:effectLst/>
                <a:latin typeface="Power Geez Unicode1" panose="00000400000000000000" pitchFamily="2" charset="0"/>
                <a:ea typeface="Aptos" panose="020B0004020202020204" pitchFamily="34" charset="0"/>
                <a:cs typeface="Times New Roman" panose="02020603050405020304" pitchFamily="18" charset="0"/>
              </a:rPr>
              <a:t>የሚላቸው</a:t>
            </a:r>
            <a:r>
              <a:rPr lang="en-US" sz="24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2400" dirty="0" err="1">
                <a:effectLst/>
                <a:latin typeface="Power Geez Unicode1" panose="00000400000000000000" pitchFamily="2" charset="0"/>
                <a:ea typeface="Aptos" panose="020B0004020202020204" pitchFamily="34" charset="0"/>
                <a:cs typeface="Times New Roman" panose="02020603050405020304" pitchFamily="18" charset="0"/>
              </a:rPr>
              <a:t>መጽሐፍ</a:t>
            </a:r>
            <a:r>
              <a:rPr lang="en-US" sz="24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2400" dirty="0" err="1">
                <a:effectLst/>
                <a:latin typeface="Power Geez Unicode1" panose="00000400000000000000" pitchFamily="2" charset="0"/>
                <a:ea typeface="Aptos" panose="020B0004020202020204" pitchFamily="34" charset="0"/>
                <a:cs typeface="Times New Roman" panose="02020603050405020304" pitchFamily="18" charset="0"/>
              </a:rPr>
              <a:t>ቅዱሳዊ</a:t>
            </a:r>
            <a:r>
              <a:rPr lang="en-US" sz="24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2400" dirty="0" err="1">
                <a:effectLst/>
                <a:latin typeface="Power Geez Unicode1" panose="00000400000000000000" pitchFamily="2" charset="0"/>
                <a:ea typeface="Aptos" panose="020B0004020202020204" pitchFamily="34" charset="0"/>
                <a:cs typeface="Times New Roman" panose="02020603050405020304" pitchFamily="18" charset="0"/>
              </a:rPr>
              <a:t>ምንባባት</a:t>
            </a:r>
            <a:r>
              <a:rPr lang="en-US" sz="2400" dirty="0">
                <a:effectLst/>
                <a:latin typeface="Power Geez Unicode1" panose="00000400000000000000" pitchFamily="2" charset="0"/>
                <a:ea typeface="Aptos" panose="020B0004020202020204" pitchFamily="34" charset="0"/>
                <a:cs typeface="Times New Roman" panose="02020603050405020304" pitchFamily="18" charset="0"/>
              </a:rPr>
              <a:t>፣ አንድ </a:t>
            </a:r>
            <a:r>
              <a:rPr lang="en-US" sz="2400" dirty="0" err="1">
                <a:effectLst/>
                <a:latin typeface="Power Geez Unicode1" panose="00000400000000000000" pitchFamily="2" charset="0"/>
                <a:ea typeface="Aptos" panose="020B0004020202020204" pitchFamily="34" charset="0"/>
                <a:cs typeface="Times New Roman" panose="02020603050405020304" pitchFamily="18" charset="0"/>
              </a:rPr>
              <a:t>በአንድ</a:t>
            </a:r>
            <a:r>
              <a:rPr lang="en-US" sz="24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2400" dirty="0" err="1">
                <a:effectLst/>
                <a:latin typeface="Power Geez Unicode1" panose="00000400000000000000" pitchFamily="2" charset="0"/>
                <a:ea typeface="Aptos" panose="020B0004020202020204" pitchFamily="34" charset="0"/>
                <a:cs typeface="Times New Roman" panose="02020603050405020304" pitchFamily="18" charset="0"/>
              </a:rPr>
              <a:t>ተነቅሰው</a:t>
            </a:r>
            <a:r>
              <a:rPr lang="en-US" sz="24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2400" dirty="0" err="1">
                <a:effectLst/>
                <a:latin typeface="Power Geez Unicode1" panose="00000400000000000000" pitchFamily="2" charset="0"/>
                <a:ea typeface="Aptos" panose="020B0004020202020204" pitchFamily="34" charset="0"/>
                <a:cs typeface="Times New Roman" panose="02020603050405020304" pitchFamily="18" charset="0"/>
              </a:rPr>
              <a:t>በመውጣት</a:t>
            </a:r>
            <a:r>
              <a:rPr lang="en-US" sz="24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2400" dirty="0" err="1">
                <a:effectLst/>
                <a:latin typeface="Power Geez Unicode1" panose="00000400000000000000" pitchFamily="2" charset="0"/>
                <a:ea typeface="Aptos" panose="020B0004020202020204" pitchFamily="34" charset="0"/>
                <a:cs typeface="Times New Roman" panose="02020603050405020304" pitchFamily="18" charset="0"/>
              </a:rPr>
              <a:t>ወደ</a:t>
            </a:r>
            <a:r>
              <a:rPr lang="en-US" sz="24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2400" dirty="0" err="1">
                <a:effectLst/>
                <a:latin typeface="Power Geez Unicode1" panose="00000400000000000000" pitchFamily="2" charset="0"/>
                <a:ea typeface="Aptos" panose="020B0004020202020204" pitchFamily="34" charset="0"/>
                <a:cs typeface="Times New Roman" panose="02020603050405020304" pitchFamily="18" charset="0"/>
              </a:rPr>
              <a:t>ድርጅቱ</a:t>
            </a:r>
            <a:r>
              <a:rPr lang="en-US" sz="24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2400" dirty="0" err="1">
                <a:effectLst/>
                <a:latin typeface="Power Geez Unicode1" panose="00000400000000000000" pitchFamily="2" charset="0"/>
                <a:ea typeface="Aptos" panose="020B0004020202020204" pitchFamily="34" charset="0"/>
                <a:cs typeface="Times New Roman" panose="02020603050405020304" pitchFamily="18" charset="0"/>
              </a:rPr>
              <a:t>የአስተምህሮ</a:t>
            </a:r>
            <a:r>
              <a:rPr lang="en-US" sz="24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2400" dirty="0" err="1">
                <a:effectLst/>
                <a:latin typeface="Power Geez Unicode1" panose="00000400000000000000" pitchFamily="2" charset="0"/>
                <a:ea typeface="Aptos" panose="020B0004020202020204" pitchFamily="34" charset="0"/>
                <a:cs typeface="Times New Roman" panose="02020603050405020304" pitchFamily="18" charset="0"/>
              </a:rPr>
              <a:t>ድምዳሜ</a:t>
            </a:r>
            <a:r>
              <a:rPr lang="en-US" sz="24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2400" dirty="0" err="1">
                <a:effectLst/>
                <a:latin typeface="Power Geez Unicode1" panose="00000400000000000000" pitchFamily="2" charset="0"/>
                <a:ea typeface="Aptos" panose="020B0004020202020204" pitchFamily="34" charset="0"/>
                <a:cs typeface="Times New Roman" panose="02020603050405020304" pitchFamily="18" charset="0"/>
              </a:rPr>
              <a:t>እንደማያደርሱ</a:t>
            </a:r>
            <a:r>
              <a:rPr lang="en-US" sz="24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2400" dirty="0" err="1">
                <a:effectLst/>
                <a:latin typeface="Power Geez Unicode1" panose="00000400000000000000" pitchFamily="2" charset="0"/>
                <a:ea typeface="Aptos" panose="020B0004020202020204" pitchFamily="34" charset="0"/>
                <a:cs typeface="Times New Roman" panose="02020603050405020304" pitchFamily="18" charset="0"/>
              </a:rPr>
              <a:t>ማሳየት</a:t>
            </a:r>
            <a:r>
              <a:rPr lang="en-US" sz="24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2400" dirty="0" err="1">
                <a:effectLst/>
                <a:latin typeface="Power Geez Unicode1" panose="00000400000000000000" pitchFamily="2" charset="0"/>
                <a:ea typeface="Aptos" panose="020B0004020202020204" pitchFamily="34" charset="0"/>
                <a:cs typeface="Times New Roman" panose="02020603050405020304" pitchFamily="18" charset="0"/>
              </a:rPr>
              <a:t>የዚህ</a:t>
            </a:r>
            <a:r>
              <a:rPr lang="en-US" sz="24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2400" dirty="0" err="1">
                <a:effectLst/>
                <a:latin typeface="Power Geez Unicode1" panose="00000400000000000000" pitchFamily="2" charset="0"/>
                <a:ea typeface="Aptos" panose="020B0004020202020204" pitchFamily="34" charset="0"/>
                <a:cs typeface="Times New Roman" panose="02020603050405020304" pitchFamily="18" charset="0"/>
              </a:rPr>
              <a:t>ክፍለ</a:t>
            </a:r>
            <a:r>
              <a:rPr lang="en-US" sz="24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2400" dirty="0" err="1">
                <a:effectLst/>
                <a:latin typeface="Power Geez Unicode1" panose="00000400000000000000" pitchFamily="2" charset="0"/>
                <a:ea typeface="Aptos" panose="020B0004020202020204" pitchFamily="34" charset="0"/>
                <a:cs typeface="Times New Roman" panose="02020603050405020304" pitchFamily="18" charset="0"/>
              </a:rPr>
              <a:t>ጊዜ</a:t>
            </a:r>
            <a:r>
              <a:rPr lang="en-US" sz="24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2400" dirty="0" err="1">
                <a:effectLst/>
                <a:latin typeface="Power Geez Unicode1" panose="00000400000000000000" pitchFamily="2" charset="0"/>
                <a:ea typeface="Aptos" panose="020B0004020202020204" pitchFamily="34" charset="0"/>
                <a:cs typeface="Times New Roman" panose="02020603050405020304" pitchFamily="18" charset="0"/>
              </a:rPr>
              <a:t>ቀዳማይ</a:t>
            </a:r>
            <a:r>
              <a:rPr lang="en-US" sz="24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2400" dirty="0" err="1">
                <a:effectLst/>
                <a:latin typeface="Power Geez Unicode1" panose="00000400000000000000" pitchFamily="2" charset="0"/>
                <a:ea typeface="Aptos" panose="020B0004020202020204" pitchFamily="34" charset="0"/>
                <a:cs typeface="Times New Roman" panose="02020603050405020304" pitchFamily="18" charset="0"/>
              </a:rPr>
              <a:t>ዐላማ</a:t>
            </a:r>
            <a:r>
              <a:rPr lang="en-US" sz="24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2400" dirty="0" err="1">
                <a:effectLst/>
                <a:latin typeface="Power Geez Unicode1" panose="00000400000000000000" pitchFamily="2" charset="0"/>
                <a:ea typeface="Aptos" panose="020B0004020202020204" pitchFamily="34" charset="0"/>
                <a:cs typeface="Times New Roman" panose="02020603050405020304" pitchFamily="18" charset="0"/>
              </a:rPr>
              <a:t>ነው</a:t>
            </a:r>
            <a:r>
              <a:rPr lang="en-US" sz="24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2400" dirty="0">
                <a:effectLst/>
                <a:latin typeface="Times New Roman" panose="02020603050405020304" pitchFamily="18" charset="0"/>
                <a:ea typeface="Aptos" panose="020B0004020202020204" pitchFamily="34" charset="0"/>
                <a:cs typeface="Times New Roman" panose="02020603050405020304" pitchFamily="18" charset="0"/>
              </a:rPr>
              <a:t>(</a:t>
            </a:r>
            <a:r>
              <a:rPr lang="en-US" sz="2400" dirty="0" err="1">
                <a:effectLst/>
                <a:latin typeface="Power Geez Unicode1" panose="00000400000000000000" pitchFamily="2" charset="0"/>
                <a:ea typeface="Aptos" panose="020B0004020202020204" pitchFamily="34" charset="0"/>
                <a:cs typeface="Times New Roman" panose="02020603050405020304" pitchFamily="18" charset="0"/>
              </a:rPr>
              <a:t>ይህ</a:t>
            </a:r>
            <a:r>
              <a:rPr lang="en-US" sz="2400" dirty="0">
                <a:effectLst/>
                <a:latin typeface="Power Geez Unicode1" panose="00000400000000000000" pitchFamily="2" charset="0"/>
                <a:ea typeface="Aptos" panose="020B0004020202020204" pitchFamily="34"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ከትካች</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ዐጸፋ</a:t>
            </a:r>
            <a:r>
              <a:rPr lang="en-GB" sz="24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2400" dirty="0" err="1">
                <a:effectLst/>
                <a:latin typeface="Power Geez Unicode1" panose="00000400000000000000" pitchFamily="2" charset="0"/>
                <a:ea typeface="Aptos" panose="020B0004020202020204" pitchFamily="34" charset="0"/>
                <a:cs typeface="Times New Roman" panose="02020603050405020304" pitchFamily="18" charset="0"/>
              </a:rPr>
              <a:t>ይባላል</a:t>
            </a:r>
            <a:r>
              <a:rPr lang="en-US" sz="2400" dirty="0">
                <a:effectLst/>
                <a:latin typeface="Times New Roman" panose="02020603050405020304" pitchFamily="18" charset="0"/>
                <a:ea typeface="Aptos" panose="020B0004020202020204" pitchFamily="34" charset="0"/>
                <a:cs typeface="Times New Roman" panose="02020603050405020304" pitchFamily="18" charset="0"/>
              </a:rPr>
              <a:t>)</a:t>
            </a:r>
            <a:r>
              <a:rPr lang="en-US" sz="2400" dirty="0">
                <a:effectLst/>
                <a:latin typeface="Power Geez Unicode1" panose="00000400000000000000" pitchFamily="2" charset="0"/>
                <a:ea typeface="Aptos" panose="020B0004020202020204" pitchFamily="34" charset="0"/>
                <a:cs typeface="Times New Roman" panose="02020603050405020304" pitchFamily="18" charset="0"/>
              </a:rPr>
              <a:t>፡፡  </a:t>
            </a:r>
            <a:endParaRPr lang="en-US" sz="2800" dirty="0">
              <a:effectLst/>
              <a:latin typeface="Power Geez Unicode1" panose="00000400000000000000" pitchFamily="2"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7217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animEffect transition="in" filter="fade">
                                      <p:cBhvr>
                                        <p:cTn id="25" dur="1000"/>
                                        <p:tgtEl>
                                          <p:spTgt spid="7">
                                            <p:txEl>
                                              <p:pRg st="0" end="0"/>
                                            </p:txEl>
                                          </p:spTgt>
                                        </p:tgtEl>
                                      </p:cBhvr>
                                    </p:animEffect>
                                    <p:anim calcmode="lin" valueType="num">
                                      <p:cBhvr>
                                        <p:cTn id="26"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7"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6" presetClass="entr" presetSubtype="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down)">
                                      <p:cBhvr>
                                        <p:cTn id="32" dur="580">
                                          <p:stCondLst>
                                            <p:cond delay="0"/>
                                          </p:stCondLst>
                                        </p:cTn>
                                        <p:tgtEl>
                                          <p:spTgt spid="5"/>
                                        </p:tgtEl>
                                      </p:cBhvr>
                                    </p:animEffect>
                                    <p:anim calcmode="lin" valueType="num">
                                      <p:cBhvr>
                                        <p:cTn id="33"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34"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35"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36"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37"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38" dur="26">
                                          <p:stCondLst>
                                            <p:cond delay="650"/>
                                          </p:stCondLst>
                                        </p:cTn>
                                        <p:tgtEl>
                                          <p:spTgt spid="5"/>
                                        </p:tgtEl>
                                      </p:cBhvr>
                                      <p:to x="100000" y="60000"/>
                                    </p:animScale>
                                    <p:animScale>
                                      <p:cBhvr>
                                        <p:cTn id="39" dur="166" decel="50000">
                                          <p:stCondLst>
                                            <p:cond delay="676"/>
                                          </p:stCondLst>
                                        </p:cTn>
                                        <p:tgtEl>
                                          <p:spTgt spid="5"/>
                                        </p:tgtEl>
                                      </p:cBhvr>
                                      <p:to x="100000" y="100000"/>
                                    </p:animScale>
                                    <p:animScale>
                                      <p:cBhvr>
                                        <p:cTn id="40" dur="26">
                                          <p:stCondLst>
                                            <p:cond delay="1312"/>
                                          </p:stCondLst>
                                        </p:cTn>
                                        <p:tgtEl>
                                          <p:spTgt spid="5"/>
                                        </p:tgtEl>
                                      </p:cBhvr>
                                      <p:to x="100000" y="80000"/>
                                    </p:animScale>
                                    <p:animScale>
                                      <p:cBhvr>
                                        <p:cTn id="41" dur="166" decel="50000">
                                          <p:stCondLst>
                                            <p:cond delay="1338"/>
                                          </p:stCondLst>
                                        </p:cTn>
                                        <p:tgtEl>
                                          <p:spTgt spid="5"/>
                                        </p:tgtEl>
                                      </p:cBhvr>
                                      <p:to x="100000" y="100000"/>
                                    </p:animScale>
                                    <p:animScale>
                                      <p:cBhvr>
                                        <p:cTn id="42" dur="26">
                                          <p:stCondLst>
                                            <p:cond delay="1642"/>
                                          </p:stCondLst>
                                        </p:cTn>
                                        <p:tgtEl>
                                          <p:spTgt spid="5"/>
                                        </p:tgtEl>
                                      </p:cBhvr>
                                      <p:to x="100000" y="90000"/>
                                    </p:animScale>
                                    <p:animScale>
                                      <p:cBhvr>
                                        <p:cTn id="43" dur="166" decel="50000">
                                          <p:stCondLst>
                                            <p:cond delay="1668"/>
                                          </p:stCondLst>
                                        </p:cTn>
                                        <p:tgtEl>
                                          <p:spTgt spid="5"/>
                                        </p:tgtEl>
                                      </p:cBhvr>
                                      <p:to x="100000" y="100000"/>
                                    </p:animScale>
                                    <p:animScale>
                                      <p:cBhvr>
                                        <p:cTn id="44" dur="26">
                                          <p:stCondLst>
                                            <p:cond delay="1808"/>
                                          </p:stCondLst>
                                        </p:cTn>
                                        <p:tgtEl>
                                          <p:spTgt spid="5"/>
                                        </p:tgtEl>
                                      </p:cBhvr>
                                      <p:to x="100000" y="95000"/>
                                    </p:animScale>
                                    <p:animScale>
                                      <p:cBhvr>
                                        <p:cTn id="45" dur="166" decel="50000">
                                          <p:stCondLst>
                                            <p:cond delay="1834"/>
                                          </p:stCondLst>
                                        </p:cTn>
                                        <p:tgtEl>
                                          <p:spTgt spid="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929F34-EDEA-2AAF-9583-B9D34340A4DC}"/>
              </a:ext>
            </a:extLst>
          </p:cNvPr>
          <p:cNvSpPr txBox="1"/>
          <p:nvPr/>
        </p:nvSpPr>
        <p:spPr>
          <a:xfrm>
            <a:off x="397932" y="-173396"/>
            <a:ext cx="11201401" cy="3602396"/>
          </a:xfrm>
          <a:prstGeom prst="rect">
            <a:avLst/>
          </a:prstGeom>
          <a:noFill/>
        </p:spPr>
        <p:txBody>
          <a:bodyPr wrap="square">
            <a:spAutoFit/>
          </a:bodyPr>
          <a:lstStyle/>
          <a:p>
            <a:pPr marL="0" marR="0" algn="ctr">
              <a:lnSpc>
                <a:spcPct val="150000"/>
              </a:lnSpc>
              <a:buNone/>
            </a:pPr>
            <a:r>
              <a:rPr lang="en-GB" sz="2800" dirty="0" err="1">
                <a:effectLst/>
                <a:latin typeface="Ethiopic Yebse" panose="02000500000000000000" pitchFamily="2" charset="0"/>
                <a:ea typeface="Times New Roman" panose="02020603050405020304" pitchFamily="18" charset="0"/>
                <a:cs typeface="Times New Roman" panose="02020603050405020304" pitchFamily="18" charset="0"/>
              </a:rPr>
              <a:t>አቻ</a:t>
            </a:r>
            <a:r>
              <a:rPr lang="en-GB" sz="2800" dirty="0">
                <a:effectLst/>
                <a:latin typeface="Ethiopic Yebse" panose="02000500000000000000" pitchFamily="2" charset="0"/>
                <a:ea typeface="Times New Roman" panose="02020603050405020304" pitchFamily="18" charset="0"/>
                <a:cs typeface="Times New Roman" panose="02020603050405020304" pitchFamily="18" charset="0"/>
              </a:rPr>
              <a:t> </a:t>
            </a:r>
            <a:r>
              <a:rPr lang="en-GB" sz="2800" dirty="0" err="1">
                <a:effectLst/>
                <a:latin typeface="Ethiopic Yebse" panose="02000500000000000000" pitchFamily="2" charset="0"/>
                <a:ea typeface="Times New Roman" panose="02020603050405020304" pitchFamily="18" charset="0"/>
                <a:cs typeface="Times New Roman" panose="02020603050405020304" pitchFamily="18" charset="0"/>
              </a:rPr>
              <a:t>ሥርጸት</a:t>
            </a:r>
            <a:r>
              <a:rPr lang="en-GB" sz="2800" dirty="0">
                <a:effectLst/>
                <a:latin typeface="Ethiopic Yebse" panose="02000500000000000000" pitchFamily="2" charset="0"/>
                <a:ea typeface="Times New Roman" panose="02020603050405020304" pitchFamily="18" charset="0"/>
                <a:cs typeface="Times New Roman" panose="02020603050405020304" pitchFamily="18" charset="0"/>
              </a:rPr>
              <a:t> </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GB" sz="2800" dirty="0" err="1">
                <a:effectLst/>
                <a:latin typeface="Ethiopic Yebse" panose="02000500000000000000" pitchFamily="2" charset="0"/>
                <a:ea typeface="Times New Roman" panose="02020603050405020304" pitchFamily="18" charset="0"/>
                <a:cs typeface="Times New Roman" panose="02020603050405020304" pitchFamily="18" charset="0"/>
              </a:rPr>
              <a:t>ፕሪኮረሲስ</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a:p>
            <a:pPr marL="285750" marR="0" indent="-285750" algn="just">
              <a:lnSpc>
                <a:spcPct val="150000"/>
              </a:lnSpc>
              <a:buFont typeface="Wingdings" panose="05000000000000000000" pitchFamily="2" charset="2"/>
              <a:buChar char="q"/>
            </a:pP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አይደለም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መንፈስ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ቅዱስ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አይደለም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መንፈስ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ቅዱስም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አይደለም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በአንጻሩ</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እኔና</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ነን</a:t>
            </a:r>
            <a:r>
              <a:rPr lang="en-GB" dirty="0">
                <a:effectLst/>
                <a:latin typeface="Times New Roman" panose="02020603050405020304" pitchFamily="18" charset="0"/>
                <a:ea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ወይም</a:t>
            </a:r>
            <a:r>
              <a:rPr lang="en-GB" dirty="0">
                <a:effectLst/>
                <a:latin typeface="Times New Roman" panose="02020603050405020304" pitchFamily="18" charset="0"/>
                <a:ea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እኔ</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በአብ</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እንዳለው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አብም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በእኔ</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እንዳለ</a:t>
            </a:r>
            <a:r>
              <a:rPr lang="en-GB" dirty="0">
                <a:effectLst/>
                <a:latin typeface="Times New Roman" panose="02020603050405020304" pitchFamily="18" charset="0"/>
                <a:ea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የሚለውን</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ዐሳብ</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በትክክል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ለመረዳት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ነገረ</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መለኮቱ</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ዓለም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b="1" dirty="0" err="1">
                <a:effectLst/>
                <a:latin typeface="Power Geez Unicode1" panose="00000400000000000000" pitchFamily="2" charset="0"/>
                <a:ea typeface="Times New Roman" panose="02020603050405020304" pitchFamily="18" charset="0"/>
                <a:cs typeface="Times New Roman" panose="02020603050405020304" pitchFamily="18" charset="0"/>
              </a:rPr>
              <a:t>አቻ</a:t>
            </a:r>
            <a:r>
              <a:rPr lang="en-GB" b="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b="1" dirty="0" err="1">
                <a:effectLst/>
                <a:latin typeface="Power Geez Unicode1" panose="00000400000000000000" pitchFamily="2" charset="0"/>
                <a:ea typeface="Times New Roman" panose="02020603050405020304" pitchFamily="18" charset="0"/>
                <a:cs typeface="Times New Roman" panose="02020603050405020304" pitchFamily="18" charset="0"/>
              </a:rPr>
              <a:t>ሥርጸት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ወይም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አቻ</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መዋረስ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US" kern="100" dirty="0">
                <a:effectLst/>
                <a:latin typeface="Garamond" panose="02020404030301010803" pitchFamily="18" charset="0"/>
                <a:ea typeface="Calibri" panose="020F0502020204030204" pitchFamily="34" charset="0"/>
                <a:cs typeface="Times New Roman" panose="02020603050405020304" pitchFamily="18" charset="0"/>
              </a:rPr>
              <a:t>(</a:t>
            </a:r>
            <a:r>
              <a:rPr lang="en-US" kern="100" dirty="0">
                <a:effectLst/>
                <a:latin typeface="Times New Roman" panose="02020603050405020304" pitchFamily="18" charset="0"/>
                <a:ea typeface="Calibri" panose="020F0502020204030204" pitchFamily="34"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ፕሪኮረሲስ</a:t>
            </a:r>
            <a:r>
              <a:rPr lang="en-US" kern="100" dirty="0">
                <a:effectLst/>
                <a:latin typeface="Times New Roman" panose="02020603050405020304" pitchFamily="18" charset="0"/>
                <a:ea typeface="Calibri" panose="020F0502020204030204" pitchFamily="34" charset="0"/>
              </a:rPr>
              <a:t>”</a:t>
            </a:r>
            <a:r>
              <a:rPr lang="en-US" kern="100" dirty="0">
                <a:effectLst/>
                <a:latin typeface="Garamond" panose="02020404030301010803" pitchFamily="18" charset="0"/>
                <a:ea typeface="Calibri" panose="020F0502020204030204" pitchFamily="34" charset="0"/>
                <a:cs typeface="Times New Roman" panose="02020603050405020304" pitchFamily="18" charset="0"/>
              </a:rPr>
              <a:t> perichoresis)</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ከሚባለው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ፅንሰ</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ዐሳብ</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ጋር</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መተዋወቅ</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ይጠቅማል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a:t>
            </a:r>
            <a:r>
              <a:rPr lang="en-US" dirty="0">
                <a:effectLst/>
              </a:rPr>
              <a:t> </a:t>
            </a: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አቻ</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ሥርጸት</a:t>
            </a: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Garamond" panose="02020404030301010803" pitchFamily="18" charset="0"/>
                <a:ea typeface="Calibri" panose="020F0502020204030204" pitchFamily="34" charset="0"/>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አቻ</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መዋረስ</a:t>
            </a:r>
            <a:r>
              <a:rPr lang="en-GB" dirty="0">
                <a:effectLst/>
                <a:latin typeface="Garamond" panose="02020404030301010803" pitchFamily="18" charset="0"/>
                <a:ea typeface="Calibri" panose="020F0502020204030204" pitchFamily="34"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በእንግሊዝኛ</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Garamond" panose="02020404030301010803" pitchFamily="18" charset="0"/>
                <a:ea typeface="Times New Roman" panose="02020603050405020304" pitchFamily="18" charset="0"/>
                <a:cs typeface="Times New Roman" panose="02020603050405020304" pitchFamily="18" charset="0"/>
              </a:rPr>
              <a:t>mutual indwelling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ወይም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Garamond" panose="02020404030301010803" pitchFamily="18" charset="0"/>
                <a:ea typeface="Times New Roman" panose="02020603050405020304" pitchFamily="18" charset="0"/>
                <a:cs typeface="Times New Roman" panose="02020603050405020304" pitchFamily="18" charset="0"/>
              </a:rPr>
              <a:t>mutual interpenetration</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በሙያዊ</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ቃሉ</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ፕሪኮረሲስ</a:t>
            </a: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Garamond" panose="02020404030301010803" pitchFamily="18" charset="0"/>
                <a:ea typeface="Times New Roman" panose="02020603050405020304" pitchFamily="18" charset="0"/>
                <a:cs typeface="Times New Roman" panose="02020603050405020304" pitchFamily="18" charset="0"/>
              </a:rPr>
              <a:t>(perichoresis)</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የሚባለውን</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እንዲተካ</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የተገለገልንበት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p>
          <a:p>
            <a:pPr marL="285750" marR="0" indent="-285750" algn="just">
              <a:lnSpc>
                <a:spcPct val="150000"/>
              </a:lnSpc>
              <a:buFont typeface="Wingdings" panose="05000000000000000000" pitchFamily="2" charset="2"/>
              <a:buChar char="q"/>
            </a:pP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በግእዝ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ሠረጸ</a:t>
            </a: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ወደ</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ውስጥ</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መግባትንም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ሆነ</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ወደ</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ውጭ</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መውጣትን</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አመልካች</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ሆነ</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ልብ</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ይሏል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ደስታ</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ተክለ</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ገጽ</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Garamond" panose="02020404030301010803" pitchFamily="18" charset="0"/>
                <a:ea typeface="Times New Roman" panose="02020603050405020304" pitchFamily="18" charset="0"/>
                <a:cs typeface="Times New Roman" panose="02020603050405020304" pitchFamily="18" charset="0"/>
              </a:rPr>
              <a:t>897</a:t>
            </a:r>
            <a:r>
              <a:rPr lang="en-GB" dirty="0">
                <a:effectLst/>
                <a:latin typeface="Nyala" panose="02000504070300020003" pitchFamily="2" charset="0"/>
                <a:ea typeface="Times New Roman" panose="02020603050405020304" pitchFamily="18" charset="0"/>
                <a:cs typeface="Times New Roman" panose="02020603050405020304" pitchFamily="18" charset="0"/>
              </a:rPr>
              <a:t>-</a:t>
            </a:r>
            <a:r>
              <a:rPr lang="en-GB" dirty="0">
                <a:effectLst/>
                <a:latin typeface="Garamond" panose="02020404030301010803" pitchFamily="18" charset="0"/>
                <a:ea typeface="Times New Roman" panose="02020603050405020304" pitchFamily="18" charset="0"/>
                <a:cs typeface="Times New Roman" panose="02020603050405020304" pitchFamily="18" charset="0"/>
              </a:rPr>
              <a:t>898</a:t>
            </a: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dirty="0">
              <a:effectLst/>
              <a:latin typeface="VG2 Main" panose="020B7200000000000000" pitchFamily="34" charset="0"/>
              <a:ea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91456D2-AA55-CF35-3B35-CAB0A6FAC4A9}"/>
              </a:ext>
            </a:extLst>
          </p:cNvPr>
          <p:cNvSpPr txBox="1"/>
          <p:nvPr/>
        </p:nvSpPr>
        <p:spPr>
          <a:xfrm>
            <a:off x="338666" y="3429000"/>
            <a:ext cx="11260667" cy="2946704"/>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የ</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ፕሪኮረሲስ</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አስተምህሮ</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መሠረት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ያደረገው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በሚከተሉት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ምንባባት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ላይ</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በእኔ</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ሆነ</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እኔም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በአብ</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ሆንሁ</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US" kern="100" dirty="0">
                <a:effectLst/>
                <a:latin typeface="Garamond" panose="02020404030301010803" pitchFamily="18" charset="0"/>
                <a:ea typeface="Calibri" panose="020F0502020204030204" pitchFamily="34" charset="0"/>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ዮሐ</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US" kern="100" dirty="0">
                <a:effectLst/>
                <a:latin typeface="Garamond" panose="02020404030301010803" pitchFamily="18" charset="0"/>
                <a:ea typeface="Calibri" panose="020F0502020204030204" pitchFamily="34" charset="0"/>
                <a:cs typeface="Times New Roman" panose="02020603050405020304" pitchFamily="18" charset="0"/>
              </a:rPr>
              <a:t>10÷38)</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እኔን</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ያየ</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አብን</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አይቶአል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እኔ</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በአብ</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እንዳለሁ</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አብም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በእኔ</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እንዳለ</a:t>
            </a:r>
            <a:r>
              <a:rPr lang="en-US" kern="100" dirty="0">
                <a:effectLst/>
                <a:latin typeface="Georgia" panose="02040502050405020303" pitchFamily="18" charset="0"/>
                <a:ea typeface="Calibri" panose="020F0502020204030204" pitchFamily="34"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በእኔ</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የሚኖረው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እርሱ</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ሥራውን</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ይሠራል</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kern="100" dirty="0">
                <a:effectLst/>
                <a:latin typeface="Georgia" panose="02040502050405020303" pitchFamily="18" charset="0"/>
                <a:ea typeface="Calibri" panose="020F0502020204030204" pitchFamily="34" charset="0"/>
                <a:cs typeface="Times New Roman" panose="02020603050405020304" pitchFamily="18" charset="0"/>
              </a:rPr>
              <a:t> </a:t>
            </a:r>
            <a:r>
              <a:rPr lang="en-US" kern="100" dirty="0">
                <a:effectLst/>
                <a:latin typeface="Garamond" panose="02020404030301010803" pitchFamily="18" charset="0"/>
                <a:ea typeface="Calibri" panose="020F0502020204030204" pitchFamily="34" charset="0"/>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ዮሐ</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US" kern="100" dirty="0">
                <a:effectLst/>
                <a:latin typeface="Garamond" panose="02020404030301010803" pitchFamily="18" charset="0"/>
                <a:ea typeface="Calibri" panose="020F0502020204030204" pitchFamily="34" charset="0"/>
                <a:cs typeface="Times New Roman" panose="02020603050405020304" pitchFamily="18" charset="0"/>
              </a:rPr>
              <a:t>14÷8-10)</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እግዚአብሔር</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ሙላቱ</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ሁሉ</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በእርሱ</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እንዲኖር</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US" kern="100" dirty="0">
                <a:effectLst/>
                <a:latin typeface="Garamond" panose="02020404030301010803" pitchFamily="18" charset="0"/>
                <a:ea typeface="Calibri" panose="020F0502020204030204" pitchFamily="34" charset="0"/>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ቈላ</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US" kern="100" dirty="0">
                <a:effectLst/>
                <a:latin typeface="Garamond" panose="02020404030301010803" pitchFamily="18" charset="0"/>
                <a:ea typeface="Calibri" panose="020F0502020204030204" pitchFamily="34" charset="0"/>
                <a:cs typeface="Times New Roman" panose="02020603050405020304" pitchFamily="18" charset="0"/>
              </a:rPr>
              <a:t>1÷19)</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በእርሱ</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የመለኮት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ሙላት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ሁሉ</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በሰውነት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ተገልጦ</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ይኖራልና</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US" kern="100" dirty="0">
                <a:effectLst/>
                <a:latin typeface="Garamond" panose="02020404030301010803" pitchFamily="18" charset="0"/>
                <a:ea typeface="Calibri" panose="020F0502020204030204" pitchFamily="34" charset="0"/>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ቈላ</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US" kern="100" dirty="0">
                <a:effectLst/>
                <a:latin typeface="Garamond" panose="02020404030301010803" pitchFamily="18" charset="0"/>
                <a:ea typeface="Calibri" panose="020F0502020204030204" pitchFamily="34" charset="0"/>
                <a:cs typeface="Times New Roman" panose="02020603050405020304" pitchFamily="18" charset="0"/>
              </a:rPr>
              <a:t>2÷9)</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መንፈስ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ቅዱስም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የአብ</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መንፈስ</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US" kern="100" dirty="0">
                <a:effectLst/>
                <a:latin typeface="Garamond" panose="02020404030301010803" pitchFamily="18" charset="0"/>
                <a:ea typeface="Calibri" panose="020F0502020204030204" pitchFamily="34" charset="0"/>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ማቴ</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US" kern="100" dirty="0">
                <a:effectLst/>
                <a:latin typeface="Garamond" panose="02020404030301010803" pitchFamily="18" charset="0"/>
                <a:ea typeface="Calibri" panose="020F0502020204030204" pitchFamily="34" charset="0"/>
                <a:cs typeface="Times New Roman" panose="02020603050405020304" pitchFamily="18" charset="0"/>
              </a:rPr>
              <a:t>10÷20)</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የኢየሱስ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መንፈስ</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US" kern="100" dirty="0">
                <a:effectLst/>
                <a:latin typeface="Garamond" panose="02020404030301010803" pitchFamily="18" charset="0"/>
                <a:ea typeface="Calibri" panose="020F0502020204030204" pitchFamily="34" charset="0"/>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ሐሥ</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US" kern="100" dirty="0">
                <a:effectLst/>
                <a:latin typeface="Garamond" panose="02020404030301010803" pitchFamily="18" charset="0"/>
                <a:ea typeface="Calibri" panose="020F0502020204030204" pitchFamily="34" charset="0"/>
                <a:cs typeface="Times New Roman" panose="02020603050405020304" pitchFamily="18" charset="0"/>
              </a:rPr>
              <a:t>16÷7)</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የልጁ</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መንፈስ</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US" kern="100" dirty="0">
                <a:effectLst/>
                <a:latin typeface="Garamond" panose="02020404030301010803" pitchFamily="18" charset="0"/>
                <a:ea typeface="Calibri" panose="020F0502020204030204" pitchFamily="34" charset="0"/>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ገላ</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US" kern="100" dirty="0">
                <a:effectLst/>
                <a:latin typeface="Garamond" panose="02020404030301010803" pitchFamily="18" charset="0"/>
                <a:ea typeface="Calibri" panose="020F0502020204030204" pitchFamily="34" charset="0"/>
                <a:cs typeface="Times New Roman" panose="02020603050405020304" pitchFamily="18" charset="0"/>
              </a:rPr>
              <a:t>4÷6)</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ወዘተ</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ተብሎ</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ተጠርቶአል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እነዚህና</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እነዚህን</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መሰል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ምንባባት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ወልድና</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መንፈስ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ቅዱስ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አንዱ</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ባለበት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ቦታ</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ሌላው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እንደሚገኝ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አስተማሪዎች</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ናቸው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1029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3000"/>
                                        <p:tgtEl>
                                          <p:spTgt spid="3">
                                            <p:txEl>
                                              <p:pRg st="0" end="0"/>
                                            </p:txEl>
                                          </p:spTgt>
                                        </p:tgtEl>
                                      </p:cBhvr>
                                    </p:animEffect>
                                    <p:anim calcmode="lin" valueType="num">
                                      <p:cBhvr>
                                        <p:cTn id="8" dur="3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3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2500"/>
                                        <p:tgtEl>
                                          <p:spTgt spid="3">
                                            <p:txEl>
                                              <p:pRg st="2" end="2"/>
                                            </p:txEl>
                                          </p:spTgt>
                                        </p:tgtEl>
                                      </p:cBhvr>
                                    </p:animEffect>
                                    <p:anim calcmode="lin" valueType="num">
                                      <p:cBhvr>
                                        <p:cTn id="22" dur="2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25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5">
                                            <p:txEl>
                                              <p:pRg st="0" end="0"/>
                                            </p:txEl>
                                          </p:spTgt>
                                        </p:tgtEl>
                                        <p:attrNameLst>
                                          <p:attrName>style.visibility</p:attrName>
                                        </p:attrNameLst>
                                      </p:cBhvr>
                                      <p:to>
                                        <p:strVal val="visible"/>
                                      </p:to>
                                    </p:set>
                                    <p:animEffect transition="in" filter="fade">
                                      <p:cBhvr>
                                        <p:cTn id="28" dur="1000"/>
                                        <p:tgtEl>
                                          <p:spTgt spid="5">
                                            <p:txEl>
                                              <p:pRg st="0" end="0"/>
                                            </p:txEl>
                                          </p:spTgt>
                                        </p:tgtEl>
                                      </p:cBhvr>
                                    </p:animEffect>
                                    <p:anim calcmode="lin" valueType="num">
                                      <p:cBhvr>
                                        <p:cTn id="29"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DFEAE0-F6AC-5D2B-A457-430C8C5F13B9}"/>
              </a:ext>
            </a:extLst>
          </p:cNvPr>
          <p:cNvSpPr txBox="1"/>
          <p:nvPr/>
        </p:nvSpPr>
        <p:spPr>
          <a:xfrm>
            <a:off x="0" y="725230"/>
            <a:ext cx="11480800" cy="4472699"/>
          </a:xfrm>
          <a:prstGeom prst="rect">
            <a:avLst/>
          </a:prstGeom>
          <a:noFill/>
        </p:spPr>
        <p:txBody>
          <a:bodyPr wrap="square">
            <a:spAutoFit/>
          </a:bodyPr>
          <a:lstStyle/>
          <a:p>
            <a:pPr marL="742950" marR="0" indent="-285750" algn="just">
              <a:lnSpc>
                <a:spcPct val="150000"/>
              </a:lnSpc>
              <a:buFont typeface="Wingdings" panose="05000000000000000000" pitchFamily="2" charset="2"/>
              <a:buChar char="q"/>
            </a:pP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አንዱ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በሌላው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ውስጥ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ማደሩ</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አኃዛዊ</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አንድነት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አላቸው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እንድንል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አያደርገንም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ውሃ</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በጠርሙስ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ውስጥ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መቀመጡ</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ውሃ</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ጠርሙስ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እንደማንለው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ሁሉ</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ውስጥ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መኖሩ</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አቻ</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ሥርጸት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አላቸው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እንድንል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እንጂ</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አኃዛዊ</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አንድነት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አላቸው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እንድንል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አያደርገንም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በክርስቲያኖች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ውስጥ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መንፈስ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ቅዱስ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ያድራል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(1</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ቆሮ.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3÷16</a:t>
            </a:r>
            <a:r>
              <a:rPr lang="en-GB" sz="2000" dirty="0">
                <a:effectLst/>
                <a:latin typeface="Nyala" panose="02000504070300020003" pitchFamily="2" charset="0"/>
                <a:ea typeface="Times New Roman" panose="02020603050405020304" pitchFamily="18" charset="0"/>
                <a:cs typeface="Nyala" panose="02000504070300020003" pitchFamily="2"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6÷19</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2</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ቆሮ.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6÷16</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2</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ጢሞ.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1÷14</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ኤፌ</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5÷18</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ሮሜ</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8÷9:11:15</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ሕዝ</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36÷27</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ኢሳ</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63÷11)</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ነገር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ክርስቲያኖች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መንፈስ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ቅዱስ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አይደሉም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በአማኞች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ውስጥ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ያኖራል</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ዮሐ</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14÷20</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17÷23</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ሮሜ</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8÷10</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a:t>
            </a:r>
            <a:r>
              <a:rPr lang="en-GB" sz="2000" dirty="0">
                <a:effectLst/>
                <a:latin typeface="Georgia" panose="02040502050405020303" pitchFamily="18"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ገላ</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2÷20</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ቈላ</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1÷27)</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አማኞች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አይደሉም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በክርስቲያኖች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ውስጥ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ይኖራል</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(1</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ዮሐ.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4÷4:11</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14÷21-24</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1</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ቆሮ.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3÷16-20</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a:t>
            </a:r>
            <a:r>
              <a:rPr lang="en-GB" sz="2000" dirty="0">
                <a:effectLst/>
                <a:latin typeface="Georgia" panose="02040502050405020303" pitchFamily="18"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6÷19-20</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2</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ቆሮ.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6÷14-18</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7÷1</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ኤፌ</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2÷19-22</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1</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ጴጥ.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2÷5)</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ክርስቲያኖች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የእግዚአብሔር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ቤተ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መቅደስ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ናቸው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በእነርሱ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ውስጥ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እግዚአብሔር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ያድራል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ይኖራል</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(1</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ቆሮ.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3÷16-20</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2</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ቆሮ.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6÷14-18</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ኤፌ</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2÷19-22</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1</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ጴጥ.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2÷5)</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ነገር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ክርስቲያኖች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እግዚአብሔር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አይደሉም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a:t>
            </a:r>
            <a:endParaRPr lang="en-US" sz="2000" dirty="0">
              <a:effectLst/>
              <a:latin typeface="Power Geez Unicode1" panose="00000400000000000000" pitchFamily="2" charset="0"/>
              <a:ea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5B0C0B4-DE71-EF02-AF6C-A68C7DCB6566}"/>
              </a:ext>
            </a:extLst>
          </p:cNvPr>
          <p:cNvSpPr txBox="1"/>
          <p:nvPr/>
        </p:nvSpPr>
        <p:spPr>
          <a:xfrm>
            <a:off x="541867" y="5172779"/>
            <a:ext cx="10938933" cy="1284711"/>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በአባቴ</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እንዳለሁ</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እናንተም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በእኔ</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እንዳላችሁ</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ደግሞ</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በእናንተ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እንዳለሁ</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ዮሐ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14÷20</a:t>
            </a:r>
            <a:r>
              <a:rPr lang="en-US" sz="1800" kern="100" dirty="0">
                <a:effectLst/>
                <a:latin typeface="Garamond" panose="02020404030301010803" pitchFamily="18" charset="0"/>
                <a:ea typeface="Calibri" panose="020F0502020204030204" pitchFamily="34"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ንግግሩ</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ውስጥ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መኖር</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US" sz="1800" kern="100" dirty="0">
                <a:effectLst/>
                <a:latin typeface="Garamond" panose="02020404030301010803" pitchFamily="18" charset="0"/>
                <a:ea typeface="Calibri" panose="020F0502020204030204" pitchFamily="34" charset="0"/>
                <a:cs typeface="Times New Roman" panose="02020603050405020304" pitchFamily="18" charset="0"/>
              </a:rPr>
              <a:t>(indwelling)</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መወራረስን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ወይም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የአካል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መዋዋጥን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አመልካች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አይደለም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እውነት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ውስጥ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መኖሩ</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አያደርገውም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87158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CDF83F4-3C9A-CD37-C3F2-C900EAA145FA}"/>
              </a:ext>
            </a:extLst>
          </p:cNvPr>
          <p:cNvSpPr txBox="1"/>
          <p:nvPr/>
        </p:nvSpPr>
        <p:spPr>
          <a:xfrm>
            <a:off x="1210733" y="1537014"/>
            <a:ext cx="9770534" cy="1494768"/>
          </a:xfrm>
          <a:prstGeom prst="rect">
            <a:avLst/>
          </a:prstGeom>
          <a:noFill/>
        </p:spPr>
        <p:txBody>
          <a:bodyPr wrap="square">
            <a:spAutoFit/>
          </a:bodyPr>
          <a:lstStyle/>
          <a:p>
            <a:pPr algn="ctr">
              <a:lnSpc>
                <a:spcPct val="150000"/>
              </a:lnSpc>
            </a:pPr>
            <a:r>
              <a:rPr lang="en-US" sz="3200" dirty="0">
                <a:effectLst/>
                <a:latin typeface="Times New Roman" panose="02020603050405020304" pitchFamily="18" charset="0"/>
                <a:ea typeface="Times New Roman" panose="02020603050405020304" pitchFamily="18" charset="0"/>
              </a:rPr>
              <a:t>“</a:t>
            </a:r>
            <a:r>
              <a:rPr lang="en-US" sz="2800" dirty="0" err="1">
                <a:effectLst/>
                <a:latin typeface="Ethiopic Sadiss Light" pitchFamily="2" charset="0"/>
                <a:ea typeface="Times New Roman" panose="02020603050405020304" pitchFamily="18" charset="0"/>
                <a:cs typeface="Times New Roman" panose="02020603050405020304" pitchFamily="18" charset="0"/>
              </a:rPr>
              <a:t>ሕፃን</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ተወልዶልናልና</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ወንድ</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ልጅ</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ተሰጥቶናልና</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አለቅነትም</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በጫንቃው</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ላይ</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ይሆናል</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ስሙም</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ድንቅ</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መካር</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ኀያል</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አምላክ</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የዘላለም</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አባት</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የሰላም</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ልዑል</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ይባላል</a:t>
            </a:r>
            <a:r>
              <a:rPr lang="en-US" sz="3200" dirty="0">
                <a:effectLst/>
                <a:latin typeface="Times New Roman" panose="02020603050405020304" pitchFamily="18" charset="0"/>
                <a:ea typeface="Times New Roman" panose="02020603050405020304" pitchFamily="18" charset="0"/>
              </a:rPr>
              <a:t>”</a:t>
            </a:r>
            <a:endParaRPr lang="en-US" sz="2800" dirty="0"/>
          </a:p>
        </p:txBody>
      </p:sp>
      <p:sp>
        <p:nvSpPr>
          <p:cNvPr id="9" name="TextBox 8">
            <a:extLst>
              <a:ext uri="{FF2B5EF4-FFF2-40B4-BE49-F238E27FC236}">
                <a16:creationId xmlns:a16="http://schemas.microsoft.com/office/drawing/2014/main" id="{D4B85123-CB0B-FDD8-A371-E583646DC634}"/>
              </a:ext>
            </a:extLst>
          </p:cNvPr>
          <p:cNvSpPr txBox="1"/>
          <p:nvPr/>
        </p:nvSpPr>
        <p:spPr>
          <a:xfrm>
            <a:off x="3285067" y="3826218"/>
            <a:ext cx="6096000" cy="812467"/>
          </a:xfrm>
          <a:prstGeom prst="rect">
            <a:avLst/>
          </a:prstGeom>
          <a:noFill/>
        </p:spPr>
        <p:txBody>
          <a:bodyPr wrap="square">
            <a:spAutoFit/>
          </a:bodyPr>
          <a:lstStyle/>
          <a:p>
            <a:pPr marL="0" marR="0" algn="ctr">
              <a:lnSpc>
                <a:spcPct val="150000"/>
              </a:lnSpc>
              <a:buNone/>
            </a:pPr>
            <a:r>
              <a:rPr lang="en-US" sz="3600" dirty="0" err="1">
                <a:effectLst/>
                <a:latin typeface="Ethiopic Yebse" panose="02000500000000000000" pitchFamily="2" charset="0"/>
                <a:ea typeface="Times New Roman" panose="02020603050405020304" pitchFamily="18" charset="0"/>
                <a:cs typeface="Times New Roman" panose="02020603050405020304" pitchFamily="18" charset="0"/>
              </a:rPr>
              <a:t>ኢሳይያስ</a:t>
            </a:r>
            <a:r>
              <a:rPr lang="en-US" sz="3600" dirty="0">
                <a:effectLst/>
                <a:latin typeface="Ethiopic Yebse" panose="02000500000000000000" pitchFamily="2" charset="0"/>
                <a:ea typeface="Times New Roman" panose="02020603050405020304" pitchFamily="18" charset="0"/>
                <a:cs typeface="Times New Roman" panose="02020603050405020304" pitchFamily="18" charset="0"/>
              </a:rPr>
              <a:t> 9፥6</a:t>
            </a:r>
            <a:endParaRPr lang="en-US" sz="32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2820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0A12AA-8007-ACAD-FDC8-8CAB4FB17523}"/>
              </a:ext>
            </a:extLst>
          </p:cNvPr>
          <p:cNvSpPr txBox="1"/>
          <p:nvPr/>
        </p:nvSpPr>
        <p:spPr>
          <a:xfrm>
            <a:off x="778933" y="1556510"/>
            <a:ext cx="10583334" cy="3344185"/>
          </a:xfrm>
          <a:prstGeom prst="rect">
            <a:avLst/>
          </a:prstGeom>
          <a:noFill/>
        </p:spPr>
        <p:txBody>
          <a:bodyPr wrap="square">
            <a:spAutoFit/>
          </a:bodyPr>
          <a:lstStyle/>
          <a:p>
            <a:pPr marL="285750" marR="45720" indent="-285750" algn="just">
              <a:lnSpc>
                <a:spcPct val="150000"/>
              </a:lnSpc>
              <a:buFont typeface="Wingdings" panose="05000000000000000000" pitchFamily="2" charset="2"/>
              <a:buChar char="q"/>
            </a:pP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የድርጅቱ</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ጸሓፍያን</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ይህን</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ክፍል</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መደገፊያ</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በማድረግ</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ወደዚህ</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ድምዳሜ</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እንዴት</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እንደ</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ደረሱ</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የገለጹት</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በሚከተለው</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መልክ</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ነው</a:t>
            </a:r>
            <a:r>
              <a:rPr lang="en-GB" sz="24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በዚህ</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ምንባብ</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አባት</a:t>
            </a:r>
            <a:r>
              <a:rPr lang="en-GB" sz="24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የሚለው</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የዐማርኛ</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ቃል</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በግእዝ</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አብ</a:t>
            </a:r>
            <a:r>
              <a:rPr lang="en-GB" sz="24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የሚል</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አቻ</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ትርጓሜ</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አለው</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እንደ</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ድርጅቱ</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ትምህርት</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ኢየሱስ</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አባት</a:t>
            </a:r>
            <a:r>
              <a:rPr lang="en-GB" sz="24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ነው</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ማለት</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ኢየሱስ</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አብ</a:t>
            </a:r>
            <a:r>
              <a:rPr lang="en-GB" sz="24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ነው</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ማለት</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ስለሆነ</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ይህ</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ክፍል</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ኢየሱስ</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አባት</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በግእዙ</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አብ</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መሆኑን</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ያስተምራል</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ባዮች</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400" dirty="0" err="1">
                <a:effectLst/>
                <a:latin typeface="Power Geez Unicode1" panose="00000400000000000000" pitchFamily="2" charset="0"/>
                <a:ea typeface="Malgun Gothic" panose="020B0503020000020004" pitchFamily="34" charset="-127"/>
                <a:cs typeface="Malgun Gothic" panose="020B0503020000020004" pitchFamily="34" charset="-127"/>
              </a:rPr>
              <a:t>ናቸው</a:t>
            </a:r>
            <a:r>
              <a:rPr lang="en-GB" sz="2400" dirty="0">
                <a:effectLst/>
                <a:latin typeface="Power Geez Unicode1" panose="00000400000000000000" pitchFamily="2" charset="0"/>
                <a:ea typeface="Malgun Gothic" panose="020B0503020000020004" pitchFamily="34" charset="-127"/>
                <a:cs typeface="Malgun Gothic" panose="020B0503020000020004" pitchFamily="34" charset="-127"/>
              </a:rPr>
              <a:t>፡፡ </a:t>
            </a:r>
            <a:endParaRPr lang="en-US" sz="28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E5081A1-7756-8F57-1652-83BC8B5B4C60}"/>
              </a:ext>
            </a:extLst>
          </p:cNvPr>
          <p:cNvSpPr txBox="1"/>
          <p:nvPr/>
        </p:nvSpPr>
        <p:spPr>
          <a:xfrm>
            <a:off x="3691466" y="709689"/>
            <a:ext cx="4250267" cy="694421"/>
          </a:xfrm>
          <a:prstGeom prst="rect">
            <a:avLst/>
          </a:prstGeom>
          <a:noFill/>
        </p:spPr>
        <p:txBody>
          <a:bodyPr wrap="square">
            <a:spAutoFit/>
          </a:bodyPr>
          <a:lstStyle/>
          <a:p>
            <a:pPr marL="0" marR="0" algn="ctr">
              <a:lnSpc>
                <a:spcPct val="115000"/>
              </a:lnSpc>
              <a:spcAft>
                <a:spcPts val="800"/>
              </a:spcAft>
              <a:buNone/>
            </a:pPr>
            <a:r>
              <a:rPr lang="en-GB" sz="3600" b="1" kern="0" dirty="0" err="1">
                <a:effectLst/>
                <a:latin typeface="Kiros" panose="02000000070000080003" pitchFamily="2" charset="0"/>
                <a:ea typeface="Times New Roman" panose="02020603050405020304" pitchFamily="18" charset="0"/>
                <a:cs typeface="Times New Roman" panose="02020603050405020304" pitchFamily="18" charset="0"/>
              </a:rPr>
              <a:t>የድርጅቱ</a:t>
            </a:r>
            <a:r>
              <a:rPr lang="en-GB" sz="3600" b="1" kern="0" dirty="0">
                <a:effectLst/>
                <a:latin typeface="Kiros" panose="02000000070000080003" pitchFamily="2" charset="0"/>
                <a:ea typeface="Times New Roman" panose="02020603050405020304" pitchFamily="18" charset="0"/>
                <a:cs typeface="Times New Roman" panose="02020603050405020304" pitchFamily="18" charset="0"/>
              </a:rPr>
              <a:t> </a:t>
            </a:r>
            <a:r>
              <a:rPr lang="en-GB" sz="3600" b="1" kern="0" dirty="0" err="1">
                <a:effectLst/>
                <a:latin typeface="Kiros" panose="02000000070000080003" pitchFamily="2" charset="0"/>
                <a:ea typeface="Times New Roman" panose="02020603050405020304" pitchFamily="18" charset="0"/>
                <a:cs typeface="Times New Roman" panose="02020603050405020304" pitchFamily="18" charset="0"/>
              </a:rPr>
              <a:t>ትምህርት</a:t>
            </a:r>
            <a:r>
              <a:rPr lang="en-GB" sz="3600" b="1" kern="0" dirty="0">
                <a:effectLst/>
                <a:latin typeface="Kiros" panose="02000000070000080003" pitchFamily="2" charset="0"/>
                <a:ea typeface="Times New Roman" panose="02020603050405020304" pitchFamily="18" charset="0"/>
                <a:cs typeface="Times New Roman" panose="02020603050405020304" pitchFamily="18" charset="0"/>
              </a:rPr>
              <a:t> </a:t>
            </a:r>
            <a:endParaRPr lang="en-US" sz="4000" b="1" kern="100" dirty="0">
              <a:effectLst/>
              <a:latin typeface="Kiros" panose="02000000070000080003" pitchFamily="2"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161146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0D3C6A6-EBCD-A9D4-DEB6-149FE6FA2428}"/>
              </a:ext>
            </a:extLst>
          </p:cNvPr>
          <p:cNvSpPr txBox="1"/>
          <p:nvPr/>
        </p:nvSpPr>
        <p:spPr>
          <a:xfrm>
            <a:off x="4097867" y="585801"/>
            <a:ext cx="3352800" cy="523220"/>
          </a:xfrm>
          <a:prstGeom prst="rect">
            <a:avLst/>
          </a:prstGeom>
          <a:noFill/>
        </p:spPr>
        <p:txBody>
          <a:bodyPr wrap="square">
            <a:spAutoFit/>
          </a:bodyPr>
          <a:lstStyle/>
          <a:p>
            <a:pPr algn="ctr"/>
            <a:r>
              <a:rPr lang="en-GB" sz="2800" b="1" kern="0" dirty="0" err="1">
                <a:effectLst/>
                <a:latin typeface="Kiros" panose="02000000070000080003" pitchFamily="2" charset="0"/>
                <a:ea typeface="Times New Roman" panose="02020603050405020304" pitchFamily="18" charset="0"/>
                <a:cs typeface="Times New Roman" panose="02020603050405020304" pitchFamily="18" charset="0"/>
              </a:rPr>
              <a:t>ከትካች</a:t>
            </a:r>
            <a:r>
              <a:rPr lang="en-GB" sz="2800" b="1" kern="0" dirty="0">
                <a:effectLst/>
                <a:latin typeface="Kiros" panose="02000000070000080003" pitchFamily="2" charset="0"/>
                <a:ea typeface="Times New Roman" panose="02020603050405020304" pitchFamily="18" charset="0"/>
                <a:cs typeface="Times New Roman" panose="02020603050405020304" pitchFamily="18" charset="0"/>
              </a:rPr>
              <a:t> </a:t>
            </a:r>
            <a:r>
              <a:rPr lang="en-GB" sz="2800" b="1" kern="0" dirty="0" err="1">
                <a:effectLst/>
                <a:latin typeface="Kiros" panose="02000000070000080003" pitchFamily="2" charset="0"/>
                <a:ea typeface="Times New Roman" panose="02020603050405020304" pitchFamily="18" charset="0"/>
                <a:cs typeface="Times New Roman" panose="02020603050405020304" pitchFamily="18" charset="0"/>
              </a:rPr>
              <a:t>ዐጸፋው</a:t>
            </a:r>
            <a:r>
              <a:rPr lang="en-GB" sz="2800" b="1" kern="0" dirty="0">
                <a:effectLst/>
                <a:latin typeface="Kiros" panose="02000000070000080003" pitchFamily="2" charset="0"/>
                <a:ea typeface="Times New Roman" panose="02020603050405020304" pitchFamily="18" charset="0"/>
                <a:cs typeface="Times New Roman" panose="02020603050405020304" pitchFamily="18" charset="0"/>
              </a:rPr>
              <a:t> </a:t>
            </a:r>
            <a:r>
              <a:rPr lang="en-GB" sz="2800" b="1" kern="0" dirty="0" err="1">
                <a:effectLst/>
                <a:latin typeface="Kiros" panose="02000000070000080003" pitchFamily="2" charset="0"/>
                <a:ea typeface="Times New Roman" panose="02020603050405020304" pitchFamily="18" charset="0"/>
                <a:cs typeface="Times New Roman" panose="02020603050405020304" pitchFamily="18" charset="0"/>
              </a:rPr>
              <a:t>እነሆ</a:t>
            </a:r>
            <a:r>
              <a:rPr lang="en-GB" sz="2800" b="1" kern="0" dirty="0">
                <a:effectLst/>
                <a:latin typeface="Kiros" panose="02000000070000080003" pitchFamily="2" charset="0"/>
                <a:ea typeface="Times New Roman" panose="02020603050405020304" pitchFamily="18" charset="0"/>
                <a:cs typeface="Times New Roman" panose="02020603050405020304" pitchFamily="18" charset="0"/>
              </a:rPr>
              <a:t> </a:t>
            </a:r>
            <a:endParaRPr lang="en-US" sz="2800" b="1" dirty="0">
              <a:latin typeface="Kiros" panose="02000000070000080003" pitchFamily="2" charset="0"/>
            </a:endParaRPr>
          </a:p>
        </p:txBody>
      </p:sp>
      <p:sp>
        <p:nvSpPr>
          <p:cNvPr id="5" name="TextBox 4">
            <a:extLst>
              <a:ext uri="{FF2B5EF4-FFF2-40B4-BE49-F238E27FC236}">
                <a16:creationId xmlns:a16="http://schemas.microsoft.com/office/drawing/2014/main" id="{2DD95A12-F1F3-E57D-0C12-738D7F883CFE}"/>
              </a:ext>
            </a:extLst>
          </p:cNvPr>
          <p:cNvSpPr txBox="1"/>
          <p:nvPr/>
        </p:nvSpPr>
        <p:spPr>
          <a:xfrm>
            <a:off x="626532" y="1109021"/>
            <a:ext cx="10989735" cy="1531188"/>
          </a:xfrm>
          <a:prstGeom prst="rect">
            <a:avLst/>
          </a:prstGeom>
          <a:noFill/>
        </p:spPr>
        <p:txBody>
          <a:bodyPr wrap="square">
            <a:spAutoFit/>
          </a:bodyPr>
          <a:lstStyle/>
          <a:p>
            <a:pPr marL="285750" marR="45720" indent="-285750" algn="just">
              <a:lnSpc>
                <a:spcPct val="150000"/>
              </a:lnSpc>
              <a:buFont typeface="Wingdings" panose="05000000000000000000" pitchFamily="2" charset="2"/>
              <a:buChar char="q"/>
            </a:pPr>
            <a:r>
              <a:rPr lang="en-GB" sz="1800" b="1" dirty="0" err="1">
                <a:effectLst/>
                <a:latin typeface="Power Geez Unicode1" panose="00000400000000000000" pitchFamily="2" charset="0"/>
                <a:ea typeface="Malgun Gothic" panose="020B0503020000020004" pitchFamily="34" charset="-127"/>
                <a:cs typeface="Malgun Gothic" panose="020B0503020000020004" pitchFamily="34" charset="-127"/>
              </a:rPr>
              <a:t>አንደኛ</a:t>
            </a:r>
            <a:r>
              <a:rPr lang="en-GB" sz="1800" b="1"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በብሉይ</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ኪዳንም</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ሆነ</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በዕብራውያንና</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በዐረቡ</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ባህል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አባት</a:t>
            </a:r>
            <a:r>
              <a:rPr lang="en-GB" sz="18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በዕብራይስጡ</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አብ</a:t>
            </a:r>
            <a:r>
              <a:rPr lang="en-GB" sz="18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he-IL" sz="1800" dirty="0">
                <a:effectLst/>
                <a:latin typeface="VG2 Main" panose="020B7200000000000000" pitchFamily="34" charset="0"/>
                <a:ea typeface="Times New Roman" panose="02020603050405020304" pitchFamily="18" charset="0"/>
                <a:cs typeface="Ezra SIL" panose="02000400000000000000" pitchFamily="2" charset="-79"/>
              </a:rPr>
              <a:t>אָב</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በተጸውዖ</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በመጠሪያ</a:t>
            </a:r>
            <a:r>
              <a:rPr lang="en-GB" sz="18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ስምነት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ካገለገለ</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የስሙ</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ባለቤት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በዚህ</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ቃል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የሚጠራው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ግለሰብ</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ከሚጠራበት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ስም</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ጋር</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አንድ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ዐይነት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ባሕርይ</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አለው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ማለት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ነው</a:t>
            </a:r>
            <a:r>
              <a:rPr lang="en-GB" sz="18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a:p>
            <a:pPr marL="182880" marR="0" indent="-182880" algn="just">
              <a:lnSpc>
                <a:spcPts val="1500"/>
              </a:lnSpc>
              <a:buNone/>
            </a:pPr>
            <a:endParaRPr lang="en-US" sz="14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B524451-8D67-0763-5A9D-2B71FDF2FFF1}"/>
              </a:ext>
            </a:extLst>
          </p:cNvPr>
          <p:cNvSpPr txBox="1"/>
          <p:nvPr/>
        </p:nvSpPr>
        <p:spPr>
          <a:xfrm>
            <a:off x="152400" y="2386209"/>
            <a:ext cx="11413068" cy="4193199"/>
          </a:xfrm>
          <a:prstGeom prst="rect">
            <a:avLst/>
          </a:prstGeom>
          <a:noFill/>
        </p:spPr>
        <p:txBody>
          <a:bodyPr wrap="square">
            <a:spAutoFit/>
          </a:bodyPr>
          <a:lstStyle/>
          <a:p>
            <a:pPr marL="1200150" lvl="2" indent="-285750" algn="just">
              <a:lnSpc>
                <a:spcPct val="150000"/>
              </a:lnSpc>
              <a:buFont typeface="Wingdings" panose="05000000000000000000" pitchFamily="2" charset="2"/>
              <a:buChar char="q"/>
            </a:pPr>
            <a:r>
              <a:rPr lang="en-GB" dirty="0" err="1">
                <a:effectLst/>
                <a:latin typeface="Power Geez Unicode1" panose="00000400000000000000" pitchFamily="2" charset="0"/>
                <a:ea typeface="Malgun Gothic" panose="020B0503020000020004" pitchFamily="34" charset="-127"/>
                <a:cs typeface="Malgun Gothic" panose="020B0503020000020004" pitchFamily="34" charset="-127"/>
              </a:rPr>
              <a:t>አስረጆችን</a:t>
            </a:r>
            <a:r>
              <a:rPr lang="en-GB"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dirty="0" err="1">
                <a:effectLst/>
                <a:latin typeface="Power Geez Unicode1" panose="00000400000000000000" pitchFamily="2" charset="0"/>
                <a:ea typeface="Malgun Gothic" panose="020B0503020000020004" pitchFamily="34" charset="-127"/>
                <a:cs typeface="Malgun Gothic" panose="020B0503020000020004" pitchFamily="34" charset="-127"/>
              </a:rPr>
              <a:t>እንመልከት</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a:effectLst/>
                <a:latin typeface="Power Geez Unicode1" panose="00000400000000000000" pitchFamily="2" charset="0"/>
                <a:ea typeface="Malgun Gothic" panose="020B0503020000020004" pitchFamily="34" charset="-127"/>
                <a:cs typeface="Malgun Gothic" panose="020B0503020000020004" pitchFamily="34" charset="-127"/>
              </a:rPr>
              <a:t> </a:t>
            </a:r>
          </a:p>
          <a:p>
            <a:pPr marL="742950" lvl="1" indent="-285750" algn="just">
              <a:lnSpc>
                <a:spcPct val="150000"/>
              </a:lnSpc>
              <a:buFont typeface="Wingdings" panose="05000000000000000000" pitchFamily="2" charset="2"/>
              <a:buChar char="q"/>
            </a:pP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b="1" dirty="0" err="1">
                <a:effectLst/>
                <a:latin typeface="Power Geez Unicode1" panose="00000400000000000000" pitchFamily="2" charset="0"/>
                <a:ea typeface="Malgun Gothic" panose="020B0503020000020004" pitchFamily="34" charset="-127"/>
                <a:cs typeface="Malgun Gothic" panose="020B0503020000020004" pitchFamily="34" charset="-127"/>
              </a:rPr>
              <a:t>አቢዓልቦን</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dirty="0">
                <a:effectLst/>
                <a:latin typeface="Palatino Linotype" panose="02040502050505030304" pitchFamily="18" charset="0"/>
                <a:ea typeface="Times New Roman" panose="02020603050405020304" pitchFamily="18" charset="0"/>
                <a:cs typeface="Times New Roman" panose="02020603050405020304" pitchFamily="18" charset="0"/>
              </a:rPr>
              <a:t>(</a:t>
            </a:r>
            <a:r>
              <a:rPr lang="he-IL" dirty="0">
                <a:effectLst/>
                <a:latin typeface="VG2 Main" panose="020B7200000000000000" pitchFamily="34" charset="0"/>
                <a:ea typeface="Times New Roman" panose="02020603050405020304" pitchFamily="18" charset="0"/>
                <a:cs typeface="Ezra SIL" panose="02000400000000000000" pitchFamily="2" charset="-79"/>
              </a:rPr>
              <a:t>אֲבִֽי־עַלְבוֹן֙</a:t>
            </a:r>
            <a:r>
              <a:rPr lang="en-GB" dirty="0">
                <a:effectLst/>
                <a:latin typeface="Palatino Linotype" panose="02040502050505030304" pitchFamily="18" charset="0"/>
                <a:ea typeface="Times New Roman" panose="02020603050405020304" pitchFamily="18" charset="0"/>
                <a:cs typeface="Times New Roman" panose="02020603050405020304" pitchFamily="18" charset="0"/>
              </a:rPr>
              <a:t>) </a:t>
            </a:r>
            <a:r>
              <a:rPr lang="en-GB" dirty="0">
                <a:effectLst/>
                <a:latin typeface="Garamond" panose="02020404030301010803" pitchFamily="18" charset="0"/>
                <a:ea typeface="Times New Roman" panose="02020603050405020304" pitchFamily="18" charset="0"/>
                <a:cs typeface="Times New Roman" panose="02020603050405020304" pitchFamily="18" charset="0"/>
              </a:rPr>
              <a:t>(2</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ሳሙኤል </a:t>
            </a:r>
            <a:r>
              <a:rPr lang="en-GB" dirty="0">
                <a:effectLst/>
                <a:latin typeface="Garamond" panose="02020404030301010803" pitchFamily="18" charset="0"/>
                <a:ea typeface="Times New Roman" panose="02020603050405020304" pitchFamily="18" charset="0"/>
                <a:cs typeface="Times New Roman" panose="02020603050405020304" pitchFamily="18" charset="0"/>
              </a:rPr>
              <a:t>23÷31)</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ጣምራ</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አቢ</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he-IL" dirty="0">
                <a:effectLst/>
                <a:latin typeface="VG2 Main" panose="020B7200000000000000" pitchFamily="34" charset="0"/>
                <a:ea typeface="Times New Roman" panose="02020603050405020304" pitchFamily="18" charset="0"/>
                <a:cs typeface="Ezra SIL" panose="02000400000000000000" pitchFamily="2" charset="-79"/>
              </a:rPr>
              <a:t>אָב</a:t>
            </a: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እንዲሁም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ዓልቦን</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he-IL" dirty="0">
                <a:effectLst/>
                <a:latin typeface="VG2 Main" panose="020B7200000000000000" pitchFamily="34" charset="0"/>
                <a:ea typeface="Times New Roman" panose="02020603050405020304" pitchFamily="18" charset="0"/>
                <a:cs typeface="Ezra SIL" panose="02000400000000000000" pitchFamily="2" charset="-79"/>
              </a:rPr>
              <a:t>עַלְבוֹן֙</a:t>
            </a: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ጠንካራ</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ከሚሉት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ቃላት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የተዋቀረ</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በተገናኝ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ሲነበብ</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አጫፍረን</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ስናነበው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የጥንካሬ</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ወይም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እጅግ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በጣም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ጠንካራ</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የሚል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ትርጒም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ይወክላል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p>
          <a:p>
            <a:pPr marL="742950" lvl="1" indent="-285750" algn="just">
              <a:lnSpc>
                <a:spcPct val="150000"/>
              </a:lnSpc>
              <a:buFont typeface="Wingdings" panose="05000000000000000000" pitchFamily="2" charset="2"/>
              <a:buChar char="q"/>
            </a:pP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b="1" dirty="0" err="1">
                <a:effectLst/>
                <a:latin typeface="Power Geez Unicode1" panose="00000400000000000000" pitchFamily="2" charset="0"/>
                <a:ea typeface="Times New Roman" panose="02020603050405020304" pitchFamily="18" charset="0"/>
                <a:cs typeface="Times New Roman" panose="02020603050405020304" pitchFamily="18" charset="0"/>
              </a:rPr>
              <a:t>አቢያሳፍ</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he-IL" dirty="0">
                <a:effectLst/>
                <a:latin typeface="VG2 Main" panose="020B7200000000000000" pitchFamily="34" charset="0"/>
                <a:ea typeface="Times New Roman" panose="02020603050405020304" pitchFamily="18" charset="0"/>
                <a:cs typeface="Ezra SIL" panose="02000400000000000000" pitchFamily="2" charset="-79"/>
              </a:rPr>
              <a:t>אֲבִיאָסָף</a:t>
            </a: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ዘፀአት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Garamond" panose="02020404030301010803" pitchFamily="18" charset="0"/>
                <a:ea typeface="Malgun Gothic" panose="020B0503020000020004" pitchFamily="34" charset="-127"/>
                <a:cs typeface="Times New Roman" panose="02020603050405020304" pitchFamily="18" charset="0"/>
              </a:rPr>
              <a:t>6</a:t>
            </a:r>
            <a:r>
              <a:rPr lang="en-GB" dirty="0">
                <a:effectLst/>
                <a:latin typeface="Garamond" panose="02020404030301010803" pitchFamily="18" charset="0"/>
                <a:ea typeface="Times New Roman" panose="02020603050405020304" pitchFamily="18" charset="0"/>
                <a:cs typeface="Times New Roman" panose="02020603050405020304" pitchFamily="18" charset="0"/>
              </a:rPr>
              <a:t>÷</a:t>
            </a:r>
            <a:r>
              <a:rPr lang="en-GB" dirty="0">
                <a:effectLst/>
                <a:latin typeface="Garamond" panose="02020404030301010803" pitchFamily="18" charset="0"/>
                <a:ea typeface="Malgun Gothic" panose="020B0503020000020004" pitchFamily="34" charset="-127"/>
                <a:cs typeface="Times New Roman" panose="02020603050405020304" pitchFamily="18" charset="0"/>
              </a:rPr>
              <a:t>24)</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አቢ</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he-IL" dirty="0">
                <a:effectLst/>
                <a:latin typeface="VG2 Main" panose="020B7200000000000000" pitchFamily="34" charset="0"/>
                <a:ea typeface="Times New Roman" panose="02020603050405020304" pitchFamily="18" charset="0"/>
                <a:cs typeface="Ezra SIL" panose="02000400000000000000" pitchFamily="2" charset="-79"/>
              </a:rPr>
              <a:t>אָב</a:t>
            </a: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እንዲሁም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አሳፍ</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he-IL" dirty="0">
                <a:effectLst/>
                <a:latin typeface="VG2 Main" panose="020B7200000000000000" pitchFamily="34" charset="0"/>
                <a:ea typeface="Times New Roman" panose="02020603050405020304" pitchFamily="18" charset="0"/>
                <a:cs typeface="Ezra SIL" panose="02000400000000000000" pitchFamily="2" charset="-79"/>
              </a:rPr>
              <a:t>אָסָף</a:t>
            </a: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dirty="0">
                <a:solidFill>
                  <a:srgbClr val="4472C4"/>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ሰብሳቢ</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አዛርፈን</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ስናነበው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በሰብሳቢነት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ትልቅ</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የተጐናጸፈ</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p>
          <a:p>
            <a:pPr marL="742950" lvl="1" indent="-285750" algn="just">
              <a:lnSpc>
                <a:spcPct val="150000"/>
              </a:lnSpc>
              <a:buFont typeface="Wingdings" panose="05000000000000000000" pitchFamily="2" charset="2"/>
              <a:buChar char="q"/>
            </a:pP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b="1" dirty="0" err="1">
                <a:effectLst/>
                <a:latin typeface="Power Geez Unicode1" panose="00000400000000000000" pitchFamily="2" charset="0"/>
                <a:ea typeface="Times New Roman" panose="02020603050405020304" pitchFamily="18" charset="0"/>
                <a:cs typeface="Times New Roman" panose="02020603050405020304" pitchFamily="18" charset="0"/>
              </a:rPr>
              <a:t>አቢጋኤል</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he-IL" dirty="0">
                <a:effectLst/>
                <a:latin typeface="VG2 Main" panose="020B7200000000000000" pitchFamily="34" charset="0"/>
                <a:ea typeface="Times New Roman" panose="02020603050405020304" pitchFamily="18" charset="0"/>
                <a:cs typeface="Ezra SIL" panose="02000400000000000000" pitchFamily="2" charset="-79"/>
              </a:rPr>
              <a:t>אֲבִיגַיִל</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dirty="0">
                <a:effectLst/>
                <a:latin typeface="Garamond" panose="02020404030301010803" pitchFamily="18" charset="0"/>
                <a:ea typeface="Times New Roman" panose="02020603050405020304" pitchFamily="18" charset="0"/>
                <a:cs typeface="Times New Roman" panose="02020603050405020304" pitchFamily="18" charset="0"/>
              </a:rPr>
              <a:t>(1</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ዜና. </a:t>
            </a:r>
            <a:r>
              <a:rPr lang="en-GB" dirty="0">
                <a:effectLst/>
                <a:latin typeface="Garamond" panose="02020404030301010803" pitchFamily="18" charset="0"/>
                <a:ea typeface="Times New Roman" panose="02020603050405020304" pitchFamily="18" charset="0"/>
                <a:cs typeface="Times New Roman" panose="02020603050405020304" pitchFamily="18" charset="0"/>
              </a:rPr>
              <a:t>2</a:t>
            </a:r>
            <a:r>
              <a:rPr lang="en-GB" dirty="0">
                <a:effectLst/>
                <a:latin typeface="Garamond" panose="02020404030301010803" pitchFamily="18" charset="0"/>
                <a:ea typeface="Times New Roman" panose="02020603050405020304" pitchFamily="18" charset="0"/>
                <a:cs typeface="Nyala" panose="02000504070300020003" pitchFamily="2" charset="0"/>
              </a:rPr>
              <a:t>÷</a:t>
            </a:r>
            <a:r>
              <a:rPr lang="en-GB" dirty="0">
                <a:effectLst/>
                <a:latin typeface="Garamond" panose="02020404030301010803" pitchFamily="18" charset="0"/>
                <a:ea typeface="Times New Roman" panose="02020603050405020304" pitchFamily="18" charset="0"/>
                <a:cs typeface="Times New Roman" panose="02020603050405020304" pitchFamily="18" charset="0"/>
              </a:rPr>
              <a:t>16)</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አቢ</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he-IL" dirty="0">
                <a:effectLst/>
                <a:latin typeface="VG2 Main" panose="020B7200000000000000" pitchFamily="34" charset="0"/>
                <a:ea typeface="Times New Roman" panose="02020603050405020304" pitchFamily="18" charset="0"/>
                <a:cs typeface="Ezra SIL" panose="02000400000000000000" pitchFamily="2" charset="-79"/>
              </a:rPr>
              <a:t>אָב</a:t>
            </a: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እንዲሁም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ጋኤል</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ጠንካራ</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በተገናኝ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የጥንካሬ</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ወይም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እጅግ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በጣም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ጠንከር</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ያለች</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አቢጋኤል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የሴት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መጠሪያ</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መሆኑን</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ልብ</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ይሏል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ነሽ</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ሳይሆን</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ከፍ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ያልሽ</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ነሽ</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ብቻ</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በዐማርኛ</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ላቀች</a:t>
            </a:r>
            <a:r>
              <a:rPr lang="en-GB"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ከሚለው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ጋር</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የሚጐዳኝ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ይመስላል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68582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787CD9-C106-F8EF-3BA9-4DBBFB12580A}"/>
              </a:ext>
            </a:extLst>
          </p:cNvPr>
          <p:cNvSpPr txBox="1"/>
          <p:nvPr/>
        </p:nvSpPr>
        <p:spPr>
          <a:xfrm>
            <a:off x="643466" y="408092"/>
            <a:ext cx="11057468" cy="1878848"/>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በዐጭሩ</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20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ወይም</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በዕብራይስጡ</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he-IL" sz="2000" dirty="0">
                <a:effectLst/>
                <a:latin typeface="VG2 Main" panose="020B7200000000000000" pitchFamily="34" charset="0"/>
                <a:ea typeface="Times New Roman" panose="02020603050405020304" pitchFamily="18" charset="0"/>
                <a:cs typeface="Ezra SIL" panose="02000400000000000000" pitchFamily="2" charset="-79"/>
              </a:rPr>
              <a:t>אָב</a:t>
            </a:r>
            <a:r>
              <a:rPr lang="en-GB" sz="20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አባትነትን</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የሚያሳይ</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ሳይሆን</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ከፊት</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ለፊቱ</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ያለውን</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የሚያደምቅ</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ቅጽል</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ይኸውም</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የጥንካሬ</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sz="20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20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በጣም</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ጠንካራ</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የመሰብሰብ</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sz="20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20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እጅግ</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በጣም</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ታላቅ</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ሰብሳቢ</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ከፍ</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የማለት</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sz="20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20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እጅግ</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በጣም</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ከፍ</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ያለች</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ወዘተ</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0998E38-125D-5627-81EA-885781AA4D94}"/>
              </a:ext>
            </a:extLst>
          </p:cNvPr>
          <p:cNvSpPr txBox="1"/>
          <p:nvPr/>
        </p:nvSpPr>
        <p:spPr>
          <a:xfrm>
            <a:off x="643466" y="2778057"/>
            <a:ext cx="10803467" cy="3274294"/>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በኢሳይያስ</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9</a:t>
            </a:r>
            <a:r>
              <a:rPr lang="en-GB" sz="2000" dirty="0">
                <a:effectLst/>
                <a:latin typeface="Garamond" panose="02020404030301010803" pitchFamily="18" charset="0"/>
                <a:ea typeface="Times New Roman" panose="02020603050405020304" pitchFamily="18" charset="0"/>
                <a:cs typeface="Nyala" panose="02000504070300020003" pitchFamily="2" charset="0"/>
              </a:rPr>
              <a:t>÷</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6</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ላይ</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Times New Roman" panose="02020603050405020304" pitchFamily="18" charset="0"/>
                <a:ea typeface="Malgun Gothic" panose="020B0503020000020004" pitchFamily="34" charset="-127"/>
              </a:rPr>
              <a:t>“</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የዘላለም</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sz="2000" dirty="0">
                <a:effectLst/>
                <a:latin typeface="Times New Roman" panose="02020603050405020304" pitchFamily="18" charset="0"/>
                <a:ea typeface="Malgun Gothic" panose="020B0503020000020004" pitchFamily="34" charset="-127"/>
              </a:rPr>
              <a:t>”</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ተብሎ</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የተተረጐመው</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በዕብራይስጥ</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Times New Roman" panose="02020603050405020304" pitchFamily="18" charset="0"/>
                <a:ea typeface="Malgun Gothic" panose="020B0503020000020004" pitchFamily="34" charset="-127"/>
              </a:rPr>
              <a:t>“</a:t>
            </a:r>
            <a:r>
              <a:rPr lang="en-GB" sz="2000" b="1" dirty="0" err="1">
                <a:effectLst/>
                <a:latin typeface="Power Geez Unicode1" panose="00000400000000000000" pitchFamily="2" charset="0"/>
                <a:ea typeface="Times New Roman" panose="02020603050405020304" pitchFamily="18" charset="0"/>
                <a:cs typeface="Times New Roman" panose="02020603050405020304" pitchFamily="18" charset="0"/>
              </a:rPr>
              <a:t>አቢአድ</a:t>
            </a:r>
            <a:r>
              <a:rPr lang="en-GB" sz="2000" dirty="0">
                <a:effectLst/>
                <a:latin typeface="Times New Roman" panose="02020603050405020304" pitchFamily="18" charset="0"/>
                <a:ea typeface="Malgun Gothic" panose="020B0503020000020004" pitchFamily="34" charset="-127"/>
              </a:rPr>
              <a:t>”</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Times New Roman" panose="02020603050405020304" pitchFamily="18" charset="0"/>
                <a:ea typeface="Times New Roman" panose="02020603050405020304" pitchFamily="18" charset="0"/>
              </a:rPr>
              <a:t>“</a:t>
            </a:r>
            <a:r>
              <a:rPr lang="he-IL" sz="2000" dirty="0">
                <a:effectLst/>
                <a:latin typeface="Times New Roman" panose="02020603050405020304" pitchFamily="18" charset="0"/>
                <a:ea typeface="Times New Roman" panose="02020603050405020304" pitchFamily="18" charset="0"/>
                <a:cs typeface="Ezra SIL" panose="02000400000000000000" pitchFamily="2" charset="-79"/>
              </a:rPr>
              <a:t>אֲבִיעַ֖ד</a:t>
            </a:r>
            <a:r>
              <a:rPr lang="en-GB" sz="2000" dirty="0">
                <a:effectLst/>
                <a:latin typeface="Times New Roman" panose="02020603050405020304" pitchFamily="18" charset="0"/>
                <a:ea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ከሁለት</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ስሞች</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የተጫፈረ</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Times New Roman" panose="02020603050405020304" pitchFamily="18" charset="0"/>
                <a:ea typeface="Times New Roman" panose="02020603050405020304" pitchFamily="18" charset="0"/>
              </a:rPr>
              <a:t>(</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የተዛረፈ</a:t>
            </a:r>
            <a:r>
              <a:rPr lang="en-GB" sz="2000" dirty="0">
                <a:effectLst/>
                <a:latin typeface="Times New Roman" panose="02020603050405020304" pitchFamily="18" charset="0"/>
                <a:ea typeface="Times New Roman" panose="02020603050405020304" pitchFamily="18" charset="0"/>
              </a:rPr>
              <a:t>)</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ስያሜ</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ይኸውም</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Times New Roman" panose="02020603050405020304" pitchFamily="18" charset="0"/>
                <a:ea typeface="Malgun Gothic" panose="020B0503020000020004" pitchFamily="34" charset="-127"/>
              </a:rPr>
              <a:t>“</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2000" dirty="0">
                <a:effectLst/>
                <a:latin typeface="Times New Roman" panose="02020603050405020304" pitchFamily="18" charset="0"/>
                <a:ea typeface="Malgun Gothic" panose="020B0503020000020004" pitchFamily="34" charset="-127"/>
              </a:rPr>
              <a:t>”</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እና</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Times New Roman" panose="02020603050405020304" pitchFamily="18" charset="0"/>
                <a:ea typeface="Malgun Gothic" panose="020B0503020000020004" pitchFamily="34" charset="-127"/>
              </a:rPr>
              <a:t>“</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አድ</a:t>
            </a:r>
            <a:r>
              <a:rPr lang="en-GB" sz="2000" dirty="0">
                <a:effectLst/>
                <a:latin typeface="Times New Roman" panose="02020603050405020304" pitchFamily="18" charset="0"/>
                <a:ea typeface="Malgun Gothic" panose="020B0503020000020004" pitchFamily="34" charset="-127"/>
              </a:rPr>
              <a:t>”</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ከሚሉት</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ቃላት</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ሲሆን</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ትርጒሙም</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Times New Roman" panose="02020603050405020304" pitchFamily="18" charset="0"/>
                <a:ea typeface="Malgun Gothic" panose="020B0503020000020004" pitchFamily="34" charset="-127"/>
              </a:rPr>
              <a:t>“</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sz="2000" dirty="0">
                <a:effectLst/>
                <a:latin typeface="Times New Roman" panose="02020603050405020304" pitchFamily="18" charset="0"/>
                <a:ea typeface="Malgun Gothic" panose="020B0503020000020004" pitchFamily="34" charset="-127"/>
              </a:rPr>
              <a:t>”</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እና</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Times New Roman" panose="02020603050405020304" pitchFamily="18" charset="0"/>
                <a:ea typeface="Malgun Gothic" panose="020B0503020000020004" pitchFamily="34" charset="-127"/>
              </a:rPr>
              <a:t>“</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ዘላለም</a:t>
            </a:r>
            <a:r>
              <a:rPr lang="en-GB" sz="2000" dirty="0">
                <a:effectLst/>
                <a:latin typeface="Times New Roman" panose="02020603050405020304" pitchFamily="18" charset="0"/>
                <a:ea typeface="Malgun Gothic" panose="020B0503020000020004" pitchFamily="34" charset="-127"/>
              </a:rPr>
              <a:t>”</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ይህ</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ደግሞ</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ከላይ</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እንዳየናቸው</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Times New Roman" panose="02020603050405020304" pitchFamily="18" charset="0"/>
                <a:ea typeface="Times New Roman" panose="02020603050405020304" pitchFamily="18" charset="0"/>
              </a:rPr>
              <a:t>“</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በአባት</a:t>
            </a:r>
            <a:r>
              <a:rPr lang="en-GB" sz="2000" dirty="0">
                <a:effectLst/>
                <a:latin typeface="Times New Roman" panose="02020603050405020304" pitchFamily="18" charset="0"/>
                <a:ea typeface="Times New Roman" panose="02020603050405020304" pitchFamily="18" charset="0"/>
              </a:rPr>
              <a:t>”</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ተጫፈሩ</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ስያሜዎች</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የክርስቶስን</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ዘላለማዊነት</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የሚያሳይ</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እንጂ</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Times New Roman" panose="02020603050405020304" pitchFamily="18" charset="0"/>
                <a:ea typeface="Times New Roman" panose="02020603050405020304" pitchFamily="18" charset="0"/>
              </a:rPr>
              <a:t>(“</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የዘላለም</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መሆኑን</a:t>
            </a:r>
            <a:r>
              <a:rPr lang="en-GB" sz="2000" dirty="0">
                <a:effectLst/>
                <a:latin typeface="Times New Roman" panose="02020603050405020304" pitchFamily="18" charset="0"/>
                <a:ea typeface="Times New Roman" panose="02020603050405020304" pitchFamily="18" charset="0"/>
              </a:rPr>
              <a:t>”</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ዕብራውያን</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1÷2</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11</a:t>
            </a:r>
            <a:r>
              <a:rPr lang="en-US" sz="2000" dirty="0">
                <a:effectLst/>
                <a:latin typeface="Times New Roman" panose="02020603050405020304" pitchFamily="18" charset="0"/>
                <a:ea typeface="Times New Roman" panose="02020603050405020304" pitchFamily="18" charset="0"/>
              </a:rPr>
              <a:t>÷</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3</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ራእይ</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1</a:t>
            </a:r>
            <a:r>
              <a:rPr lang="en-US" sz="2000" dirty="0">
                <a:effectLst/>
                <a:latin typeface="Times New Roman" panose="02020603050405020304" pitchFamily="18" charset="0"/>
                <a:ea typeface="Times New Roman" panose="02020603050405020304" pitchFamily="18" charset="0"/>
              </a:rPr>
              <a:t>÷</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7-8</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1</a:t>
            </a:r>
            <a:r>
              <a:rPr lang="en-US" sz="2000" dirty="0">
                <a:effectLst/>
                <a:latin typeface="Times New Roman" panose="02020603050405020304" pitchFamily="18" charset="0"/>
                <a:ea typeface="Times New Roman" panose="02020603050405020304" pitchFamily="18" charset="0"/>
              </a:rPr>
              <a:t>÷</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17-18</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2</a:t>
            </a:r>
            <a:r>
              <a:rPr lang="en-US" sz="2000" dirty="0">
                <a:effectLst/>
                <a:latin typeface="Times New Roman" panose="02020603050405020304" pitchFamily="18" charset="0"/>
                <a:ea typeface="Times New Roman" panose="02020603050405020304" pitchFamily="18" charset="0"/>
              </a:rPr>
              <a:t>÷</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8</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22</a:t>
            </a:r>
            <a:r>
              <a:rPr lang="en-US" sz="2000" dirty="0">
                <a:effectLst/>
                <a:latin typeface="Times New Roman" panose="02020603050405020304" pitchFamily="18" charset="0"/>
                <a:ea typeface="Times New Roman" panose="02020603050405020304" pitchFamily="18" charset="0"/>
              </a:rPr>
              <a:t>÷</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13)</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Times New Roman" panose="02020603050405020304" pitchFamily="18" charset="0"/>
                <a:ea typeface="Times New Roman" panose="02020603050405020304" pitchFamily="18" charset="0"/>
              </a:rPr>
              <a:t>“</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2000" dirty="0">
                <a:effectLst/>
                <a:latin typeface="Times New Roman" panose="02020603050405020304" pitchFamily="18" charset="0"/>
                <a:ea typeface="Times New Roman" panose="02020603050405020304" pitchFamily="18" charset="0"/>
              </a:rPr>
              <a:t>”</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ወይም</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Times New Roman" panose="02020603050405020304" pitchFamily="18" charset="0"/>
                <a:ea typeface="Times New Roman" panose="02020603050405020304" pitchFamily="18" charset="0"/>
              </a:rPr>
              <a:t>“</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አብና</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አኃዛዊ</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አንድነት</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አላቸው</a:t>
            </a:r>
            <a:r>
              <a:rPr lang="en-GB" sz="2000" dirty="0">
                <a:effectLst/>
                <a:latin typeface="Times New Roman" panose="02020603050405020304" pitchFamily="18" charset="0"/>
                <a:ea typeface="Times New Roman" panose="02020603050405020304" pitchFamily="18" charset="0"/>
              </a:rPr>
              <a:t>”</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ወይም</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ደግሞ</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ክርስቶስ</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ራሱ</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Times New Roman" panose="02020603050405020304" pitchFamily="18" charset="0"/>
                <a:ea typeface="Times New Roman" panose="02020603050405020304" pitchFamily="18" charset="0"/>
              </a:rPr>
              <a:t>“</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የኢየሱስ</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ክርስቶስ</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አምላክና</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sz="2000" dirty="0">
                <a:effectLst/>
                <a:latin typeface="Times New Roman" panose="02020603050405020304" pitchFamily="18" charset="0"/>
                <a:ea typeface="Times New Roman" panose="02020603050405020304" pitchFamily="18" charset="0"/>
              </a:rPr>
              <a:t>”</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(2</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ቆሮንቶስ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1</a:t>
            </a:r>
            <a:r>
              <a:rPr lang="en-GB" sz="2000" dirty="0">
                <a:effectLst/>
                <a:latin typeface="Garamond" panose="02020404030301010803" pitchFamily="18" charset="0"/>
                <a:ea typeface="Times New Roman" panose="02020603050405020304" pitchFamily="18" charset="0"/>
                <a:cs typeface="Nyala" panose="02000504070300020003" pitchFamily="2" charset="0"/>
              </a:rPr>
              <a:t>÷</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3)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የሚል</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አንዳችም</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ዐሳብ</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የለውም</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a:t>
            </a:r>
            <a:endParaRPr lang="en-US" sz="24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76745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D6FC0E5-F000-C37D-AC00-91A39ADF4D5B}"/>
              </a:ext>
            </a:extLst>
          </p:cNvPr>
          <p:cNvSpPr txBox="1"/>
          <p:nvPr/>
        </p:nvSpPr>
        <p:spPr>
          <a:xfrm>
            <a:off x="491064" y="436129"/>
            <a:ext cx="11209868" cy="2946704"/>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b="1" dirty="0" err="1">
                <a:effectLst/>
                <a:latin typeface="Power Geez Unicode1" panose="00000400000000000000" pitchFamily="2" charset="0"/>
                <a:ea typeface="Times New Roman" panose="02020603050405020304" pitchFamily="18" charset="0"/>
                <a:cs typeface="Times New Roman" panose="02020603050405020304" pitchFamily="18" charset="0"/>
              </a:rPr>
              <a:t>ሁለተኛ</a:t>
            </a:r>
            <a:r>
              <a:rPr lang="en-GB" b="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dirty="0">
                <a:effectLst/>
                <a:latin typeface="Times New Roman" panose="02020603050405020304" pitchFamily="18" charset="0"/>
                <a:ea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በዕብራይስጡ</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dirty="0">
                <a:effectLst/>
                <a:latin typeface="Times New Roman" panose="02020603050405020304" pitchFamily="18" charset="0"/>
                <a:ea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Times New Roman" panose="02020603050405020304" pitchFamily="18" charset="0"/>
              </a:rPr>
              <a:t>“</a:t>
            </a:r>
            <a:r>
              <a:rPr lang="he-IL" dirty="0">
                <a:effectLst/>
                <a:latin typeface="VG2 Main" panose="020B7200000000000000" pitchFamily="34" charset="0"/>
                <a:ea typeface="Times New Roman" panose="02020603050405020304" pitchFamily="18" charset="0"/>
                <a:cs typeface="Ezra SIL" panose="02000400000000000000" pitchFamily="2" charset="-79"/>
              </a:rPr>
              <a:t>אָב</a:t>
            </a:r>
            <a:r>
              <a:rPr lang="en-GB" dirty="0">
                <a:effectLst/>
                <a:latin typeface="Times New Roman" panose="02020603050405020304" pitchFamily="18" charset="0"/>
                <a:ea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ዘላለማዊነቱን</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የሚያዳምቅ</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የሚቀጽል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ሳይሆን</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መሆኑን</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የሚያመላክት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ቢባል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እንኳ</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እንደዚያ</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እንዳልሆነ</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በተራ</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ቍጥር</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ላይ</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በግልጽ</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ለማሳየት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ሞክረናል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እግዚአብሔር</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አይደለም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እኔ</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ነኝ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ነገር</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ግን</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እኔ</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የራሴ</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አይደለሁም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dirty="0">
                <a:effectLst/>
                <a:latin typeface="Times New Roman" panose="02020603050405020304" pitchFamily="18" charset="0"/>
                <a:ea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ቢሆን</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እንኳ</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ከፍጡራን</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ጋር</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ያለውን</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ግንኙነት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አመላካች</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እንጂ</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ራሱ</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አባቴ</a:t>
            </a:r>
            <a:r>
              <a:rPr lang="en-GB" dirty="0">
                <a:effectLst/>
                <a:latin typeface="Times New Roman" panose="02020603050405020304" pitchFamily="18" charset="0"/>
                <a:ea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አይደለም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ልጅ</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እናት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ወንድም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እኅት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ወዘተ</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የሚሉት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ቃላት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ግንኙነትን</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አመላካች</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እንዲሁም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ተነጻጻሪ</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ቃላት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መሆናቸው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በጭራሽ</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ሊጠፋን</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አይገባም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ልጆችን</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ታሳቢ</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ያደረገ</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ወይም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የፍጥረት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ባለቤትነቱን</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አስተማሪ</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a:t>
            </a:r>
            <a:endParaRPr lang="en-US" sz="14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BC71918-6EBA-F18C-C608-64F5B90C30F8}"/>
              </a:ext>
            </a:extLst>
          </p:cNvPr>
          <p:cNvSpPr txBox="1"/>
          <p:nvPr/>
        </p:nvSpPr>
        <p:spPr>
          <a:xfrm>
            <a:off x="491064" y="3429000"/>
            <a:ext cx="10989736" cy="2540567"/>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ሦስተኛ</a:t>
            </a:r>
            <a:r>
              <a:rPr lang="en-GB" sz="1800" b="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የድርጅቱ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መምህራን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ከላይ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ያየናቸውን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ቋንቋዊና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ዐውዳዊ</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ማስረጃዎች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እያቀረብን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ስንሞግታቸው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እውነታውን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በሚከተለው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መልክ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ዋዛ</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አድበስብሰው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ይፈልጋሉ</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ይኸውም</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ክፍሉ</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ናቸው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ባይል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እንኳ</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ሊገልጽ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ይችላል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p>
          <a:p>
            <a:pPr marL="285750" marR="0" indent="-285750" algn="just">
              <a:lnSpc>
                <a:spcPct val="150000"/>
              </a:lnSpc>
              <a:buFont typeface="Wingdings" panose="05000000000000000000" pitchFamily="2" charset="2"/>
              <a:buChar char="q"/>
            </a:pP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ወይም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ከተባለ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ደግሞ</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የሚከተለው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ሙግት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ስሙር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ሙግት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ስለሚሆን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ሃይማኖታችንን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ያጸናልናል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ብለው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ያስባሉ</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ይኸውም</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b="1" dirty="0">
                <a:effectLst/>
                <a:latin typeface="Garamond" panose="02020404030301010803" pitchFamily="18" charset="0"/>
                <a:ea typeface="Times New Roman" panose="02020603050405020304" pitchFamily="18" charset="0"/>
                <a:cs typeface="Times New Roman" panose="02020603050405020304" pitchFamily="18" charset="0"/>
              </a:rPr>
              <a:t>(1)</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እግዚአብሔር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ብቻ</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ካለ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b="1" dirty="0">
                <a:effectLst/>
                <a:latin typeface="Garamond" panose="02020404030301010803" pitchFamily="18" charset="0"/>
                <a:ea typeface="Times New Roman" panose="02020603050405020304" pitchFamily="18" charset="0"/>
                <a:cs typeface="Times New Roman" panose="02020603050405020304" pitchFamily="18" charset="0"/>
              </a:rPr>
              <a:t>(2)</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ይህም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እግዚአብሔር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b="1" dirty="0">
                <a:effectLst/>
                <a:latin typeface="Garamond" panose="02020404030301010803" pitchFamily="18" charset="0"/>
                <a:ea typeface="Times New Roman" panose="02020603050405020304" pitchFamily="18" charset="0"/>
                <a:cs typeface="Times New Roman" panose="02020603050405020304" pitchFamily="18" charset="0"/>
              </a:rPr>
              <a:t>(3)</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እግዚአብሔር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ስለሆነ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ብቻ</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2521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159BFD-78FC-D6A7-3835-0BCF1EC42359}"/>
              </a:ext>
            </a:extLst>
          </p:cNvPr>
          <p:cNvSpPr txBox="1"/>
          <p:nvPr/>
        </p:nvSpPr>
        <p:spPr>
          <a:xfrm>
            <a:off x="575733" y="735843"/>
            <a:ext cx="10905068" cy="5024196"/>
          </a:xfrm>
          <a:prstGeom prst="rect">
            <a:avLst/>
          </a:prstGeom>
          <a:noFill/>
        </p:spPr>
        <p:txBody>
          <a:bodyPr wrap="square">
            <a:spAutoFit/>
          </a:bodyPr>
          <a:lstStyle/>
          <a:p>
            <a:pPr marL="0" marR="0" indent="457200" algn="just">
              <a:lnSpc>
                <a:spcPct val="150000"/>
              </a:lnSpc>
              <a:buNone/>
            </a:pP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ይህ</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የተሳሳተ</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ሙግት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ምክንያቱም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በእነዚህ</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የሙግት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ነጥቦች</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ውስጥ</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a:t>
            </a: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አምላክ</a:t>
            </a: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የሚሉት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ቃላት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አምላካዊ</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ባሕርይን</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Garamond" panose="02020404030301010803" pitchFamily="18" charset="0"/>
                <a:ea typeface="Times New Roman" panose="02020603050405020304" pitchFamily="18" charset="0"/>
                <a:cs typeface="Times New Roman" panose="02020603050405020304" pitchFamily="18" charset="0"/>
              </a:rPr>
              <a:t>(person)</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በሚያመለክት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መልኩ</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ጥቅም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ላይ</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አልዋሉም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በአንድ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ሙግት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ውስጥ</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የምንጠቀምባቸው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ቃላት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የተለያየ</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ትርጓሜ</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የሚወክሉ</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ከሆነ</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አሻሚ</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ትርጓሜ</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ተፋልሶ</a:t>
            </a: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በእንግሊዝኛው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Garamond" panose="02020404030301010803" pitchFamily="18" charset="0"/>
                <a:ea typeface="Times New Roman" panose="02020603050405020304" pitchFamily="18" charset="0"/>
                <a:cs typeface="Times New Roman" panose="02020603050405020304" pitchFamily="18" charset="0"/>
              </a:rPr>
              <a:t>Fallacy of equivocation</a:t>
            </a: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dirty="0">
                <a:effectLst/>
                <a:latin typeface="Garamond" panose="02020404030301010803" pitchFamily="18"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ስለሚከሠት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ሙግቱ</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ስሑት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ሙግት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በመሆን</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ይጠናቀቃል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አሻሚ</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ትርጓሜ</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ተፋልሶ</a:t>
            </a: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ምን</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ሆነ</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የሚያሳዩ</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ሁለት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አስረጆችን</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እንመልከት</a:t>
            </a: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a:p>
            <a:pPr marL="1371600" lvl="2" indent="-457200" algn="just">
              <a:lnSpc>
                <a:spcPct val="150000"/>
              </a:lnSpc>
              <a:buAutoNum type="arabicParenBoth"/>
            </a:pP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ከእንስሳት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ኋላ</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ያለው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አካል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ጭራ</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ይባላል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p>
          <a:p>
            <a:pPr marL="1371600" lvl="2" indent="-457200" algn="just">
              <a:lnSpc>
                <a:spcPct val="150000"/>
              </a:lnSpc>
              <a:buAutoNum type="arabicParenBoth"/>
            </a:pP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ከአውሮፕላን</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ኋላ</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ያለው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አካል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የአውሮፕላኑ</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ጭራ</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p>
          <a:p>
            <a:pPr marL="1371600" lvl="2" indent="-457200" algn="just">
              <a:lnSpc>
                <a:spcPct val="150000"/>
              </a:lnSpc>
              <a:buAutoNum type="arabicParenBoth"/>
            </a:pP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ስለዚህ</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ከአውሮፕላን</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ኋላ</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ያለው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አካል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የእንስሳ</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አካል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p>
          <a:p>
            <a:pPr marR="0" algn="just">
              <a:lnSpc>
                <a:spcPct val="150000"/>
              </a:lnSpc>
            </a:pP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በዚህ</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ሙግት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ውስጥ</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ጭራ</a:t>
            </a: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ሁለት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የተለያየ</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ትርጒም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ወክሎ</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ጥቅም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ላይ</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የዋለው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ሌላ</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አስረጅ</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እንጨምር</a:t>
            </a: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Garamond" panose="02020404030301010803" pitchFamily="18" charset="0"/>
                <a:ea typeface="Times New Roman" panose="02020603050405020304" pitchFamily="18" charset="0"/>
                <a:cs typeface="Times New Roman" panose="02020603050405020304" pitchFamily="18" charset="0"/>
              </a:rPr>
              <a:t>(1)</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ቀበሮ</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ሁሉ</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ሥጋ</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እንስሳ</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Garamond" panose="02020404030301010803" pitchFamily="18" charset="0"/>
                <a:ea typeface="Times New Roman" panose="02020603050405020304" pitchFamily="18" charset="0"/>
                <a:cs typeface="Times New Roman" panose="02020603050405020304" pitchFamily="18" charset="0"/>
              </a:rPr>
              <a:t>(2)</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ንጉሥ</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ሄሮድስን</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ቀበሮ</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ብሎታል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Garamond" panose="02020404030301010803" pitchFamily="18" charset="0"/>
                <a:ea typeface="Times New Roman" panose="02020603050405020304" pitchFamily="18" charset="0"/>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ሉቃስ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Garamond" panose="02020404030301010803" pitchFamily="18" charset="0"/>
                <a:ea typeface="Times New Roman" panose="02020603050405020304" pitchFamily="18" charset="0"/>
                <a:cs typeface="Times New Roman" panose="02020603050405020304" pitchFamily="18" charset="0"/>
              </a:rPr>
              <a:t>13</a:t>
            </a:r>
            <a:r>
              <a:rPr lang="en-GB" dirty="0">
                <a:effectLst/>
                <a:latin typeface="Garamond" panose="02020404030301010803" pitchFamily="18" charset="0"/>
                <a:ea typeface="Times New Roman" panose="02020603050405020304" pitchFamily="18" charset="0"/>
                <a:cs typeface="Nyala" panose="02000504070300020003" pitchFamily="2" charset="0"/>
              </a:rPr>
              <a:t>÷</a:t>
            </a:r>
            <a:r>
              <a:rPr lang="en-GB" dirty="0">
                <a:effectLst/>
                <a:latin typeface="Garamond" panose="02020404030301010803" pitchFamily="18" charset="0"/>
                <a:ea typeface="Times New Roman" panose="02020603050405020304" pitchFamily="18" charset="0"/>
                <a:cs typeface="Times New Roman" panose="02020603050405020304" pitchFamily="18" charset="0"/>
              </a:rPr>
              <a:t>32)</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Garamond" panose="02020404030301010803" pitchFamily="18" charset="0"/>
                <a:ea typeface="Times New Roman" panose="02020603050405020304" pitchFamily="18" charset="0"/>
                <a:cs typeface="Times New Roman" panose="02020603050405020304" pitchFamily="18" charset="0"/>
              </a:rPr>
              <a:t>(3)</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ስለዚህ</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ንጉሥ</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ሄሮድስ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ሥጋ</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እንስሳ</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በዚህም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ሙግት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ውስጥ</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ቀበሮ</a:t>
            </a: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ሁለት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የተለያየ</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ትርጒም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ወክሎ</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ጥቅም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ላይ</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የዋለው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ስለዚህ</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የእነዚህ</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ሙግቶች</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600" dirty="0" err="1">
                <a:effectLst/>
                <a:latin typeface="Power Geez Unicode1" panose="00000400000000000000" pitchFamily="2" charset="0"/>
                <a:ea typeface="Times New Roman" panose="02020603050405020304" pitchFamily="18" charset="0"/>
                <a:cs typeface="Times New Roman" panose="02020603050405020304" pitchFamily="18" charset="0"/>
              </a:rPr>
              <a:t>ድምዳሜ</a:t>
            </a:r>
            <a:r>
              <a:rPr lang="en-GB" sz="16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600" dirty="0" err="1">
                <a:effectLst/>
                <a:latin typeface="Power Geez Unicode1" panose="00000400000000000000" pitchFamily="2" charset="0"/>
                <a:ea typeface="Times New Roman" panose="02020603050405020304" pitchFamily="18" charset="0"/>
                <a:cs typeface="Times New Roman" panose="02020603050405020304" pitchFamily="18" charset="0"/>
              </a:rPr>
              <a:t>ስሕተት</a:t>
            </a:r>
            <a:r>
              <a:rPr lang="en-GB" sz="16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600" dirty="0" err="1">
                <a:effectLst/>
                <a:latin typeface="Power Geez Unicode1" panose="00000400000000000000" pitchFamily="2" charset="0"/>
                <a:ea typeface="Times New Roman" panose="02020603050405020304" pitchFamily="18" charset="0"/>
                <a:cs typeface="Times New Roman" panose="02020603050405020304" pitchFamily="18" charset="0"/>
              </a:rPr>
              <a:t>ሆኗል</a:t>
            </a:r>
            <a:r>
              <a:rPr lang="en-GB" sz="16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81533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43FEFB-6B3C-6AA8-B154-C4E0080B1A37}"/>
              </a:ext>
            </a:extLst>
          </p:cNvPr>
          <p:cNvSpPr txBox="1"/>
          <p:nvPr/>
        </p:nvSpPr>
        <p:spPr>
          <a:xfrm>
            <a:off x="567266" y="1117600"/>
            <a:ext cx="10930467" cy="2350965"/>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ሌላ</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አስረጅ</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እንመልከት</a:t>
            </a:r>
            <a:r>
              <a:rPr lang="en-GB" sz="20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(1)</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ካሱ</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(2)</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ቸርነት</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(3)</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ስለዚህ</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ካሱ</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ቸርነት</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የሚባለው</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በቍጥር</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1</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እና</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2</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ውስጥ</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sz="20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ባሕርይን</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በሚያሳይ</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መልክ</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ጥቅም</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ላይ</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የዋለ</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ሲሆን</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የሙግቱ</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ድምዳሜ</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በሆነው</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በቍጥር</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3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ላይ</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ግን</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sz="20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አካልን</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በሚወክል</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መልክ</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ጥቅም</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ላይ</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ውሏል</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ግለሰቦቹ</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የአባትነት</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ባሕርይ</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(nature)</a:t>
            </a:r>
            <a:r>
              <a:rPr lang="en-GB" sz="2000" dirty="0">
                <a:solidFill>
                  <a:srgbClr val="4472C4"/>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ያላቸው</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መሆኑ</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ግለሰብ</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(person)</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እንዲሆኑ</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አያደርጋቸውም</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ይህ</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ዐይነቱ</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ሙግት</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ርቱዕ</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ሙግት</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አይደለም</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endParaRPr lang="en-US" sz="24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8CA310F-3EA8-E750-53DF-F5397FF31988}"/>
              </a:ext>
            </a:extLst>
          </p:cNvPr>
          <p:cNvSpPr txBox="1"/>
          <p:nvPr/>
        </p:nvSpPr>
        <p:spPr>
          <a:xfrm>
            <a:off x="567266" y="4099938"/>
            <a:ext cx="11057467" cy="1417183"/>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2000" b="1" dirty="0" err="1">
                <a:effectLst/>
                <a:latin typeface="Power Geez Unicode1" panose="00000400000000000000" pitchFamily="2" charset="0"/>
                <a:ea typeface="Malgun Gothic" panose="020B0503020000020004" pitchFamily="34" charset="-127"/>
                <a:cs typeface="Malgun Gothic" panose="020B0503020000020004" pitchFamily="34" charset="-127"/>
              </a:rPr>
              <a:t>አራተኛ</a:t>
            </a:r>
            <a:r>
              <a:rPr lang="en-GB" sz="2000" b="1"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ልብ</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ልናደርገው</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የሚገባን</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ሌላው</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ነጥብ</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ይህ</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ሙግት</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ባሕርይንና</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አካልን</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ክፉኛ</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ማጠናከሩ</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ማምታታቱ</a:t>
            </a:r>
            <a:r>
              <a:rPr lang="en-GB" sz="2000" dirty="0">
                <a:effectLst/>
                <a:latin typeface="Garamond" panose="02020404030301010803" pitchFamily="18" charset="0"/>
                <a:ea typeface="Times New Roman" panose="02020603050405020304" pitchFamily="18" charset="0"/>
                <a:cs typeface="Times New Roman" panose="02020603050405020304" pitchFamily="18" charset="0"/>
              </a:rPr>
              <a:t>)</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ብቻ</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ሳይሆን</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እግዚአብሔር</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አብ</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ብቻ</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አባት</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ነው</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ልጁ</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አባት</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ከተባለ</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ደግሞ</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እርሱ</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ራሱ</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ዞሮ</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መምጣቱን</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የሚያሳይ</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ነው</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የሚለውን</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ስሑት</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መቅድመ</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ልባዌ</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ታሳቢ</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ያደረገ</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ሙግት</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2000" dirty="0" err="1">
                <a:effectLst/>
                <a:latin typeface="Power Geez Unicode1" panose="00000400000000000000" pitchFamily="2" charset="0"/>
                <a:ea typeface="Malgun Gothic" panose="020B0503020000020004" pitchFamily="34" charset="-127"/>
                <a:cs typeface="Malgun Gothic" panose="020B0503020000020004" pitchFamily="34" charset="-127"/>
              </a:rPr>
              <a:t>ነው</a:t>
            </a:r>
            <a:r>
              <a:rPr lang="en-GB" sz="2000" dirty="0">
                <a:effectLst/>
                <a:latin typeface="Power Geez Unicode1" panose="00000400000000000000" pitchFamily="2" charset="0"/>
                <a:ea typeface="Malgun Gothic" panose="020B0503020000020004" pitchFamily="34" charset="-127"/>
                <a:cs typeface="Malgun Gothic" panose="020B0503020000020004" pitchFamily="34" charset="-127"/>
              </a:rPr>
              <a:t>፡፡</a:t>
            </a:r>
            <a:endParaRPr lang="en-US" sz="24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79421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E77359A-6CDE-6C27-CFBC-FAF4EB989642}"/>
              </a:ext>
            </a:extLst>
          </p:cNvPr>
          <p:cNvSpPr txBox="1"/>
          <p:nvPr/>
        </p:nvSpPr>
        <p:spPr>
          <a:xfrm>
            <a:off x="770466" y="1747899"/>
            <a:ext cx="10651067" cy="3362202"/>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b="1" dirty="0" err="1">
                <a:effectLst/>
                <a:latin typeface="Power Geez Unicode1" panose="00000400000000000000" pitchFamily="2" charset="0"/>
                <a:ea typeface="Malgun Gothic" panose="020B0503020000020004" pitchFamily="34" charset="-127"/>
                <a:cs typeface="Malgun Gothic" panose="020B0503020000020004" pitchFamily="34" charset="-127"/>
              </a:rPr>
              <a:t>አምስተኛ</a:t>
            </a:r>
            <a:r>
              <a:rPr lang="en-GB" sz="1800" b="1"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ኢሳይያስ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9</a:t>
            </a:r>
            <a:r>
              <a:rPr lang="en-GB" sz="18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6</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ያለው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ክፍል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ኢየሱስ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ራሱ</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አብ</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መሆኑን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ወይም</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አብና</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ወልድ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አንድ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አካል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መሆናቸውን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የሚያስተምር</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የብሉይ</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ኪዳን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ክፍል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ነው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ብሎ</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የጻፈ</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አንዳችም</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የብሉይ</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ኪዳን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ምሁር</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የለም</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ከድርጅቱ</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ጸሓፍት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ቀሳውስት</a:t>
            </a:r>
            <a:r>
              <a:rPr lang="en-GB" sz="18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በስተቀር</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ሕልቍ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መሳፍርት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የሌላቸው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የትንቢተ</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ኢሳይያስ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ትርጓሜ</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መጻሕፍት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በእጃችን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አሉ</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እነዚህም</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መጻሕፍት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በአይሁድ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የብሉይ</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ኪዳን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ሊቃውንት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በክርስቲያን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ምሁራን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እንዲሁም</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ለዘብተኛ</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አቋም</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ባላቸው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የነገረ</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መለኮት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ትምህርተ</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ዘለቅ</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የተዘጋጁ</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የአንድምታ</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የትርጓሜ</a:t>
            </a:r>
            <a:r>
              <a:rPr lang="en-GB" sz="18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መጻሕፍት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ናቸው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ነገር</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ግን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ሰባልዮሳዊ</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አስተሳሰብ</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ካላቸው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አስተማሪዎች</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በቀር</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ይህን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ክፍል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በዚህ</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መልክ</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የተረጐመ</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ወይም</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ክፍሉ</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ይህ</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ዐይነት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አማራጭ</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አንድምታ</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አለው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ብሎ</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የተናገረ</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አንዳችም</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የብሉይ</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ኪዳን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አስተማሪ</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የለም</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ከአጥባቂያኑም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ከለዘብተኞቹ</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ምሁራን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47435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AC8F92-741F-6C31-53A8-E11ECFDFE1C7}"/>
              </a:ext>
            </a:extLst>
          </p:cNvPr>
          <p:cNvSpPr txBox="1"/>
          <p:nvPr/>
        </p:nvSpPr>
        <p:spPr>
          <a:xfrm>
            <a:off x="753533" y="4343247"/>
            <a:ext cx="10684934" cy="1700209"/>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አጠቃላይ</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ኢሳይያስ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Garamond" panose="02020404030301010803" pitchFamily="18" charset="0"/>
                <a:ea typeface="Malgun Gothic" panose="020B0503020000020004" pitchFamily="34" charset="-127"/>
                <a:cs typeface="Times New Roman" panose="02020603050405020304" pitchFamily="18" charset="0"/>
              </a:rPr>
              <a:t>9</a:t>
            </a:r>
            <a:r>
              <a:rPr lang="en-GB" sz="18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Malgun Gothic" panose="020B0503020000020004" pitchFamily="34" charset="-127"/>
                <a:cs typeface="Times New Roman" panose="02020603050405020304" pitchFamily="18" charset="0"/>
              </a:rPr>
              <a:t>6</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ን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ጠቅሶ</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ኢየሱስ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አብም</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ወልድም</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ነው</a:t>
            </a:r>
            <a:r>
              <a:rPr lang="en-GB" sz="18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አብና</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ወልድ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አንድ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አካል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ናቸው</a:t>
            </a:r>
            <a:r>
              <a:rPr lang="en-GB" sz="18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አብና</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ወልድ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አኃዛዊ</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አንድነት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አላቸው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ማለት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እንኳ</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አልተቻለም</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ድርጅቱ</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በዚህ</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ጥቅስ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ላይ</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ያቀረበውን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ትንታኔ</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በአሜንታ</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ብንቀበል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እንኳ</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ክፍሉ</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የድርጅቱን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መሠረተ</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እምነት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ሊደግፍ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አለመቻሉን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በግራም</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በቀኝም</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ያለው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ሰው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ሁሉ</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ሊያውቀው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ይገባል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8819816-E6B0-5D2A-947C-A43E67BBF5D9}"/>
              </a:ext>
            </a:extLst>
          </p:cNvPr>
          <p:cNvSpPr txBox="1"/>
          <p:nvPr/>
        </p:nvSpPr>
        <p:spPr>
          <a:xfrm>
            <a:off x="694266" y="689414"/>
            <a:ext cx="10684934" cy="3374385"/>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sz="1800" b="1" kern="100" dirty="0" err="1">
                <a:effectLst/>
                <a:latin typeface="Power Geez Unicode1" panose="00000400000000000000" pitchFamily="2" charset="0"/>
                <a:ea typeface="Aptos" panose="020B0004020202020204" pitchFamily="34" charset="0"/>
                <a:cs typeface="Times New Roman" panose="02020603050405020304" pitchFamily="18" charset="0"/>
              </a:rPr>
              <a:t>ስድስተኛ</a:t>
            </a:r>
            <a:r>
              <a:rPr lang="en-US" sz="1800" b="1" kern="100" dirty="0">
                <a:effectLst/>
                <a:latin typeface="Power Geez Unicode1" panose="00000400000000000000" pitchFamily="2" charset="0"/>
                <a:ea typeface="Aptos" panose="020B0004020202020204" pitchFamily="34" charset="0"/>
                <a:cs typeface="Times New Roman" panose="02020603050405020304" pitchFamily="18" charset="0"/>
              </a:rPr>
              <a:t>፤</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የድርጅቱ</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መምህራን</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ይህ</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ክፍል</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a:effectLst/>
                <a:latin typeface="Garamond" panose="02020404030301010803" pitchFamily="18" charset="0"/>
                <a:ea typeface="Aptos" panose="020B0004020202020204" pitchFamily="34" charset="0"/>
                <a:cs typeface="Times New Roman" panose="02020603050405020304" pitchFamily="18" charset="0"/>
              </a:rPr>
              <a:t>(</a:t>
            </a:r>
            <a:r>
              <a:rPr lang="en-US" sz="1800" kern="100" dirty="0" err="1">
                <a:effectLst/>
                <a:latin typeface="Power Geez Unicode1" panose="00000400000000000000" pitchFamily="2" charset="0"/>
                <a:ea typeface="Malgun Gothic" panose="020B0503020000020004" pitchFamily="34" charset="-127"/>
                <a:cs typeface="Malgun Gothic" panose="020B0503020000020004" pitchFamily="34" charset="-127"/>
              </a:rPr>
              <a:t>ኢሳይያስ</a:t>
            </a:r>
            <a:r>
              <a:rPr lang="en-US" sz="1800" kern="1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US" sz="1800" kern="100" dirty="0">
                <a:effectLst/>
                <a:latin typeface="Garamond" panose="02020404030301010803" pitchFamily="18" charset="0"/>
                <a:ea typeface="Aptos" panose="020B0004020202020204" pitchFamily="34" charset="0"/>
                <a:cs typeface="Times New Roman" panose="02020603050405020304" pitchFamily="18" charset="0"/>
              </a:rPr>
              <a:t>9</a:t>
            </a:r>
            <a:r>
              <a:rPr lang="en-US" sz="1800" kern="100" dirty="0">
                <a:effectLst/>
                <a:latin typeface="Garamond" panose="02020404030301010803" pitchFamily="18" charset="0"/>
                <a:ea typeface="Aptos" panose="020B0004020202020204" pitchFamily="34" charset="0"/>
                <a:cs typeface="Nyala" panose="02000504070300020003" pitchFamily="2" charset="0"/>
              </a:rPr>
              <a:t>÷</a:t>
            </a:r>
            <a:r>
              <a:rPr lang="en-US" sz="1800" kern="100" dirty="0">
                <a:effectLst/>
                <a:latin typeface="Garamond" panose="02020404030301010803" pitchFamily="18" charset="0"/>
                <a:ea typeface="Aptos" panose="020B0004020202020204" pitchFamily="34" charset="0"/>
                <a:cs typeface="Times New Roman" panose="02020603050405020304" pitchFamily="18" charset="0"/>
              </a:rPr>
              <a:t>6)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እንዲያጸናላቸው</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የፈለጉት</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a:t>
            </a:r>
            <a:r>
              <a:rPr lang="en-US" sz="1800" kern="100" dirty="0">
                <a:effectLst/>
                <a:latin typeface="Times New Roman" panose="02020603050405020304" pitchFamily="18" charset="0"/>
                <a:ea typeface="Aptos" panose="020B0004020202020204" pitchFamily="34"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አብና</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ኢየሱስ</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አኃዛዊ</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አንድነት</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አላቸው</a:t>
            </a:r>
            <a:r>
              <a:rPr lang="en-US" sz="1800" kern="100" dirty="0">
                <a:effectLst/>
                <a:latin typeface="Times New Roman" panose="02020603050405020304" pitchFamily="18" charset="0"/>
                <a:ea typeface="Aptos" panose="020B0004020202020204" pitchFamily="34" charset="0"/>
              </a:rPr>
              <a:t>”</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የሚለውን</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ነጥብ</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ነው</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እሺ</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ይህ</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ክፍል</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አብና</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ወልድ</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አንድ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ናቸው</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የሚሉትን</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ትምህርት</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አጸደቀላቸው</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እንበል</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ይህ</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ከሆነ</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ደግሞ</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ኢየሱስ</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ከአብ</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ጋር</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አኃዛዊ</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a:effectLst/>
                <a:latin typeface="Times New Roman" panose="02020603050405020304" pitchFamily="18" charset="0"/>
                <a:ea typeface="Aptos" panose="020B0004020202020204" pitchFamily="34" charset="0"/>
              </a:rPr>
              <a:t>(</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አካላዊ</a:t>
            </a:r>
            <a:r>
              <a:rPr lang="en-US" sz="1800" kern="100" dirty="0">
                <a:effectLst/>
                <a:latin typeface="Times New Roman" panose="02020603050405020304" pitchFamily="18" charset="0"/>
                <a:ea typeface="Aptos" panose="020B0004020202020204" pitchFamily="34" charset="0"/>
              </a:rPr>
              <a:t>)</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አንድነት</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ካለው</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ኢየሱስ</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እንደ</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አብ</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አምላክ</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ነው</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ማለት</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ነው</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ድርጅቱ</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ዞር</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ብሎ</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ደግሞ</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ኢየሱስ</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እንደ</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አብ</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አምላክ</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ሳይሆን</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አብ</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የለበሰው</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ሥጋ</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a:effectLst/>
                <a:latin typeface="Times New Roman" panose="02020603050405020304" pitchFamily="18" charset="0"/>
                <a:ea typeface="Aptos" panose="020B0004020202020204" pitchFamily="34" charset="0"/>
              </a:rPr>
              <a:t>(</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ቢሾፕ</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ደጉ</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እንደሚሉት</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የአምላክ</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a:effectLst/>
                <a:latin typeface="Times New Roman" panose="02020603050405020304" pitchFamily="18" charset="0"/>
                <a:ea typeface="Aptos" panose="020B0004020202020204" pitchFamily="34" charset="0"/>
              </a:rPr>
              <a:t>“</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ቱታ</a:t>
            </a:r>
            <a:r>
              <a:rPr lang="en-US" sz="1800" kern="100" dirty="0">
                <a:effectLst/>
                <a:latin typeface="Times New Roman" panose="02020603050405020304" pitchFamily="18" charset="0"/>
                <a:ea typeface="Aptos" panose="020B0004020202020204" pitchFamily="34" charset="0"/>
              </a:rPr>
              <a:t>”) </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ነው</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ቱታና</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አምላክ</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እንዴት</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አኃዛዊ</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አንድነት</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አላቸው</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ሊባል</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ቻለ</a:t>
            </a:r>
            <a:r>
              <a:rPr lang="en-US" sz="1800" kern="100" dirty="0">
                <a:effectLst/>
                <a:latin typeface="Garamond" panose="02020404030301010803" pitchFamily="18" charset="0"/>
                <a:ea typeface="Aptos" panose="020B0004020202020204" pitchFamily="34" charset="0"/>
                <a:cs typeface="Times New Roman" panose="02020603050405020304" pitchFamily="18" charset="0"/>
              </a:rPr>
              <a:t>?</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እንግዲያው</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ከዚህ</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ጥቅስ</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ምን</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እንማር</a:t>
            </a:r>
            <a:r>
              <a:rPr lang="en-US" sz="1800" kern="100" dirty="0">
                <a:effectLst/>
                <a:latin typeface="Garamond" panose="02020404030301010803" pitchFamily="18" charset="0"/>
                <a:ea typeface="Aptos" panose="020B0004020202020204" pitchFamily="34" charset="0"/>
                <a:cs typeface="Times New Roman" panose="02020603050405020304" pitchFamily="18" charset="0"/>
              </a:rPr>
              <a:t>?</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ኢየሱስ</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ሥጋ</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መሆኑን</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እንማር</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ወይስ</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አምላክ</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መሆኑን</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እንማር</a:t>
            </a:r>
            <a:r>
              <a:rPr lang="en-US" sz="1800" kern="100" dirty="0">
                <a:effectLst/>
                <a:latin typeface="Garamond" panose="02020404030301010803" pitchFamily="18" charset="0"/>
                <a:ea typeface="Aptos" panose="020B0004020202020204" pitchFamily="34" charset="0"/>
                <a:cs typeface="Times New Roman" panose="02020603050405020304" pitchFamily="18" charset="0"/>
              </a:rPr>
              <a:t>?</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ኢየሱስ</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ሥጋ</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ከሆነ</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ከአብ</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ጋር</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አንድ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ነው</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ብሎ</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ይህን</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ክፍል</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ለማስረጃነት</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መጥቀስ</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ለምን</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አስፈለገ</a:t>
            </a:r>
            <a:r>
              <a:rPr lang="en-US" sz="1800" kern="100" dirty="0">
                <a:effectLst/>
                <a:latin typeface="Garamond" panose="02020404030301010803" pitchFamily="18" charset="0"/>
                <a:ea typeface="Aptos" panose="020B0004020202020204" pitchFamily="34" charset="0"/>
                <a:cs typeface="Times New Roman" panose="02020603050405020304" pitchFamily="18" charset="0"/>
              </a:rPr>
              <a:t>?</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ኢየሱስ</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አብ</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ከሆነ</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ደግሞ</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ሌሎች</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ምንባባትን</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ጠቅሶ</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ኢየሱስ</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ሥጋ</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እንጂ</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አምላክ</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አይደለም</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ለምን</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እንባላለን</a:t>
            </a:r>
            <a:r>
              <a:rPr lang="en-US" sz="1800" kern="100" dirty="0">
                <a:effectLst/>
                <a:latin typeface="Garamond" panose="02020404030301010803" pitchFamily="18" charset="0"/>
                <a:ea typeface="Aptos" panose="020B0004020202020204" pitchFamily="34" charset="0"/>
                <a:cs typeface="Times New Roman" panose="02020603050405020304" pitchFamily="18" charset="0"/>
              </a:rPr>
              <a:t>?</a:t>
            </a:r>
            <a:endParaRPr lang="en-US" sz="1800" dirty="0"/>
          </a:p>
        </p:txBody>
      </p:sp>
    </p:spTree>
    <p:extLst>
      <p:ext uri="{BB962C8B-B14F-4D97-AF65-F5344CB8AC3E}">
        <p14:creationId xmlns:p14="http://schemas.microsoft.com/office/powerpoint/2010/main" val="31003558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3C79252-E36F-B582-EE46-1699CEDED668}"/>
              </a:ext>
            </a:extLst>
          </p:cNvPr>
          <p:cNvSpPr txBox="1"/>
          <p:nvPr/>
        </p:nvSpPr>
        <p:spPr>
          <a:xfrm>
            <a:off x="2031999" y="2183803"/>
            <a:ext cx="7890933" cy="2656112"/>
          </a:xfrm>
          <a:prstGeom prst="rect">
            <a:avLst/>
          </a:prstGeom>
          <a:noFill/>
        </p:spPr>
        <p:txBody>
          <a:bodyPr wrap="square">
            <a:spAutoFit/>
          </a:bodyPr>
          <a:lstStyle/>
          <a:p>
            <a:pPr marL="0" marR="0" algn="ctr">
              <a:lnSpc>
                <a:spcPct val="115000"/>
              </a:lnSpc>
              <a:buNone/>
            </a:pPr>
            <a:r>
              <a:rPr lang="en-US" sz="4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4400" dirty="0" err="1">
                <a:effectLst/>
                <a:latin typeface="Ethiopic Sadiss Light" pitchFamily="2" charset="0"/>
                <a:ea typeface="Times New Roman" panose="02020603050405020304" pitchFamily="18" charset="0"/>
                <a:cs typeface="Times New Roman" panose="02020603050405020304" pitchFamily="18" charset="0"/>
              </a:rPr>
              <a:t>እኔና</a:t>
            </a:r>
            <a:r>
              <a:rPr lang="en-US" sz="4400" dirty="0">
                <a:effectLst/>
                <a:latin typeface="Ethiopic Sadiss Light" pitchFamily="2" charset="0"/>
                <a:ea typeface="Times New Roman" panose="02020603050405020304" pitchFamily="18" charset="0"/>
                <a:cs typeface="Times New Roman" panose="02020603050405020304" pitchFamily="18" charset="0"/>
              </a:rPr>
              <a:t> </a:t>
            </a:r>
            <a:r>
              <a:rPr lang="en-US" sz="4400" dirty="0" err="1">
                <a:effectLst/>
                <a:latin typeface="Ethiopic Sadiss Light" pitchFamily="2" charset="0"/>
                <a:ea typeface="Times New Roman" panose="02020603050405020304" pitchFamily="18" charset="0"/>
                <a:cs typeface="Times New Roman" panose="02020603050405020304" pitchFamily="18" charset="0"/>
              </a:rPr>
              <a:t>አብ</a:t>
            </a:r>
            <a:r>
              <a:rPr lang="en-US" sz="4400" dirty="0">
                <a:effectLst/>
                <a:latin typeface="Ethiopic Sadiss Light" pitchFamily="2" charset="0"/>
                <a:ea typeface="Times New Roman" panose="02020603050405020304" pitchFamily="18" charset="0"/>
                <a:cs typeface="Times New Roman" panose="02020603050405020304" pitchFamily="18" charset="0"/>
              </a:rPr>
              <a:t> አንድ </a:t>
            </a:r>
            <a:r>
              <a:rPr lang="en-US" sz="4400" dirty="0" err="1">
                <a:effectLst/>
                <a:latin typeface="Ethiopic Sadiss Light" pitchFamily="2" charset="0"/>
                <a:ea typeface="Times New Roman" panose="02020603050405020304" pitchFamily="18" charset="0"/>
                <a:cs typeface="Times New Roman" panose="02020603050405020304" pitchFamily="18" charset="0"/>
              </a:rPr>
              <a:t>ነን</a:t>
            </a:r>
            <a:r>
              <a:rPr lang="en-US" sz="4800" dirty="0">
                <a:effectLst/>
                <a:latin typeface="Times New Roman" panose="02020603050405020304" pitchFamily="18" charset="0"/>
                <a:ea typeface="Times New Roman" panose="02020603050405020304" pitchFamily="18" charset="0"/>
                <a:cs typeface="Times New Roman" panose="02020603050405020304" pitchFamily="18" charset="0"/>
              </a:rPr>
              <a:t>”</a:t>
            </a:r>
          </a:p>
          <a:p>
            <a:pPr algn="ctr">
              <a:lnSpc>
                <a:spcPct val="115000"/>
              </a:lnSpc>
            </a:pPr>
            <a:r>
              <a:rPr lang="en-GB" sz="4000" b="1" dirty="0">
                <a:latin typeface="Times New Roman" panose="02020603050405020304" pitchFamily="18" charset="0"/>
                <a:ea typeface="Times New Roman" panose="02020603050405020304" pitchFamily="18" charset="0"/>
                <a:cs typeface="Times New Roman" panose="02020603050405020304" pitchFamily="18" charset="0"/>
              </a:rPr>
              <a:t>“</a:t>
            </a:r>
            <a:r>
              <a:rPr lang="el-GR" sz="4000" dirty="0">
                <a:latin typeface="Times New Roman" panose="02020603050405020304" pitchFamily="18" charset="0"/>
                <a:ea typeface="Times New Roman" panose="02020603050405020304" pitchFamily="18" charset="0"/>
                <a:cs typeface="Times New Roman" panose="02020603050405020304" pitchFamily="18" charset="0"/>
              </a:rPr>
              <a:t>ἐγὼ καὶ ὁ πατὴρ ἕν ἐσμεν</a:t>
            </a:r>
            <a:r>
              <a:rPr lang="el-GR" sz="4000" b="1" dirty="0">
                <a:latin typeface="Tahoma" panose="020B0604030504040204" pitchFamily="34" charset="0"/>
                <a:ea typeface="Times New Roman" panose="02020603050405020304" pitchFamily="18" charset="0"/>
                <a:cs typeface="Times New Roman" panose="02020603050405020304" pitchFamily="18" charset="0"/>
              </a:rPr>
              <a:t>﻿</a:t>
            </a:r>
            <a:r>
              <a:rPr lang="en-GB" sz="4000" b="1"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40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lnSpc>
                <a:spcPct val="115000"/>
              </a:lnSpc>
              <a:buNone/>
            </a:pPr>
            <a:endParaRPr lang="en-US" sz="2800" dirty="0">
              <a:effectLst/>
              <a:latin typeface="VG2 Main" panose="020B7200000000000000" pitchFamily="34" charset="0"/>
              <a:ea typeface="Times New Roman" panose="02020603050405020304" pitchFamily="18" charset="0"/>
              <a:cs typeface="Times New Roman" panose="02020603050405020304" pitchFamily="18" charset="0"/>
            </a:endParaRPr>
          </a:p>
          <a:p>
            <a:pPr marL="0" marR="0" algn="ctr">
              <a:lnSpc>
                <a:spcPct val="115000"/>
              </a:lnSpc>
              <a:buNone/>
            </a:pPr>
            <a:r>
              <a:rPr lang="en-US" sz="3200" dirty="0" err="1">
                <a:effectLst/>
                <a:latin typeface="Ethiopic Yebse" panose="02000500000000000000" pitchFamily="2" charset="0"/>
                <a:ea typeface="Times New Roman" panose="02020603050405020304" pitchFamily="18" charset="0"/>
                <a:cs typeface="Times New Roman" panose="02020603050405020304" pitchFamily="18" charset="0"/>
              </a:rPr>
              <a:t>ዮሐንስ</a:t>
            </a:r>
            <a:r>
              <a:rPr lang="en-US" sz="3200" dirty="0">
                <a:effectLst/>
                <a:latin typeface="Ethiopic Yebse" panose="02000500000000000000" pitchFamily="2" charset="0"/>
                <a:ea typeface="Times New Roman" panose="02020603050405020304" pitchFamily="18" charset="0"/>
                <a:cs typeface="Times New Roman" panose="02020603050405020304" pitchFamily="18" charset="0"/>
              </a:rPr>
              <a:t> 10፥30</a:t>
            </a:r>
            <a:endParaRPr lang="en-US" sz="28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92702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04A430-931E-7F11-0C25-E658F7399F14}"/>
              </a:ext>
            </a:extLst>
          </p:cNvPr>
          <p:cNvSpPr txBox="1"/>
          <p:nvPr/>
        </p:nvSpPr>
        <p:spPr>
          <a:xfrm>
            <a:off x="657225" y="722953"/>
            <a:ext cx="8063441" cy="1702710"/>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እግዚአብሔር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አኃዛዊ</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አንድነት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አላቸው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ለሚለው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የሐዋርያት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ቤተ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ክርስቲያን</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አስተምህሮ</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ማስደገፊያ</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ተብሎ</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ከሚቀርቡ</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የድርጅቱ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ተወዳጅ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ክፍሎች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መኻል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ዮሐንስ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10÷30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ሌላው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ምንባብ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p>
        </p:txBody>
      </p:sp>
      <p:pic>
        <p:nvPicPr>
          <p:cNvPr id="5" name="Picture 4" descr="A person standing in front of a person&#10;&#10;AI-generated content may be incorrect.">
            <a:extLst>
              <a:ext uri="{FF2B5EF4-FFF2-40B4-BE49-F238E27FC236}">
                <a16:creationId xmlns:a16="http://schemas.microsoft.com/office/drawing/2014/main" id="{EC09FE28-FF68-2721-C110-7731999F80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83477" y="904875"/>
            <a:ext cx="1728788" cy="2305050"/>
          </a:xfrm>
          <a:prstGeom prst="rect">
            <a:avLst/>
          </a:prstGeom>
        </p:spPr>
      </p:pic>
      <p:pic>
        <p:nvPicPr>
          <p:cNvPr id="7" name="Picture 6" descr="A book cover with a building and a tall white tower&#10;&#10;AI-generated content may be incorrect.">
            <a:extLst>
              <a:ext uri="{FF2B5EF4-FFF2-40B4-BE49-F238E27FC236}">
                <a16:creationId xmlns:a16="http://schemas.microsoft.com/office/drawing/2014/main" id="{2E0C5827-D4D6-57C0-6F98-9A964ABFD0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45625" y="3429000"/>
            <a:ext cx="1733550" cy="2638425"/>
          </a:xfrm>
          <a:prstGeom prst="rect">
            <a:avLst/>
          </a:prstGeom>
        </p:spPr>
      </p:pic>
      <p:sp>
        <p:nvSpPr>
          <p:cNvPr id="9" name="TextBox 8">
            <a:extLst>
              <a:ext uri="{FF2B5EF4-FFF2-40B4-BE49-F238E27FC236}">
                <a16:creationId xmlns:a16="http://schemas.microsoft.com/office/drawing/2014/main" id="{2667B1E1-3750-E509-5862-0209EB8424B7}"/>
              </a:ext>
            </a:extLst>
          </p:cNvPr>
          <p:cNvSpPr txBox="1"/>
          <p:nvPr/>
        </p:nvSpPr>
        <p:spPr>
          <a:xfrm>
            <a:off x="657224" y="3009900"/>
            <a:ext cx="8554509" cy="2970044"/>
          </a:xfrm>
          <a:prstGeom prst="rect">
            <a:avLst/>
          </a:prstGeom>
          <a:noFill/>
        </p:spPr>
        <p:txBody>
          <a:bodyPr wrap="square">
            <a:spAutoFit/>
          </a:bodyPr>
          <a:lstStyle/>
          <a:p>
            <a:pPr marL="342900" marR="0" lvl="0" indent="-342900" algn="just">
              <a:lnSpc>
                <a:spcPct val="150000"/>
              </a:lnSpc>
              <a:buSzPts val="1200"/>
              <a:buFont typeface="Wingdings" panose="05000000000000000000" pitchFamily="2" charset="2"/>
              <a:buChar char="q"/>
              <a:tabLst>
                <a:tab pos="457200" algn="l"/>
              </a:tabLst>
            </a:pP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ክርስቶስ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በዮሐ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10</a:t>
            </a:r>
            <a:r>
              <a:rPr lang="en-GB" sz="18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30</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ብሎ</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በማወጁ</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ውስጥ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በውሕደት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መኖሩን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መግለጡ</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እንረዳለን</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a:p>
            <a:pPr marL="342900" marR="0" lvl="0" indent="-342900" algn="just">
              <a:lnSpc>
                <a:spcPct val="150000"/>
              </a:lnSpc>
              <a:buSzPts val="1200"/>
              <a:buFont typeface="Wingdings" panose="05000000000000000000" pitchFamily="2" charset="2"/>
              <a:buChar char="q"/>
              <a:tabLst>
                <a:tab pos="457200" algn="l"/>
              </a:tabLst>
            </a:pP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እግዚአብሔር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የላከልን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ልጅ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ሰማያዊ</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ስለሆነ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የባሕርይው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ልጁ</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በአካል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የተለየ</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አይደለም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መልክ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ብሎ</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በድፍረት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መናገር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የሚችለው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በውሕደት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በአንድ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ውስጥ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ስላሉ</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ብቻ</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ዮሐ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10</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30</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a:p>
            <a:pPr marL="285750" indent="-285750">
              <a:lnSpc>
                <a:spcPts val="1500"/>
              </a:lnSpc>
              <a:buFont typeface="Wingdings" panose="05000000000000000000" pitchFamily="2" charset="2"/>
              <a:buChar char="q"/>
            </a:pPr>
            <a:r>
              <a:rPr lang="en-US" sz="1400" dirty="0" err="1">
                <a:latin typeface="Power Geez Unicode1" panose="00000400000000000000" pitchFamily="2" charset="0"/>
                <a:ea typeface="Times New Roman" panose="02020603050405020304" pitchFamily="18" charset="0"/>
                <a:cs typeface="Times New Roman" panose="02020603050405020304" pitchFamily="18" charset="0"/>
              </a:rPr>
              <a:t>ተክለ</a:t>
            </a:r>
            <a:r>
              <a:rPr lang="en-US" sz="1400" dirty="0">
                <a:latin typeface="Power Geez Unicode1" panose="00000400000000000000" pitchFamily="2" charset="0"/>
                <a:ea typeface="Times New Roman" panose="02020603050405020304" pitchFamily="18" charset="0"/>
                <a:cs typeface="Times New Roman" panose="02020603050405020304" pitchFamily="18" charset="0"/>
              </a:rPr>
              <a:t> </a:t>
            </a:r>
            <a:r>
              <a:rPr lang="en-US" sz="1400" dirty="0" err="1">
                <a:latin typeface="Power Geez Unicode1" panose="00000400000000000000" pitchFamily="2" charset="0"/>
                <a:ea typeface="Times New Roman" panose="02020603050405020304" pitchFamily="18" charset="0"/>
                <a:cs typeface="Times New Roman" panose="02020603050405020304" pitchFamily="18" charset="0"/>
              </a:rPr>
              <a:t>ማርያም</a:t>
            </a:r>
            <a:r>
              <a:rPr lang="en-US" sz="1400" dirty="0">
                <a:latin typeface="Power Geez Unicode1" panose="00000400000000000000" pitchFamily="2" charset="0"/>
                <a:ea typeface="Times New Roman" panose="02020603050405020304" pitchFamily="18" charset="0"/>
                <a:cs typeface="Times New Roman" panose="02020603050405020304" pitchFamily="18" charset="0"/>
              </a:rPr>
              <a:t> </a:t>
            </a:r>
            <a:r>
              <a:rPr lang="en-US" sz="1400" dirty="0" err="1">
                <a:latin typeface="Power Geez Unicode1" panose="00000400000000000000" pitchFamily="2" charset="0"/>
                <a:ea typeface="Times New Roman" panose="02020603050405020304" pitchFamily="18" charset="0"/>
                <a:cs typeface="Times New Roman" panose="02020603050405020304" pitchFamily="18" charset="0"/>
              </a:rPr>
              <a:t>ገዛኸኝ</a:t>
            </a:r>
            <a:r>
              <a:rPr lang="en-US" sz="1400" dirty="0">
                <a:latin typeface="Power Geez Unicode1" panose="00000400000000000000" pitchFamily="2" charset="0"/>
                <a:ea typeface="Times New Roman" panose="02020603050405020304" pitchFamily="18" charset="0"/>
                <a:cs typeface="Times New Roman" panose="02020603050405020304" pitchFamily="18" charset="0"/>
              </a:rPr>
              <a:t>፤ </a:t>
            </a:r>
            <a:r>
              <a:rPr lang="en-US" sz="1400" dirty="0" err="1">
                <a:latin typeface="Power Geez Unicode1" panose="00000400000000000000" pitchFamily="2" charset="0"/>
                <a:ea typeface="Times New Roman" panose="02020603050405020304" pitchFamily="18" charset="0"/>
                <a:cs typeface="Times New Roman" panose="02020603050405020304" pitchFamily="18" charset="0"/>
              </a:rPr>
              <a:t>ኢየሱስን</a:t>
            </a:r>
            <a:r>
              <a:rPr lang="en-US" sz="1400" dirty="0">
                <a:latin typeface="Power Geez Unicode1" panose="00000400000000000000" pitchFamily="2" charset="0"/>
                <a:ea typeface="Times New Roman" panose="02020603050405020304" pitchFamily="18" charset="0"/>
                <a:cs typeface="Times New Roman" panose="02020603050405020304" pitchFamily="18" charset="0"/>
              </a:rPr>
              <a:t> </a:t>
            </a:r>
            <a:r>
              <a:rPr lang="en-US" sz="1400" dirty="0" err="1">
                <a:latin typeface="Power Geez Unicode1" panose="00000400000000000000" pitchFamily="2" charset="0"/>
                <a:ea typeface="Times New Roman" panose="02020603050405020304" pitchFamily="18" charset="0"/>
                <a:cs typeface="Times New Roman" panose="02020603050405020304" pitchFamily="18" charset="0"/>
              </a:rPr>
              <a:t>ማን</a:t>
            </a:r>
            <a:r>
              <a:rPr lang="en-US" sz="1400" dirty="0">
                <a:latin typeface="Power Geez Unicode1" panose="00000400000000000000" pitchFamily="2" charset="0"/>
                <a:ea typeface="Times New Roman" panose="02020603050405020304" pitchFamily="18" charset="0"/>
                <a:cs typeface="Times New Roman" panose="02020603050405020304" pitchFamily="18" charset="0"/>
              </a:rPr>
              <a:t> </a:t>
            </a:r>
            <a:r>
              <a:rPr lang="en-US" sz="1400" dirty="0" err="1">
                <a:latin typeface="Power Geez Unicode1" panose="00000400000000000000" pitchFamily="2" charset="0"/>
                <a:ea typeface="Times New Roman" panose="02020603050405020304" pitchFamily="18" charset="0"/>
                <a:cs typeface="Times New Roman" panose="02020603050405020304" pitchFamily="18" charset="0"/>
              </a:rPr>
              <a:t>ይሉታል</a:t>
            </a:r>
            <a:r>
              <a:rPr lang="en-US" sz="1400" dirty="0">
                <a:latin typeface="Power Geez Unicode1" panose="00000400000000000000" pitchFamily="2" charset="0"/>
                <a:ea typeface="Times New Roman" panose="02020603050405020304" pitchFamily="18" charset="0"/>
                <a:cs typeface="Times New Roman" panose="02020603050405020304" pitchFamily="18" charset="0"/>
              </a:rPr>
              <a:t>? </a:t>
            </a:r>
            <a:r>
              <a:rPr lang="en-GB" sz="1400" dirty="0">
                <a:latin typeface="Garamond" panose="02020404030301010803" pitchFamily="18" charset="0"/>
                <a:ea typeface="Times New Roman" panose="02020603050405020304" pitchFamily="18" charset="0"/>
                <a:cs typeface="Times New Roman" panose="02020603050405020304" pitchFamily="18" charset="0"/>
              </a:rPr>
              <a:t>43 David K. Bernard, </a:t>
            </a:r>
            <a:r>
              <a:rPr lang="en-GB" sz="1400" i="1" dirty="0">
                <a:latin typeface="Garamond" panose="02020404030301010803" pitchFamily="18" charset="0"/>
                <a:ea typeface="Times New Roman" panose="02020603050405020304" pitchFamily="18" charset="0"/>
                <a:cs typeface="Times New Roman" panose="02020603050405020304" pitchFamily="18" charset="0"/>
              </a:rPr>
              <a:t>The Oneness of God, </a:t>
            </a:r>
            <a:r>
              <a:rPr lang="en-GB" sz="1400" dirty="0">
                <a:latin typeface="Garamond" panose="02020404030301010803" pitchFamily="18" charset="0"/>
                <a:ea typeface="Times New Roman" panose="02020603050405020304" pitchFamily="18" charset="0"/>
                <a:cs typeface="Times New Roman" panose="02020603050405020304" pitchFamily="18" charset="0"/>
              </a:rPr>
              <a:t>67</a:t>
            </a:r>
            <a:endParaRPr lang="en-US" sz="1400" dirty="0">
              <a:latin typeface="VG2 Main" panose="020B7200000000000000" pitchFamily="34" charset="0"/>
              <a:ea typeface="Times New Roman" panose="02020603050405020304" pitchFamily="18" charset="0"/>
              <a:cs typeface="Times New Roman" panose="02020603050405020304" pitchFamily="18" charset="0"/>
            </a:endParaRPr>
          </a:p>
          <a:p>
            <a:pPr marL="114300" marR="0" indent="-114300">
              <a:lnSpc>
                <a:spcPts val="1500"/>
              </a:lnSpc>
              <a:buNone/>
            </a:pPr>
            <a:endParaRPr lang="en-US" sz="14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26292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13EF92-DB50-671C-23DE-C71ACE085A81}"/>
              </a:ext>
            </a:extLst>
          </p:cNvPr>
          <p:cNvSpPr txBox="1"/>
          <p:nvPr/>
        </p:nvSpPr>
        <p:spPr>
          <a:xfrm>
            <a:off x="626533" y="733652"/>
            <a:ext cx="10684933" cy="916789"/>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tabLst>
                <a:tab pos="457200" algn="l"/>
              </a:tabLst>
            </a:pP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ነን</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ዮሐንስ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10</a:t>
            </a:r>
            <a:r>
              <a:rPr lang="en-GB" sz="20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30)</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ማደሪያው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ማድረጉን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ወይም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በአካል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መሆናቸውን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በጭራሽ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አያሳይም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እነሆ</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ሙግቱ</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58FA3E6-E4B8-9D62-9A87-13E341582D7A}"/>
              </a:ext>
            </a:extLst>
          </p:cNvPr>
          <p:cNvSpPr txBox="1"/>
          <p:nvPr/>
        </p:nvSpPr>
        <p:spPr>
          <a:xfrm>
            <a:off x="778933" y="1953273"/>
            <a:ext cx="10684933" cy="3777701"/>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tabLst>
                <a:tab pos="457200" algn="l"/>
              </a:tabLst>
            </a:pP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አንደኛ</a:t>
            </a:r>
            <a:r>
              <a:rPr lang="en-GB" sz="1800" b="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ክርስቶስ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ለማለት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ፈልጎ</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ቢሆን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ኖሮ</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ነኝ</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ወይም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ናቸው</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ነበረበት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ምክንያቱም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መደበኛው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አነጋገር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እንዲሁም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በሰዋስው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ትክክለኛ</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አገባብ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በዚህ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ቦታ</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ላይ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የተገለጸው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ነን</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እንጂ</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ነኝ</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አይደለም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a:p>
            <a:pPr marL="285750" marR="0" indent="-285750" algn="just">
              <a:lnSpc>
                <a:spcPct val="150000"/>
              </a:lnSpc>
              <a:buFont typeface="Wingdings" panose="05000000000000000000" pitchFamily="2" charset="2"/>
              <a:buChar char="q"/>
              <a:tabLst>
                <a:tab pos="457200" algn="l"/>
              </a:tabLst>
            </a:pPr>
            <a:r>
              <a:rPr lang="en-GB" sz="1800" b="1" dirty="0" err="1">
                <a:effectLst/>
                <a:latin typeface="Power Geez Unicode1" panose="00000400000000000000" pitchFamily="2" charset="0"/>
                <a:ea typeface="Malgun Gothic" panose="020B0503020000020004" pitchFamily="34" charset="-127"/>
                <a:cs typeface="Malgun Gothic" panose="020B0503020000020004" pitchFamily="34" charset="-127"/>
              </a:rPr>
              <a:t>ሁለተኛ</a:t>
            </a:r>
            <a:r>
              <a:rPr lang="en-GB" sz="1800" b="1"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እኔና</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አብ</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አንድ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ነን</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በሚለው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ዐረፍተ</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ነገር</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ውስጥ</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አንድ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ነን</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ተብሎ</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ወደ</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ዐማርኛ</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የተተረጐመው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ሐረግ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ሒን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ኤስሜን</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Palatino Linotype" panose="02040502050505030304" pitchFamily="18" charset="0"/>
                <a:ea typeface="Times New Roman" panose="02020603050405020304" pitchFamily="18" charset="0"/>
                <a:cs typeface="Times New Roman" panose="02020603050405020304" pitchFamily="18" charset="0"/>
              </a:rPr>
              <a:t>(</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l-GR" sz="1800" dirty="0">
                <a:effectLst/>
                <a:latin typeface="BibliaLS"/>
                <a:ea typeface="Times New Roman" panose="02020603050405020304" pitchFamily="18" charset="0"/>
                <a:cs typeface="Times New Roman" panose="02020603050405020304" pitchFamily="18" charset="0"/>
              </a:rPr>
              <a:t>ἕν ἐσμεν</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alatino Linotype" panose="02040502050505030304" pitchFamily="18"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የግሪክ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ደግሞ</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ብዙ</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ቍጥር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የሚያመለክት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አንደኛ</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መደብ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ቢሆን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ኖሮ</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ኢስሜን</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Palatino Linotype" panose="02040502050505030304" pitchFamily="18" charset="0"/>
                <a:ea typeface="Times New Roman" panose="02020603050405020304" pitchFamily="18" charset="0"/>
                <a:cs typeface="Times New Roman" panose="02020603050405020304" pitchFamily="18" charset="0"/>
              </a:rPr>
              <a:t>(</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l-GR" sz="1800" dirty="0">
                <a:effectLst/>
                <a:latin typeface="BibliaLS"/>
                <a:ea typeface="Times New Roman" panose="02020603050405020304" pitchFamily="18" charset="0"/>
                <a:cs typeface="Times New Roman" panose="02020603050405020304" pitchFamily="18" charset="0"/>
              </a:rPr>
              <a:t>ἐσμεν</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we are</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alatino Linotype" panose="02040502050505030304" pitchFamily="18"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ሳይሆን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አንደኛ</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መደብ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ነጠላ</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ቍጥር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የሆነውን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ኢጎ</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ወይም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ኢጎ</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ሂሚ</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Palatino Linotype" panose="02040502050505030304" pitchFamily="18" charset="0"/>
                <a:ea typeface="Times New Roman" panose="02020603050405020304" pitchFamily="18" charset="0"/>
                <a:cs typeface="Times New Roman" panose="02020603050405020304" pitchFamily="18" charset="0"/>
              </a:rPr>
              <a:t>(</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l-GR" sz="1800" dirty="0">
                <a:effectLst/>
                <a:latin typeface="BibliaLS"/>
                <a:ea typeface="Times New Roman" panose="02020603050405020304" pitchFamily="18" charset="0"/>
                <a:cs typeface="Times New Roman" panose="02020603050405020304" pitchFamily="18" charset="0"/>
              </a:rPr>
              <a:t>ἐγὼ</a:t>
            </a:r>
            <a:r>
              <a:rPr lang="en-US" sz="1800" dirty="0">
                <a:effectLst/>
                <a:latin typeface="BibliaLS"/>
                <a:ea typeface="Times New Roman" panose="02020603050405020304" pitchFamily="18" charset="0"/>
                <a:cs typeface="Times New Roman" panose="02020603050405020304" pitchFamily="18" charset="0"/>
              </a:rPr>
              <a:t>/ </a:t>
            </a:r>
            <a:r>
              <a:rPr lang="el-GR" sz="1800" dirty="0">
                <a:effectLst/>
                <a:latin typeface="BibliaLS"/>
                <a:ea typeface="Times New Roman" panose="02020603050405020304" pitchFamily="18" charset="0"/>
                <a:cs typeface="Times New Roman" panose="02020603050405020304" pitchFamily="18" charset="0"/>
              </a:rPr>
              <a:t>εἰμί</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I am</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alatino Linotype" panose="02040502050505030304" pitchFamily="18"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የግሪክ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ይጠቀም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ነበር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69773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578ACF-5363-3C25-D39C-CDD31FAE6B69}"/>
              </a:ext>
            </a:extLst>
          </p:cNvPr>
          <p:cNvSpPr txBox="1"/>
          <p:nvPr/>
        </p:nvSpPr>
        <p:spPr>
          <a:xfrm>
            <a:off x="541867" y="485774"/>
            <a:ext cx="10769600" cy="5274329"/>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b="1" dirty="0" err="1">
                <a:effectLst/>
                <a:latin typeface="Power Geez Unicode1" panose="00000400000000000000" pitchFamily="2" charset="0"/>
                <a:ea typeface="Malgun Gothic" panose="020B0503020000020004" pitchFamily="34" charset="-127"/>
                <a:cs typeface="Malgun Gothic" panose="020B0503020000020004" pitchFamily="34" charset="-127"/>
              </a:rPr>
              <a:t>ሦስተኛ</a:t>
            </a:r>
            <a:r>
              <a:rPr lang="en-GB" sz="1800" b="1"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እኔና</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አብ</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አንድ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ነን</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ሲል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አንድ</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የሚለው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ቃል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ግሪኩ</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ሂን</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Palatino Linotype" panose="02040502050505030304" pitchFamily="18" charset="0"/>
                <a:ea typeface="Times New Roman" panose="02020603050405020304" pitchFamily="18" charset="0"/>
                <a:cs typeface="Times New Roman" panose="02020603050405020304" pitchFamily="18" charset="0"/>
              </a:rPr>
              <a:t>(</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l-GR" sz="1800" dirty="0">
                <a:effectLst/>
                <a:latin typeface="BibliaLS"/>
                <a:ea typeface="Times New Roman" panose="02020603050405020304" pitchFamily="18" charset="0"/>
                <a:cs typeface="Times New Roman" panose="02020603050405020304" pitchFamily="18" charset="0"/>
              </a:rPr>
              <a:t>ἕν</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alatino Linotype" panose="02040502050505030304" pitchFamily="18"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ሲሆን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ይህም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የግዑዝ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ጾታን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የሚያመለክት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የአብንና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የወልድን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የአካል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አንድነት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ለማመልከት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ቢፈለግ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ኖሮ</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መጽሐፍ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ቅዱስ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ለእግዚአብሔርም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ለኢየሱስ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ክርስቶስ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ተባዕታይ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የወንዴ</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ጾታ</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እንደሚጠቀም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በዚህም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ቦታ</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የተባዕታይ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ጾታ</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የሚያመለክተውን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የግሪክ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ሔይስ</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l-GR" sz="1800" dirty="0">
                <a:effectLst/>
                <a:latin typeface="BibliaLS"/>
                <a:ea typeface="Times New Roman" panose="02020603050405020304" pitchFamily="18" charset="0"/>
                <a:cs typeface="Times New Roman" panose="02020603050405020304" pitchFamily="18" charset="0"/>
              </a:rPr>
              <a:t>εἱ</a:t>
            </a:r>
            <a:r>
              <a:rPr lang="en-GB" sz="1800" dirty="0">
                <a:effectLst/>
                <a:latin typeface="BibliaLS"/>
                <a:ea typeface="Times New Roman" panose="02020603050405020304" pitchFamily="18" charset="0"/>
                <a:cs typeface="Times New Roman" panose="02020603050405020304" pitchFamily="18" charset="0"/>
              </a:rPr>
              <a:t>̂</a:t>
            </a:r>
            <a:r>
              <a:rPr lang="el-GR" sz="1800" dirty="0">
                <a:effectLst/>
                <a:latin typeface="BibliaLS"/>
                <a:ea typeface="Times New Roman" panose="02020603050405020304" pitchFamily="18" charset="0"/>
                <a:cs typeface="Times New Roman" panose="02020603050405020304" pitchFamily="18" charset="0"/>
              </a:rPr>
              <a:t>ς</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ይጠቀም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ነበር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ለምሳሌ</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የሚከተሉትን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ክፍሎች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ይመለከቷል</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ማርቆስ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12</a:t>
            </a:r>
            <a:r>
              <a:rPr lang="en-GB" sz="20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29</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ጢሞቴዎስ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2</a:t>
            </a:r>
            <a:r>
              <a:rPr lang="en-GB" sz="20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5)</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ስመ</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ጥሩ</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የግሪክ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ቋንቋ</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ስመ</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ጥሩ</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የግሪክ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ቋንቋ</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ሊቅ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ኤ.ቲ</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ሮበርትሰን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ዮሐንስ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10</a:t>
            </a:r>
            <a:r>
              <a:rPr lang="en-GB" sz="20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30</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በተመለከተ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አንድ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ሂን</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l-GR" sz="1800" dirty="0">
                <a:effectLst/>
                <a:latin typeface="BibliaLS"/>
                <a:ea typeface="Times New Roman" panose="02020603050405020304" pitchFamily="18" charset="0"/>
                <a:cs typeface="Times New Roman" panose="02020603050405020304" pitchFamily="18" charset="0"/>
              </a:rPr>
              <a:t>ἕν</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የተባዕት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ጾታን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ሳይሆን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የግዑዝ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ጾታን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የሚያመለክት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መሆኑ</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ሳይሆን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ባሕርይን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ወይም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ተፈጥሮን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የሚያመለክት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ይላሉ</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ስለዚህ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በዚህ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ቦታ</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ሂን</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ሂን</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l-GR" sz="1800" dirty="0">
                <a:effectLst/>
                <a:latin typeface="BibliaLS"/>
                <a:ea typeface="Times New Roman" panose="02020603050405020304" pitchFamily="18" charset="0"/>
                <a:cs typeface="Times New Roman" panose="02020603050405020304" pitchFamily="18" charset="0"/>
              </a:rPr>
              <a:t>ἕν</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የግሪክ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ዐይነት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ባሕርይን</a:t>
            </a:r>
            <a:r>
              <a:rPr lang="en-GB" sz="1800" b="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እንጂ</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አካልን</a:t>
            </a:r>
            <a:r>
              <a:rPr lang="en-GB" sz="1800" b="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የሚያመለክት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አይደለም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ይኸውም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ዐይነት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ባሕርይ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እንዳላቸው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እንጂ</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በአካል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ሆኑ</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የሚያስተምር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አይደለም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a:p>
            <a:pPr marL="285750" marR="0" indent="-285750" algn="just">
              <a:lnSpc>
                <a:spcPct val="150000"/>
              </a:lnSpc>
              <a:buFont typeface="Wingdings" panose="05000000000000000000" pitchFamily="2" charset="2"/>
              <a:buChar char="q"/>
            </a:pPr>
            <a:r>
              <a:rPr lang="en-US" sz="1400" kern="100" dirty="0" err="1">
                <a:effectLst/>
                <a:latin typeface="Power Geez Unicode1" panose="00000400000000000000" pitchFamily="2" charset="0"/>
                <a:ea typeface="Aptos" panose="020B0004020202020204" pitchFamily="34" charset="0"/>
                <a:cs typeface="Times New Roman" panose="02020603050405020304" pitchFamily="18" charset="0"/>
              </a:rPr>
              <a:t>በኮይኔ</a:t>
            </a:r>
            <a:r>
              <a:rPr lang="en-US" sz="14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400" kern="100" dirty="0" err="1">
                <a:effectLst/>
                <a:latin typeface="Power Geez Unicode1" panose="00000400000000000000" pitchFamily="2" charset="0"/>
                <a:ea typeface="Aptos" panose="020B0004020202020204" pitchFamily="34" charset="0"/>
                <a:cs typeface="Times New Roman" panose="02020603050405020304" pitchFamily="18" charset="0"/>
              </a:rPr>
              <a:t>ግሪክ</a:t>
            </a:r>
            <a:r>
              <a:rPr lang="en-US" sz="14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en-US" sz="1400" kern="100" dirty="0">
                <a:effectLst/>
                <a:latin typeface="Power Geez Unicode1" panose="00000400000000000000" pitchFamily="2" charset="0"/>
                <a:ea typeface="Aptos" panose="020B0004020202020204" pitchFamily="34" charset="0"/>
                <a:cs typeface="Times New Roman" panose="02020603050405020304" pitchFamily="18" charset="0"/>
              </a:rPr>
              <a:t>አንድ</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en-US" sz="14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400" kern="100" dirty="0" err="1">
                <a:effectLst/>
                <a:latin typeface="Power Geez Unicode1" panose="00000400000000000000" pitchFamily="2" charset="0"/>
                <a:ea typeface="Aptos" panose="020B0004020202020204" pitchFamily="34" charset="0"/>
                <a:cs typeface="Times New Roman" panose="02020603050405020304" pitchFamily="18" charset="0"/>
              </a:rPr>
              <a:t>የሚለው</a:t>
            </a:r>
            <a:r>
              <a:rPr lang="en-US" sz="14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400" kern="100" dirty="0" err="1">
                <a:effectLst/>
                <a:latin typeface="Power Geez Unicode1" panose="00000400000000000000" pitchFamily="2" charset="0"/>
                <a:ea typeface="Aptos" panose="020B0004020202020204" pitchFamily="34" charset="0"/>
                <a:cs typeface="Times New Roman" panose="02020603050405020304" pitchFamily="18" charset="0"/>
              </a:rPr>
              <a:t>ቅጽል</a:t>
            </a:r>
            <a:r>
              <a:rPr lang="en-US" sz="14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400" kern="100" dirty="0" err="1">
                <a:effectLst/>
                <a:latin typeface="Power Geez Unicode1" panose="00000400000000000000" pitchFamily="2" charset="0"/>
                <a:ea typeface="Aptos" panose="020B0004020202020204" pitchFamily="34" charset="0"/>
                <a:cs typeface="Times New Roman" panose="02020603050405020304" pitchFamily="18" charset="0"/>
              </a:rPr>
              <a:t>ተባዕታይ</a:t>
            </a:r>
            <a:r>
              <a:rPr lang="en-US" sz="14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en-US" sz="1400" kern="100" dirty="0" err="1">
                <a:effectLst/>
                <a:latin typeface="Power Geez Unicode1" panose="00000400000000000000" pitchFamily="2" charset="0"/>
                <a:ea typeface="Aptos" panose="020B0004020202020204" pitchFamily="34" charset="0"/>
                <a:cs typeface="Times New Roman" panose="02020603050405020304" pitchFamily="18" charset="0"/>
              </a:rPr>
              <a:t>ሄይስ</a:t>
            </a:r>
            <a:r>
              <a:rPr lang="en-US" sz="14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l-GR" sz="1400" kern="100" dirty="0">
                <a:effectLst/>
                <a:latin typeface="BibliaLS"/>
                <a:ea typeface="Aptos" panose="020B0004020202020204" pitchFamily="34" charset="0"/>
                <a:cs typeface="Times New Roman" panose="02020603050405020304" pitchFamily="18" charset="0"/>
              </a:rPr>
              <a:t>εἱ</a:t>
            </a:r>
            <a:r>
              <a:rPr lang="en-US" sz="1400" kern="100" dirty="0">
                <a:effectLst/>
                <a:latin typeface="BibliaLS"/>
                <a:ea typeface="Aptos" panose="020B0004020202020204" pitchFamily="34" charset="0"/>
                <a:cs typeface="Times New Roman" panose="02020603050405020304" pitchFamily="18" charset="0"/>
              </a:rPr>
              <a:t>̂</a:t>
            </a:r>
            <a:r>
              <a:rPr lang="el-GR" sz="1400" kern="100" dirty="0">
                <a:effectLst/>
                <a:latin typeface="BibliaLS"/>
                <a:ea typeface="Aptos" panose="020B0004020202020204" pitchFamily="34" charset="0"/>
                <a:cs typeface="Times New Roman" panose="02020603050405020304" pitchFamily="18" charset="0"/>
              </a:rPr>
              <a:t>ς</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en-US" sz="14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400" kern="100" dirty="0" err="1">
                <a:effectLst/>
                <a:latin typeface="Power Geez Unicode1" panose="00000400000000000000" pitchFamily="2" charset="0"/>
                <a:ea typeface="Aptos" panose="020B0004020202020204" pitchFamily="34" charset="0"/>
                <a:cs typeface="Times New Roman" panose="02020603050405020304" pitchFamily="18" charset="0"/>
              </a:rPr>
              <a:t>አንስታይና</a:t>
            </a:r>
            <a:r>
              <a:rPr lang="en-US" sz="14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GB" sz="1400" dirty="0">
                <a:effectLst/>
                <a:latin typeface="Palatino Linotype" panose="02040502050505030304" pitchFamily="18" charset="0"/>
                <a:ea typeface="Times New Roman" panose="02020603050405020304" pitchFamily="18" charset="0"/>
                <a:cs typeface="Times New Roman" panose="02020603050405020304" pitchFamily="18" charset="0"/>
              </a:rPr>
              <a:t>(</a:t>
            </a:r>
            <a:r>
              <a:rPr lang="en-US" sz="1400" kern="100" dirty="0" err="1">
                <a:effectLst/>
                <a:latin typeface="Power Geez Unicode1" panose="00000400000000000000" pitchFamily="2" charset="0"/>
                <a:ea typeface="Aptos" panose="020B0004020202020204" pitchFamily="34" charset="0"/>
                <a:cs typeface="Times New Roman" panose="02020603050405020304" pitchFamily="18" charset="0"/>
              </a:rPr>
              <a:t>ሚያ</a:t>
            </a:r>
            <a:r>
              <a:rPr lang="en-US" sz="14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l-GR" sz="1400" dirty="0">
                <a:effectLst/>
                <a:latin typeface="BibliaLS"/>
                <a:ea typeface="Times New Roman" panose="02020603050405020304" pitchFamily="18" charset="0"/>
                <a:cs typeface="Times New Roman" panose="02020603050405020304" pitchFamily="18" charset="0"/>
              </a:rPr>
              <a:t>μία</a:t>
            </a:r>
            <a:r>
              <a:rPr lang="en-GB" sz="1400" dirty="0">
                <a:effectLst/>
                <a:latin typeface="Palatino Linotype" panose="02040502050505030304" pitchFamily="18" charset="0"/>
                <a:ea typeface="Times New Roman" panose="02020603050405020304" pitchFamily="18" charset="0"/>
                <a:cs typeface="Times New Roman" panose="02020603050405020304" pitchFamily="18" charset="0"/>
              </a:rPr>
              <a:t>)</a:t>
            </a:r>
            <a:r>
              <a:rPr lang="en-GB" sz="1400" dirty="0">
                <a:effectLst/>
                <a:latin typeface="BibliaLS"/>
                <a:ea typeface="Times New Roman" panose="02020603050405020304" pitchFamily="18" charset="0"/>
                <a:cs typeface="Times New Roman" panose="02020603050405020304" pitchFamily="18" charset="0"/>
              </a:rPr>
              <a:t> </a:t>
            </a:r>
            <a:r>
              <a:rPr lang="en-US" sz="1400" kern="100" dirty="0" err="1">
                <a:effectLst/>
                <a:latin typeface="Power Geez Unicode1" panose="00000400000000000000" pitchFamily="2" charset="0"/>
                <a:ea typeface="Aptos" panose="020B0004020202020204" pitchFamily="34" charset="0"/>
                <a:cs typeface="Times New Roman" panose="02020603050405020304" pitchFamily="18" charset="0"/>
              </a:rPr>
              <a:t>ግዑዝ</a:t>
            </a:r>
            <a:r>
              <a:rPr lang="en-US" sz="14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400" kern="100" dirty="0" err="1">
                <a:effectLst/>
                <a:latin typeface="Power Geez Unicode1" panose="00000400000000000000" pitchFamily="2" charset="0"/>
                <a:ea typeface="Aptos" panose="020B0004020202020204" pitchFamily="34" charset="0"/>
                <a:cs typeface="Times New Roman" panose="02020603050405020304" pitchFamily="18" charset="0"/>
              </a:rPr>
              <a:t>ጾታን</a:t>
            </a:r>
            <a:r>
              <a:rPr lang="en-US" sz="14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GB" sz="1400" dirty="0">
                <a:effectLst/>
                <a:latin typeface="Palatino Linotype" panose="02040502050505030304" pitchFamily="18" charset="0"/>
                <a:ea typeface="Times New Roman" panose="02020603050405020304" pitchFamily="18" charset="0"/>
                <a:cs typeface="Times New Roman" panose="02020603050405020304" pitchFamily="18" charset="0"/>
              </a:rPr>
              <a:t>(</a:t>
            </a:r>
            <a:r>
              <a:rPr lang="en-US" sz="1400" kern="100" dirty="0" err="1">
                <a:effectLst/>
                <a:latin typeface="Power Geez Unicode1" panose="00000400000000000000" pitchFamily="2" charset="0"/>
                <a:ea typeface="Aptos" panose="020B0004020202020204" pitchFamily="34" charset="0"/>
                <a:cs typeface="Times New Roman" panose="02020603050405020304" pitchFamily="18" charset="0"/>
              </a:rPr>
              <a:t>ሒን</a:t>
            </a:r>
            <a:r>
              <a:rPr lang="en-US" sz="14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l-GR" sz="1400" dirty="0">
                <a:effectLst/>
                <a:latin typeface="BibliaLS"/>
                <a:ea typeface="Times New Roman" panose="02020603050405020304" pitchFamily="18" charset="0"/>
                <a:cs typeface="Times New Roman" panose="02020603050405020304" pitchFamily="18" charset="0"/>
              </a:rPr>
              <a:t>ἕν</a:t>
            </a:r>
            <a:r>
              <a:rPr lang="en-GB" sz="1400" dirty="0">
                <a:effectLst/>
                <a:latin typeface="Palatino Linotype" panose="02040502050505030304" pitchFamily="18" charset="0"/>
                <a:ea typeface="Times New Roman" panose="02020603050405020304" pitchFamily="18" charset="0"/>
                <a:cs typeface="Times New Roman" panose="02020603050405020304" pitchFamily="18" charset="0"/>
              </a:rPr>
              <a:t>) </a:t>
            </a:r>
            <a:r>
              <a:rPr lang="en-US" sz="1400" kern="100" dirty="0" err="1">
                <a:effectLst/>
                <a:latin typeface="Power Geez Unicode1" panose="00000400000000000000" pitchFamily="2" charset="0"/>
                <a:ea typeface="Aptos" panose="020B0004020202020204" pitchFamily="34" charset="0"/>
                <a:cs typeface="Times New Roman" panose="02020603050405020304" pitchFamily="18" charset="0"/>
              </a:rPr>
              <a:t>በሚያመለክት</a:t>
            </a:r>
            <a:r>
              <a:rPr lang="en-US" sz="14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400" kern="100" dirty="0" err="1">
                <a:effectLst/>
                <a:latin typeface="Power Geez Unicode1" panose="00000400000000000000" pitchFamily="2" charset="0"/>
                <a:ea typeface="Aptos" panose="020B0004020202020204" pitchFamily="34" charset="0"/>
                <a:cs typeface="Times New Roman" panose="02020603050405020304" pitchFamily="18" charset="0"/>
              </a:rPr>
              <a:t>መልኩ</a:t>
            </a:r>
            <a:r>
              <a:rPr lang="en-US" sz="14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400" kern="100" dirty="0" err="1">
                <a:effectLst/>
                <a:latin typeface="Power Geez Unicode1" panose="00000400000000000000" pitchFamily="2" charset="0"/>
                <a:ea typeface="Aptos" panose="020B0004020202020204" pitchFamily="34" charset="0"/>
                <a:cs typeface="Times New Roman" panose="02020603050405020304" pitchFamily="18" charset="0"/>
              </a:rPr>
              <a:t>የተደራጀ</a:t>
            </a:r>
            <a:r>
              <a:rPr lang="en-US" sz="14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400" kern="100" dirty="0" err="1">
                <a:effectLst/>
                <a:latin typeface="Power Geez Unicode1" panose="00000400000000000000" pitchFamily="2" charset="0"/>
                <a:ea typeface="Aptos" panose="020B0004020202020204" pitchFamily="34" charset="0"/>
                <a:cs typeface="Times New Roman" panose="02020603050405020304" pitchFamily="18" charset="0"/>
              </a:rPr>
              <a:t>ነው</a:t>
            </a:r>
            <a:r>
              <a:rPr lang="en-US" sz="14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GB" sz="1400" dirty="0">
                <a:effectLst/>
                <a:latin typeface="Garamond" panose="02020404030301010803" pitchFamily="18" charset="0"/>
                <a:ea typeface="Times New Roman" panose="02020603050405020304" pitchFamily="18" charset="0"/>
                <a:cs typeface="Times New Roman" panose="02020603050405020304" pitchFamily="18" charset="0"/>
              </a:rPr>
              <a:t>Archibald T. Robertson, </a:t>
            </a:r>
            <a:r>
              <a:rPr lang="en-GB" sz="1400" i="1" dirty="0">
                <a:effectLst/>
                <a:latin typeface="Garamond" panose="02020404030301010803" pitchFamily="18" charset="0"/>
                <a:ea typeface="Times New Roman" panose="02020603050405020304" pitchFamily="18" charset="0"/>
                <a:cs typeface="Times New Roman" panose="02020603050405020304" pitchFamily="18" charset="0"/>
              </a:rPr>
              <a:t>Word Pictures in the New Testament</a:t>
            </a:r>
            <a:r>
              <a:rPr lang="en-GB" sz="1400" dirty="0">
                <a:effectLst/>
                <a:latin typeface="Garamond" panose="02020404030301010803" pitchFamily="18" charset="0"/>
                <a:ea typeface="Times New Roman" panose="02020603050405020304" pitchFamily="18" charset="0"/>
                <a:cs typeface="Times New Roman" panose="02020603050405020304" pitchFamily="18" charset="0"/>
              </a:rPr>
              <a:t> (Nashville Broadman Press, 1933), 5:186. </a:t>
            </a:r>
            <a:r>
              <a:rPr lang="en-GB" sz="1400" dirty="0" err="1">
                <a:effectLst/>
                <a:latin typeface="VG2 Main" panose="020B7200000000000000" pitchFamily="34" charset="0"/>
                <a:ea typeface="Times New Roman" panose="02020603050405020304" pitchFamily="18" charset="0"/>
                <a:cs typeface="Times New Roman" panose="02020603050405020304" pitchFamily="18" charset="0"/>
              </a:rPr>
              <a:t>XNÄ!h#M</a:t>
            </a:r>
            <a:r>
              <a:rPr lang="en-GB" sz="1400" dirty="0">
                <a:effectLst/>
                <a:latin typeface="VG2 Main" panose="020B7200000000000000" pitchFamily="34" charset="0"/>
                <a:ea typeface="Times New Roman" panose="02020603050405020304" pitchFamily="18" charset="0"/>
                <a:cs typeface="Times New Roman" panose="02020603050405020304" pitchFamily="18" charset="0"/>
              </a:rPr>
              <a:t> </a:t>
            </a:r>
            <a:r>
              <a:rPr lang="en-GB" sz="1400" dirty="0">
                <a:effectLst/>
                <a:latin typeface="Garamond" panose="02020404030301010803" pitchFamily="18" charset="0"/>
                <a:ea typeface="Times New Roman" panose="02020603050405020304" pitchFamily="18" charset="0"/>
                <a:cs typeface="Times New Roman" panose="02020603050405020304" pitchFamily="18" charset="0"/>
              </a:rPr>
              <a:t>Murray J. Harris, </a:t>
            </a:r>
            <a:r>
              <a:rPr lang="en-GB" sz="1400" i="1" dirty="0">
                <a:effectLst/>
                <a:latin typeface="Garamond" panose="02020404030301010803" pitchFamily="18" charset="0"/>
                <a:ea typeface="Times New Roman" panose="02020603050405020304" pitchFamily="18" charset="0"/>
                <a:cs typeface="Times New Roman" panose="02020603050405020304" pitchFamily="18" charset="0"/>
              </a:rPr>
              <a:t>Jesus as God: the New Testament Usage of Theos in Reference to Jesus</a:t>
            </a:r>
            <a:r>
              <a:rPr lang="en-GB" sz="1400" dirty="0">
                <a:effectLst/>
                <a:latin typeface="Garamond" panose="02020404030301010803" pitchFamily="18" charset="0"/>
                <a:ea typeface="Times New Roman" panose="02020603050405020304" pitchFamily="18" charset="0"/>
                <a:cs typeface="Times New Roman" panose="02020603050405020304" pitchFamily="18" charset="0"/>
              </a:rPr>
              <a:t> (Grand Rapids: Baker, 1992), 258, n. 38 </a:t>
            </a:r>
            <a:r>
              <a:rPr lang="en-GB" sz="1400" dirty="0" err="1">
                <a:effectLst/>
                <a:latin typeface="Power Geez Unicode1" panose="00000400000000000000" pitchFamily="2" charset="0"/>
                <a:ea typeface="Times New Roman" panose="02020603050405020304" pitchFamily="18" charset="0"/>
                <a:cs typeface="Times New Roman" panose="02020603050405020304" pitchFamily="18" charset="0"/>
              </a:rPr>
              <a:t>ይመለከቷል</a:t>
            </a:r>
            <a:r>
              <a:rPr lang="en-GB" sz="1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400" dirty="0">
                <a:effectLst/>
                <a:latin typeface="VG2 Main" panose="020B7200000000000000" pitchFamily="34" charset="0"/>
                <a:ea typeface="Times New Roman" panose="02020603050405020304" pitchFamily="18" charset="0"/>
                <a:cs typeface="Times New Roman" panose="02020603050405020304" pitchFamily="18" charset="0"/>
              </a:rPr>
              <a:t> </a:t>
            </a:r>
            <a:endParaRPr lang="en-US" sz="14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01338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9380C3-2FA5-06DB-6F21-133FE8C057D3}"/>
              </a:ext>
            </a:extLst>
          </p:cNvPr>
          <p:cNvSpPr txBox="1"/>
          <p:nvPr/>
        </p:nvSpPr>
        <p:spPr>
          <a:xfrm>
            <a:off x="787400" y="680156"/>
            <a:ext cx="10617200" cy="2992871"/>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አራተኛ</a:t>
            </a:r>
            <a:r>
              <a:rPr lang="en-GB" sz="1800" b="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በዚሁ</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ክፍል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አባቴ</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ቍጥር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32)</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እንዲሁም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የእግዚአብሔር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ልጅ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ነኝ</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ቍጥር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36)</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የሚሉትን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ቃላት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እየተናገረ</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መልሶ</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ራሱን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ያደርጋል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ስሕተት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a:p>
            <a:pPr marL="285750" marR="0" indent="-285750" algn="just">
              <a:lnSpc>
                <a:spcPct val="150000"/>
              </a:lnSpc>
              <a:buFont typeface="Wingdings" panose="05000000000000000000" pitchFamily="2" charset="2"/>
              <a:buChar char="q"/>
            </a:pPr>
            <a:r>
              <a:rPr lang="en-GB" sz="1800" b="1" dirty="0" err="1">
                <a:effectLst/>
                <a:latin typeface="Power Geez Unicode1" panose="00000400000000000000" pitchFamily="2" charset="0"/>
                <a:ea typeface="Malgun Gothic" panose="020B0503020000020004" pitchFamily="34" charset="-127"/>
                <a:cs typeface="Malgun Gothic" panose="020B0503020000020004" pitchFamily="34" charset="-127"/>
              </a:rPr>
              <a:t>አምስተኛ</a:t>
            </a:r>
            <a:r>
              <a:rPr lang="en-GB" sz="1800" b="1"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በክፍሉ</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ውስጥ</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ኢየሱስ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አንድ</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ግሪኩ</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ሂን</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l-GR" sz="1800" dirty="0">
                <a:effectLst/>
                <a:latin typeface="BibliaLS"/>
                <a:ea typeface="Times New Roman" panose="02020603050405020304" pitchFamily="18" charset="0"/>
                <a:cs typeface="Times New Roman" panose="02020603050405020304" pitchFamily="18" charset="0"/>
              </a:rPr>
              <a:t>ἕν</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የሚለውን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ቃል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የተጠቀመው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የአካል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አንድነትን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ለማሳየት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ነው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ከተባለ</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በዚሁ</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መጽሐፍ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ውስጥ</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ኢየሱስ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እኛም</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አብና</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ወልድ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አንድ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እንደ</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ሆንን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አንድ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ይሆኑ</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ዘንድ</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ዮሐንስ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10</a:t>
            </a:r>
            <a:r>
              <a:rPr lang="en-GB" sz="20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30</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ከ</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17</a:t>
            </a:r>
            <a:r>
              <a:rPr lang="en-GB" sz="20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21-23</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ጋር</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ያነጻጽሩ</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ሲል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ለደቀ</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መዛሙርቱ</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የጸለየው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ጸሎት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ደቀ</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መዛሙርቱ</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የዐላማ</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ወይም</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የልብ</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አንድነት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እንዲኖራቸው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ሳይሆን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የአካል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አንድነት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እንዲኖራቸው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ነው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ማለት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ነው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ይህ</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ደግሞ</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እንግዳ</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ዐስተሳሰብ</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ነው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D0318AE-F127-DA4B-3E0B-67B0FB509565}"/>
              </a:ext>
            </a:extLst>
          </p:cNvPr>
          <p:cNvSpPr txBox="1"/>
          <p:nvPr/>
        </p:nvSpPr>
        <p:spPr>
          <a:xfrm>
            <a:off x="965200" y="3649429"/>
            <a:ext cx="10439400" cy="1795043"/>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b="1" dirty="0" err="1">
                <a:effectLst/>
                <a:latin typeface="Power Geez Unicode1" panose="00000400000000000000" pitchFamily="2" charset="0"/>
                <a:ea typeface="Malgun Gothic" panose="020B0503020000020004" pitchFamily="34" charset="-127"/>
                <a:cs typeface="Malgun Gothic" panose="020B0503020000020004" pitchFamily="34" charset="-127"/>
              </a:rPr>
              <a:t>ስድስተኛ</a:t>
            </a:r>
            <a:r>
              <a:rPr lang="en-GB" sz="1800" b="1"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ኢየሱስ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እኔና</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አብ</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አንድ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ነን</a:t>
            </a:r>
            <a:r>
              <a:rPr lang="en-GB" sz="18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ሲል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አይሁድ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ሊወግሩት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ድንጋይ</a:t>
            </a:r>
            <a:r>
              <a:rPr lang="en-GB" sz="18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ያነሡበት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ምክንያት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ቍጥር</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31)</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ሕጋቸው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ራሱን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ከእግዚአብሔር</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ጋር</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ያስተካከለ</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እግዚአብሔርን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መሳደቡ</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ስለሆነ</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በድንጋይ</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ይወገር</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ስለሚል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ነው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ዘሌዋውያን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24</a:t>
            </a:r>
            <a:r>
              <a:rPr lang="en-GB" sz="20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16</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ማቴዎስ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26</a:t>
            </a:r>
            <a:r>
              <a:rPr lang="en-GB" sz="20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66</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ማርቆስ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14</a:t>
            </a:r>
            <a:r>
              <a:rPr lang="en-GB" sz="20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64</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ዮሐንስ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19</a:t>
            </a:r>
            <a:r>
              <a:rPr lang="en-GB" sz="20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31</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የሐዋርያት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ሥራ</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7</a:t>
            </a:r>
            <a:r>
              <a:rPr lang="en-GB" sz="20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58)</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77876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D5ADEC-6F53-B377-EC98-7439304BC555}"/>
              </a:ext>
            </a:extLst>
          </p:cNvPr>
          <p:cNvSpPr txBox="1"/>
          <p:nvPr/>
        </p:nvSpPr>
        <p:spPr>
          <a:xfrm>
            <a:off x="618067" y="502114"/>
            <a:ext cx="10981266" cy="1294072"/>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b="1" dirty="0" err="1">
                <a:effectLst/>
                <a:latin typeface="Power Geez Unicode1" panose="00000400000000000000" pitchFamily="2" charset="0"/>
                <a:ea typeface="Malgun Gothic" panose="020B0503020000020004" pitchFamily="34" charset="-127"/>
                <a:cs typeface="Malgun Gothic" panose="020B0503020000020004" pitchFamily="34" charset="-127"/>
              </a:rPr>
              <a:t>ሰባተኛ</a:t>
            </a:r>
            <a:r>
              <a:rPr lang="en-GB" sz="1800" b="1"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ይህን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ክፍል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መሠረት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አድርገን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አብና</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ወልድ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አንድ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አካል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ናቸው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ካልን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Garamond" panose="02020404030301010803" pitchFamily="18" charset="0"/>
                <a:ea typeface="Malgun Gothic" panose="020B0503020000020004" pitchFamily="34" charset="-127"/>
                <a:cs typeface="Malgun Gothic" panose="020B0503020000020004" pitchFamily="34" charset="-127"/>
              </a:rPr>
              <a:t>(</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አኃዛዊ</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አንድነት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ካላቸው</a:t>
            </a:r>
            <a:r>
              <a:rPr lang="en-GB" sz="1800" dirty="0">
                <a:effectLst/>
                <a:latin typeface="Garamond" panose="02020404030301010803" pitchFamily="18" charset="0"/>
                <a:ea typeface="Malgun Gothic" panose="020B0503020000020004" pitchFamily="34" charset="-127"/>
                <a:cs typeface="Malgun Gothic" panose="020B0503020000020004" pitchFamily="34" charset="-127"/>
              </a:rPr>
              <a:t>)</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ድርጅቱ</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ኢየሱስ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አብ</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የተገለጠበት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የለበሰው</a:t>
            </a:r>
            <a:r>
              <a:rPr lang="en-GB" sz="18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ሥጋ</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ነው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ለምን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ይላል</a:t>
            </a:r>
            <a:r>
              <a:rPr lang="en-GB" sz="1800" dirty="0">
                <a:effectLst/>
                <a:latin typeface="Garamond" panose="02020404030301010803" pitchFamily="18" charset="0"/>
                <a:ea typeface="Malgun Gothic" panose="020B0503020000020004" pitchFamily="34" charset="-127"/>
                <a:cs typeface="Malgun Gothic" panose="020B0503020000020004" pitchFamily="34" charset="-127"/>
              </a:rPr>
              <a:t>?</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ኢየሱስ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አምላክ</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ነው</a:t>
            </a:r>
            <a:r>
              <a:rPr lang="en-GB" sz="18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ለምን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አይልም</a:t>
            </a:r>
            <a:r>
              <a:rPr lang="en-GB" sz="1800" dirty="0">
                <a:effectLst/>
                <a:latin typeface="Garamond" panose="02020404030301010803" pitchFamily="18" charset="0"/>
                <a:ea typeface="Malgun Gothic" panose="020B0503020000020004" pitchFamily="34" charset="-127"/>
                <a:cs typeface="Malgun Gothic" panose="020B0503020000020004" pitchFamily="34" charset="-127"/>
              </a:rPr>
              <a:t>?</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በምንስ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አግባብ</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የተለበሰ</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ልብስ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ከለባሹ</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ጋር</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እንደ</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አንድ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ይቈጠራል</a:t>
            </a:r>
            <a:r>
              <a:rPr lang="en-GB" sz="1800" dirty="0">
                <a:effectLst/>
                <a:latin typeface="Garamond" panose="02020404030301010803" pitchFamily="18" charset="0"/>
                <a:ea typeface="Malgun Gothic" panose="020B0503020000020004" pitchFamily="34" charset="-127"/>
                <a:cs typeface="Malgun Gothic" panose="020B0503020000020004" pitchFamily="34" charset="-127"/>
              </a:rPr>
              <a:t>?</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C8CBB0A-339E-B7C5-32A5-62A8DE3FB9FF}"/>
              </a:ext>
            </a:extLst>
          </p:cNvPr>
          <p:cNvSpPr txBox="1"/>
          <p:nvPr/>
        </p:nvSpPr>
        <p:spPr>
          <a:xfrm>
            <a:off x="618067" y="1796186"/>
            <a:ext cx="10845800" cy="1554272"/>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b="1" dirty="0" err="1">
                <a:effectLst/>
                <a:latin typeface="Power Geez Unicode1" panose="00000400000000000000" pitchFamily="2" charset="0"/>
                <a:ea typeface="Malgun Gothic" panose="020B0503020000020004" pitchFamily="34" charset="-127"/>
                <a:cs typeface="Malgun Gothic" panose="020B0503020000020004" pitchFamily="34" charset="-127"/>
              </a:rPr>
              <a:t>ስምንተኛ</a:t>
            </a:r>
            <a:r>
              <a:rPr lang="en-GB" sz="1800" b="1" dirty="0">
                <a:effectLst/>
                <a:latin typeface="Power Geez Unicode1" panose="00000400000000000000" pitchFamily="2" charset="0"/>
                <a:ea typeface="Malgun Gothic" panose="020B0503020000020004" pitchFamily="34" charset="-127"/>
                <a:cs typeface="Malgun Gothic" panose="020B0503020000020004" pitchFamily="34" charset="-127"/>
              </a:rPr>
              <a:t>፤</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ቢሾፕ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ተክሌ</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Times New Roman" panose="02020603050405020304" pitchFamily="18" charset="0"/>
                <a:ea typeface="Malgun Gothic" panose="020B0503020000020004" pitchFamily="34" charset="-127"/>
              </a:rPr>
              <a:t>“</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አብ</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ወልድ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ውስጥ</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በውሕደት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መኖሩን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መግለጡ</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እንደ</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ሆነ</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እንረዳለን</a:t>
            </a:r>
            <a:r>
              <a:rPr lang="en-GB" sz="1800" dirty="0">
                <a:effectLst/>
                <a:latin typeface="Times New Roman" panose="02020603050405020304" pitchFamily="18" charset="0"/>
                <a:ea typeface="Malgun Gothic" panose="020B0503020000020004" pitchFamily="34" charset="-127"/>
              </a:rPr>
              <a:t>”</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የሚለው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ንግግራቸው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የሰውን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ተፈጥሮ</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ታሳቢ</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አድርገው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እየተናገሩ</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ያለ</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ይመስላል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ሰው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ቊሳዊ</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ማንነት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እንዳለው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ሁሉ</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መንፈሳዊ</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ማንነትም</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አለው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a:t>
            </a:r>
            <a:r>
              <a:rPr lang="en-US" dirty="0">
                <a:effectLst/>
              </a:rPr>
              <a:t> </a:t>
            </a:r>
            <a:r>
              <a:rPr lang="en-GB" sz="1400" dirty="0">
                <a:effectLst/>
                <a:latin typeface="Garamond" panose="02020404030301010803" pitchFamily="18" charset="0"/>
                <a:ea typeface="Times New Roman" panose="02020603050405020304" pitchFamily="18" charset="0"/>
                <a:cs typeface="Times New Roman" panose="02020603050405020304" pitchFamily="18" charset="0"/>
              </a:rPr>
              <a:t> </a:t>
            </a:r>
            <a:endParaRPr lang="en-US" sz="1400" dirty="0">
              <a:effectLst/>
              <a:latin typeface="VG2 Main" panose="020B7200000000000000" pitchFamily="34" charset="0"/>
              <a:ea typeface="Times New Roman" panose="02020603050405020304" pitchFamily="18" charset="0"/>
              <a:cs typeface="Times New Roman" panose="02020603050405020304" pitchFamily="18" charset="0"/>
            </a:endParaRPr>
          </a:p>
          <a:p>
            <a:pPr marL="0" marR="0">
              <a:buNone/>
            </a:pPr>
            <a:r>
              <a:rPr lang="en-GB" sz="1400" dirty="0">
                <a:effectLst/>
                <a:latin typeface="VG2 Main" panose="020B7200000000000000" pitchFamily="34" charset="0"/>
                <a:ea typeface="Times New Roman" panose="02020603050405020304" pitchFamily="18" charset="0"/>
                <a:cs typeface="Times New Roman" panose="02020603050405020304" pitchFamily="18" charset="0"/>
              </a:rPr>
              <a:t> </a:t>
            </a:r>
            <a:endParaRPr lang="en-US" sz="14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EB953CE-16F7-76D6-237B-E2F9538944E7}"/>
              </a:ext>
            </a:extLst>
          </p:cNvPr>
          <p:cNvSpPr txBox="1"/>
          <p:nvPr/>
        </p:nvSpPr>
        <p:spPr>
          <a:xfrm>
            <a:off x="740833" y="3507543"/>
            <a:ext cx="10735734" cy="1709571"/>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በአጠቃላይ</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የክፍሉ</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ሰዋስውም</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ሆነ</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የክፍሉ</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ዐውድ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በግልጥ</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የሚያስተምረን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ጒዳይ</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አብና</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ወልድ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አንድ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አካል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መሆናቸውን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ሳይሆን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አብና</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ወልድ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አንድ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ባሕርይ</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Garamond" panose="02020404030301010803" pitchFamily="18" charset="0"/>
                <a:ea typeface="Malgun Gothic" panose="020B0503020000020004" pitchFamily="34" charset="-127"/>
                <a:cs typeface="Times New Roman" panose="02020603050405020304" pitchFamily="18" charset="0"/>
              </a:rPr>
              <a:t>(essence)</a:t>
            </a:r>
            <a:r>
              <a:rPr lang="en-GB" sz="18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GB" sz="1800" dirty="0" err="1">
                <a:effectLst/>
                <a:latin typeface="Power Geez Unicode1" panose="00000400000000000000" pitchFamily="2" charset="0"/>
                <a:ea typeface="Malgun Gothic" panose="020B0503020000020004" pitchFamily="34" charset="-127"/>
                <a:cs typeface="Times New Roman" panose="02020603050405020304" pitchFamily="18" charset="0"/>
              </a:rPr>
              <a:t>እንዳላቸው</a:t>
            </a:r>
            <a:r>
              <a:rPr lang="en-GB" sz="1800" dirty="0">
                <a:effectLst/>
                <a:latin typeface="Power Geez Unicode1" panose="00000400000000000000" pitchFamily="2" charset="0"/>
                <a:ea typeface="Malgun Gothic" panose="020B0503020000020004" pitchFamily="34" charset="-127"/>
                <a:cs typeface="Times New Roman" panose="02020603050405020304" pitchFamily="18" charset="0"/>
              </a:rPr>
              <a:t> </a:t>
            </a:r>
            <a:r>
              <a:rPr lang="en-GB" sz="1800" dirty="0" err="1">
                <a:effectLst/>
                <a:latin typeface="Power Geez Unicode1" panose="00000400000000000000" pitchFamily="2" charset="0"/>
                <a:ea typeface="Malgun Gothic" panose="020B0503020000020004" pitchFamily="34" charset="-127"/>
                <a:cs typeface="Times New Roman" panose="02020603050405020304" pitchFamily="18" charset="0"/>
              </a:rPr>
              <a:t>ነው</a:t>
            </a:r>
            <a:r>
              <a:rPr lang="en-GB" sz="1800" dirty="0">
                <a:effectLst/>
                <a:latin typeface="Power Geez Unicode1" panose="00000400000000000000" pitchFamily="2" charset="0"/>
                <a:ea typeface="Malgun Gothic" panose="020B0503020000020004" pitchFamily="34" charset="-127"/>
                <a:cs typeface="Times New Roman" panose="02020603050405020304" pitchFamily="18" charset="0"/>
              </a:rPr>
              <a:t>፡፡ </a:t>
            </a:r>
            <a:r>
              <a:rPr lang="en-GB" sz="1800" dirty="0" err="1">
                <a:effectLst/>
                <a:latin typeface="Power Geez Unicode1" panose="00000400000000000000" pitchFamily="2" charset="0"/>
                <a:ea typeface="Malgun Gothic" panose="020B0503020000020004" pitchFamily="34" charset="-127"/>
                <a:cs typeface="Times New Roman" panose="02020603050405020304" pitchFamily="18" charset="0"/>
              </a:rPr>
              <a:t>ስለዚህ</a:t>
            </a:r>
            <a:r>
              <a:rPr lang="en-GB" sz="1800" dirty="0">
                <a:effectLst/>
                <a:latin typeface="Power Geez Unicode1" panose="00000400000000000000" pitchFamily="2" charset="0"/>
                <a:ea typeface="Malgun Gothic" panose="020B0503020000020004" pitchFamily="34" charset="-127"/>
                <a:cs typeface="Times New Roman" panose="02020603050405020304" pitchFamily="18" charset="0"/>
              </a:rPr>
              <a:t> </a:t>
            </a:r>
            <a:r>
              <a:rPr lang="en-GB" sz="18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1800" dirty="0" err="1">
                <a:effectLst/>
                <a:latin typeface="Power Geez Unicode1" panose="00000400000000000000" pitchFamily="2" charset="0"/>
                <a:ea typeface="Malgun Gothic" panose="020B0503020000020004" pitchFamily="34" charset="-127"/>
                <a:cs typeface="Times New Roman" panose="02020603050405020304" pitchFamily="18" charset="0"/>
              </a:rPr>
              <a:t>የሐዋርያት</a:t>
            </a:r>
            <a:r>
              <a:rPr lang="en-GB" sz="1800" dirty="0">
                <a:effectLst/>
                <a:latin typeface="Power Geez Unicode1" panose="00000400000000000000" pitchFamily="2" charset="0"/>
                <a:ea typeface="Malgun Gothic" panose="020B0503020000020004" pitchFamily="34" charset="-127"/>
                <a:cs typeface="Times New Roman" panose="02020603050405020304" pitchFamily="18" charset="0"/>
              </a:rPr>
              <a:t> </a:t>
            </a:r>
            <a:r>
              <a:rPr lang="en-GB" sz="1800" dirty="0" err="1">
                <a:effectLst/>
                <a:latin typeface="Power Geez Unicode1" panose="00000400000000000000" pitchFamily="2" charset="0"/>
                <a:ea typeface="Malgun Gothic" panose="020B0503020000020004" pitchFamily="34" charset="-127"/>
                <a:cs typeface="Times New Roman" panose="02020603050405020304" pitchFamily="18" charset="0"/>
              </a:rPr>
              <a:t>ቤተ</a:t>
            </a:r>
            <a:r>
              <a:rPr lang="en-GB" sz="1800" dirty="0">
                <a:effectLst/>
                <a:latin typeface="Power Geez Unicode1" panose="00000400000000000000" pitchFamily="2" charset="0"/>
                <a:ea typeface="Malgun Gothic" panose="020B0503020000020004" pitchFamily="34" charset="-127"/>
                <a:cs typeface="Times New Roman" panose="02020603050405020304" pitchFamily="18" charset="0"/>
              </a:rPr>
              <a:t> </a:t>
            </a:r>
            <a:r>
              <a:rPr lang="en-GB" sz="1800" dirty="0" err="1">
                <a:effectLst/>
                <a:latin typeface="Power Geez Unicode1" panose="00000400000000000000" pitchFamily="2" charset="0"/>
                <a:ea typeface="Malgun Gothic" panose="020B0503020000020004" pitchFamily="34" charset="-127"/>
                <a:cs typeface="Times New Roman" panose="02020603050405020304" pitchFamily="18" charset="0"/>
              </a:rPr>
              <a:t>ክርስቲያን</a:t>
            </a:r>
            <a:r>
              <a:rPr lang="en-GB" sz="18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GB" sz="1800" dirty="0">
                <a:effectLst/>
                <a:latin typeface="Power Geez Unicode1" panose="00000400000000000000" pitchFamily="2" charset="0"/>
                <a:ea typeface="Malgun Gothic" panose="020B0503020000020004" pitchFamily="34" charset="-127"/>
                <a:cs typeface="Times New Roman" panose="02020603050405020304" pitchFamily="18" charset="0"/>
              </a:rPr>
              <a:t> </a:t>
            </a:r>
            <a:r>
              <a:rPr lang="en-GB" sz="1800" dirty="0" err="1">
                <a:effectLst/>
                <a:latin typeface="Power Geez Unicode1" panose="00000400000000000000" pitchFamily="2" charset="0"/>
                <a:ea typeface="Malgun Gothic" panose="020B0503020000020004" pitchFamily="34" charset="-127"/>
                <a:cs typeface="Times New Roman" panose="02020603050405020304" pitchFamily="18" charset="0"/>
              </a:rPr>
              <a:t>መምህራን</a:t>
            </a:r>
            <a:r>
              <a:rPr lang="en-GB" sz="1800" dirty="0">
                <a:effectLst/>
                <a:latin typeface="Power Geez Unicode1" panose="00000400000000000000" pitchFamily="2" charset="0"/>
                <a:ea typeface="Malgun Gothic" panose="020B0503020000020004" pitchFamily="34" charset="-127"/>
                <a:cs typeface="Times New Roman" panose="02020603050405020304" pitchFamily="18" charset="0"/>
              </a:rPr>
              <a:t> </a:t>
            </a:r>
            <a:r>
              <a:rPr lang="en-GB" sz="1800" dirty="0" err="1">
                <a:effectLst/>
                <a:latin typeface="Power Geez Unicode1" panose="00000400000000000000" pitchFamily="2" charset="0"/>
                <a:ea typeface="Malgun Gothic" panose="020B0503020000020004" pitchFamily="34" charset="-127"/>
                <a:cs typeface="Times New Roman" panose="02020603050405020304" pitchFamily="18" charset="0"/>
              </a:rPr>
              <a:t>ይህን</a:t>
            </a:r>
            <a:r>
              <a:rPr lang="en-GB" sz="1800" dirty="0">
                <a:effectLst/>
                <a:latin typeface="Power Geez Unicode1" panose="00000400000000000000" pitchFamily="2" charset="0"/>
                <a:ea typeface="Malgun Gothic" panose="020B0503020000020004" pitchFamily="34" charset="-127"/>
                <a:cs typeface="Times New Roman" panose="02020603050405020304" pitchFamily="18" charset="0"/>
              </a:rPr>
              <a:t> </a:t>
            </a:r>
            <a:r>
              <a:rPr lang="en-GB" sz="1800" dirty="0" err="1">
                <a:effectLst/>
                <a:latin typeface="Power Geez Unicode1" panose="00000400000000000000" pitchFamily="2" charset="0"/>
                <a:ea typeface="Malgun Gothic" panose="020B0503020000020004" pitchFamily="34" charset="-127"/>
                <a:cs typeface="Times New Roman" panose="02020603050405020304" pitchFamily="18" charset="0"/>
              </a:rPr>
              <a:t>ክፍል</a:t>
            </a:r>
            <a:r>
              <a:rPr lang="en-GB" sz="1800" dirty="0">
                <a:effectLst/>
                <a:latin typeface="Power Geez Unicode1" panose="00000400000000000000" pitchFamily="2" charset="0"/>
                <a:ea typeface="Malgun Gothic" panose="020B0503020000020004" pitchFamily="34" charset="-127"/>
                <a:cs typeface="Times New Roman" panose="02020603050405020304" pitchFamily="18" charset="0"/>
              </a:rPr>
              <a:t> </a:t>
            </a:r>
            <a:r>
              <a:rPr lang="en-GB" sz="1800" dirty="0" err="1">
                <a:effectLst/>
                <a:latin typeface="Power Geez Unicode1" panose="00000400000000000000" pitchFamily="2" charset="0"/>
                <a:ea typeface="Malgun Gothic" panose="020B0503020000020004" pitchFamily="34" charset="-127"/>
                <a:cs typeface="Times New Roman" panose="02020603050405020304" pitchFamily="18" charset="0"/>
              </a:rPr>
              <a:t>በመጥቀስ</a:t>
            </a:r>
            <a:r>
              <a:rPr lang="en-GB" sz="1800" dirty="0">
                <a:effectLst/>
                <a:latin typeface="Power Geez Unicode1" panose="00000400000000000000" pitchFamily="2" charset="0"/>
                <a:ea typeface="Malgun Gothic" panose="020B0503020000020004" pitchFamily="34" charset="-127"/>
                <a:cs typeface="Times New Roman" panose="02020603050405020304" pitchFamily="18" charset="0"/>
              </a:rPr>
              <a:t> </a:t>
            </a:r>
            <a:r>
              <a:rPr lang="en-GB" sz="1800" dirty="0" err="1">
                <a:effectLst/>
                <a:latin typeface="Power Geez Unicode1" panose="00000400000000000000" pitchFamily="2" charset="0"/>
                <a:ea typeface="Malgun Gothic" panose="020B0503020000020004" pitchFamily="34" charset="-127"/>
                <a:cs typeface="Times New Roman" panose="02020603050405020304" pitchFamily="18" charset="0"/>
              </a:rPr>
              <a:t>ቃለ</a:t>
            </a:r>
            <a:r>
              <a:rPr lang="en-GB" sz="1800" dirty="0">
                <a:effectLst/>
                <a:latin typeface="Power Geez Unicode1" panose="00000400000000000000" pitchFamily="2" charset="0"/>
                <a:ea typeface="Malgun Gothic" panose="020B0503020000020004" pitchFamily="34" charset="-127"/>
                <a:cs typeface="Times New Roman" panose="02020603050405020304" pitchFamily="18" charset="0"/>
              </a:rPr>
              <a:t> </a:t>
            </a:r>
            <a:r>
              <a:rPr lang="en-GB" sz="1800" dirty="0" err="1">
                <a:effectLst/>
                <a:latin typeface="Power Geez Unicode1" panose="00000400000000000000" pitchFamily="2" charset="0"/>
                <a:ea typeface="Malgun Gothic" panose="020B0503020000020004" pitchFamily="34" charset="-127"/>
                <a:cs typeface="Times New Roman" panose="02020603050405020304" pitchFamily="18" charset="0"/>
              </a:rPr>
              <a:t>እግዚአብሔር</a:t>
            </a:r>
            <a:r>
              <a:rPr lang="en-GB" sz="1800" dirty="0">
                <a:effectLst/>
                <a:latin typeface="Power Geez Unicode1" panose="00000400000000000000" pitchFamily="2" charset="0"/>
                <a:ea typeface="Malgun Gothic" panose="020B0503020000020004" pitchFamily="34" charset="-127"/>
                <a:cs typeface="Times New Roman" panose="02020603050405020304" pitchFamily="18" charset="0"/>
              </a:rPr>
              <a:t> </a:t>
            </a:r>
            <a:r>
              <a:rPr lang="en-GB" sz="1800" dirty="0" err="1">
                <a:effectLst/>
                <a:latin typeface="Power Geez Unicode1" panose="00000400000000000000" pitchFamily="2" charset="0"/>
                <a:ea typeface="Malgun Gothic" panose="020B0503020000020004" pitchFamily="34" charset="-127"/>
                <a:cs typeface="Times New Roman" panose="02020603050405020304" pitchFamily="18" charset="0"/>
              </a:rPr>
              <a:t>አብና</a:t>
            </a:r>
            <a:r>
              <a:rPr lang="en-GB" sz="1800" dirty="0">
                <a:effectLst/>
                <a:latin typeface="Power Geez Unicode1" panose="00000400000000000000" pitchFamily="2" charset="0"/>
                <a:ea typeface="Malgun Gothic" panose="020B0503020000020004" pitchFamily="34" charset="-127"/>
                <a:cs typeface="Times New Roman" panose="02020603050405020304" pitchFamily="18" charset="0"/>
              </a:rPr>
              <a:t> </a:t>
            </a:r>
            <a:r>
              <a:rPr lang="en-GB" sz="1800" dirty="0" err="1">
                <a:effectLst/>
                <a:latin typeface="Power Geez Unicode1" panose="00000400000000000000" pitchFamily="2" charset="0"/>
                <a:ea typeface="Malgun Gothic" panose="020B0503020000020004" pitchFamily="34" charset="-127"/>
                <a:cs typeface="Times New Roman" panose="02020603050405020304" pitchFamily="18" charset="0"/>
              </a:rPr>
              <a:t>ወልድ</a:t>
            </a:r>
            <a:r>
              <a:rPr lang="en-GB" sz="1800" dirty="0">
                <a:effectLst/>
                <a:latin typeface="Power Geez Unicode1" panose="00000400000000000000" pitchFamily="2" charset="0"/>
                <a:ea typeface="Malgun Gothic" panose="020B0503020000020004" pitchFamily="34" charset="-127"/>
                <a:cs typeface="Times New Roman" panose="02020603050405020304" pitchFamily="18" charset="0"/>
              </a:rPr>
              <a:t> አንድ </a:t>
            </a:r>
            <a:r>
              <a:rPr lang="en-GB" sz="1800" dirty="0" err="1">
                <a:effectLst/>
                <a:latin typeface="Power Geez Unicode1" panose="00000400000000000000" pitchFamily="2" charset="0"/>
                <a:ea typeface="Malgun Gothic" panose="020B0503020000020004" pitchFamily="34" charset="-127"/>
                <a:cs typeface="Times New Roman" panose="02020603050405020304" pitchFamily="18" charset="0"/>
              </a:rPr>
              <a:t>መሆናቸውን</a:t>
            </a:r>
            <a:r>
              <a:rPr lang="en-GB" sz="1800" dirty="0">
                <a:effectLst/>
                <a:latin typeface="Power Geez Unicode1" panose="00000400000000000000" pitchFamily="2" charset="0"/>
                <a:ea typeface="Malgun Gothic" panose="020B0503020000020004" pitchFamily="34" charset="-127"/>
                <a:cs typeface="Times New Roman" panose="02020603050405020304" pitchFamily="18" charset="0"/>
              </a:rPr>
              <a:t> </a:t>
            </a:r>
            <a:r>
              <a:rPr lang="en-GB" sz="1800" dirty="0" err="1">
                <a:effectLst/>
                <a:latin typeface="Power Geez Unicode1" panose="00000400000000000000" pitchFamily="2" charset="0"/>
                <a:ea typeface="Malgun Gothic" panose="020B0503020000020004" pitchFamily="34" charset="-127"/>
                <a:cs typeface="Times New Roman" panose="02020603050405020304" pitchFamily="18" charset="0"/>
              </a:rPr>
              <a:t>ያስተምራሉ</a:t>
            </a:r>
            <a:r>
              <a:rPr lang="en-GB" sz="1800" dirty="0">
                <a:effectLst/>
                <a:latin typeface="Power Geez Unicode1" panose="00000400000000000000" pitchFamily="2" charset="0"/>
                <a:ea typeface="Malgun Gothic" panose="020B0503020000020004" pitchFamily="34" charset="-127"/>
                <a:cs typeface="Times New Roman" panose="02020603050405020304" pitchFamily="18" charset="0"/>
              </a:rPr>
              <a:t> </a:t>
            </a:r>
            <a:r>
              <a:rPr lang="en-GB" sz="1800" dirty="0" err="1">
                <a:effectLst/>
                <a:latin typeface="Power Geez Unicode1" panose="00000400000000000000" pitchFamily="2" charset="0"/>
                <a:ea typeface="Malgun Gothic" panose="020B0503020000020004" pitchFamily="34" charset="-127"/>
                <a:cs typeface="Times New Roman" panose="02020603050405020304" pitchFamily="18" charset="0"/>
              </a:rPr>
              <a:t>ማለታቸው</a:t>
            </a:r>
            <a:r>
              <a:rPr lang="en-GB" sz="1800" dirty="0">
                <a:effectLst/>
                <a:latin typeface="Power Geez Unicode1" panose="00000400000000000000" pitchFamily="2" charset="0"/>
                <a:ea typeface="Malgun Gothic" panose="020B0503020000020004" pitchFamily="34" charset="-127"/>
                <a:cs typeface="Times New Roman" panose="02020603050405020304" pitchFamily="18" charset="0"/>
              </a:rPr>
              <a:t> </a:t>
            </a:r>
            <a:r>
              <a:rPr lang="en-GB" sz="1800" dirty="0" err="1">
                <a:effectLst/>
                <a:latin typeface="Power Geez Unicode1" panose="00000400000000000000" pitchFamily="2" charset="0"/>
                <a:ea typeface="Malgun Gothic" panose="020B0503020000020004" pitchFamily="34" charset="-127"/>
                <a:cs typeface="Times New Roman" panose="02020603050405020304" pitchFamily="18" charset="0"/>
              </a:rPr>
              <a:t>ትክክል</a:t>
            </a:r>
            <a:r>
              <a:rPr lang="en-GB" sz="1800" dirty="0">
                <a:effectLst/>
                <a:latin typeface="Power Geez Unicode1" panose="00000400000000000000" pitchFamily="2" charset="0"/>
                <a:ea typeface="Malgun Gothic" panose="020B0503020000020004" pitchFamily="34" charset="-127"/>
                <a:cs typeface="Times New Roman" panose="02020603050405020304" pitchFamily="18" charset="0"/>
              </a:rPr>
              <a:t> </a:t>
            </a:r>
            <a:r>
              <a:rPr lang="en-GB" sz="1800" dirty="0" err="1">
                <a:effectLst/>
                <a:latin typeface="Power Geez Unicode1" panose="00000400000000000000" pitchFamily="2" charset="0"/>
                <a:ea typeface="Malgun Gothic" panose="020B0503020000020004" pitchFamily="34" charset="-127"/>
                <a:cs typeface="Times New Roman" panose="02020603050405020304" pitchFamily="18" charset="0"/>
              </a:rPr>
              <a:t>ነውን</a:t>
            </a:r>
            <a:r>
              <a:rPr lang="en-GB" sz="1800" dirty="0">
                <a:effectLst/>
                <a:latin typeface="Garamond" panose="02020404030301010803" pitchFamily="18" charset="0"/>
                <a:ea typeface="Malgun Gothic" panose="020B0503020000020004" pitchFamily="34" charset="-127"/>
                <a:cs typeface="Times New Roman" panose="02020603050405020304" pitchFamily="18" charset="0"/>
              </a:rPr>
              <a:t>?</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2105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78D69C-A309-A0FE-1158-D0D85F086B5E}"/>
              </a:ext>
            </a:extLst>
          </p:cNvPr>
          <p:cNvSpPr txBox="1"/>
          <p:nvPr/>
        </p:nvSpPr>
        <p:spPr>
          <a:xfrm>
            <a:off x="770467" y="775359"/>
            <a:ext cx="10651066" cy="5576335"/>
          </a:xfrm>
          <a:prstGeom prst="rect">
            <a:avLst/>
          </a:prstGeom>
          <a:noFill/>
        </p:spPr>
        <p:txBody>
          <a:bodyPr wrap="square">
            <a:spAutoFit/>
          </a:bodyPr>
          <a:lstStyle/>
          <a:p>
            <a:pPr marL="0" marR="0" algn="ctr">
              <a:lnSpc>
                <a:spcPct val="150000"/>
              </a:lnSpc>
              <a:spcBef>
                <a:spcPts val="1200"/>
              </a:spcBef>
              <a:buNone/>
            </a:pPr>
            <a:r>
              <a:rPr lang="en-US" sz="36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3200" dirty="0" err="1">
                <a:effectLst/>
                <a:latin typeface="Ethiopic Sadiss Light" pitchFamily="2" charset="0"/>
                <a:ea typeface="Times New Roman" panose="02020603050405020304" pitchFamily="18" charset="0"/>
                <a:cs typeface="Times New Roman" panose="02020603050405020304" pitchFamily="18" charset="0"/>
              </a:rPr>
              <a:t>እኔ</a:t>
            </a:r>
            <a:r>
              <a:rPr lang="en-US" sz="3200" dirty="0">
                <a:effectLst/>
                <a:latin typeface="Ethiopic Sadiss Light" pitchFamily="2" charset="0"/>
                <a:ea typeface="Times New Roman" panose="02020603050405020304" pitchFamily="18" charset="0"/>
                <a:cs typeface="Times New Roman" panose="02020603050405020304" pitchFamily="18" charset="0"/>
              </a:rPr>
              <a:t> </a:t>
            </a:r>
            <a:r>
              <a:rPr lang="en-US" sz="3200" dirty="0" err="1">
                <a:effectLst/>
                <a:latin typeface="Ethiopic Sadiss Light" pitchFamily="2" charset="0"/>
                <a:ea typeface="Times New Roman" panose="02020603050405020304" pitchFamily="18" charset="0"/>
                <a:cs typeface="Times New Roman" panose="02020603050405020304" pitchFamily="18" charset="0"/>
              </a:rPr>
              <a:t>በአባቴ</a:t>
            </a:r>
            <a:r>
              <a:rPr lang="en-US" sz="3200" dirty="0">
                <a:effectLst/>
                <a:latin typeface="Ethiopic Sadiss Light" pitchFamily="2" charset="0"/>
                <a:ea typeface="Times New Roman" panose="02020603050405020304" pitchFamily="18" charset="0"/>
                <a:cs typeface="Times New Roman" panose="02020603050405020304" pitchFamily="18" charset="0"/>
              </a:rPr>
              <a:t> </a:t>
            </a:r>
            <a:r>
              <a:rPr lang="en-US" sz="3200" dirty="0" err="1">
                <a:effectLst/>
                <a:latin typeface="Ethiopic Sadiss Light" pitchFamily="2" charset="0"/>
                <a:ea typeface="Times New Roman" panose="02020603050405020304" pitchFamily="18" charset="0"/>
                <a:cs typeface="Times New Roman" panose="02020603050405020304" pitchFamily="18" charset="0"/>
              </a:rPr>
              <a:t>ስም</a:t>
            </a:r>
            <a:r>
              <a:rPr lang="en-US" sz="3200" dirty="0">
                <a:effectLst/>
                <a:latin typeface="Ethiopic Sadiss Light" pitchFamily="2" charset="0"/>
                <a:ea typeface="Times New Roman" panose="02020603050405020304" pitchFamily="18" charset="0"/>
                <a:cs typeface="Times New Roman" panose="02020603050405020304" pitchFamily="18" charset="0"/>
              </a:rPr>
              <a:t> </a:t>
            </a:r>
            <a:r>
              <a:rPr lang="en-US" sz="3200" dirty="0" err="1">
                <a:effectLst/>
                <a:latin typeface="Ethiopic Sadiss Light" pitchFamily="2" charset="0"/>
                <a:ea typeface="Times New Roman" panose="02020603050405020304" pitchFamily="18" charset="0"/>
                <a:cs typeface="Times New Roman" panose="02020603050405020304" pitchFamily="18" charset="0"/>
              </a:rPr>
              <a:t>መጥቼ</a:t>
            </a:r>
            <a:r>
              <a:rPr lang="en-US" sz="3200" dirty="0">
                <a:effectLst/>
                <a:latin typeface="Ethiopic Sadiss Light" pitchFamily="2" charset="0"/>
                <a:ea typeface="Times New Roman" panose="02020603050405020304" pitchFamily="18" charset="0"/>
                <a:cs typeface="Times New Roman" panose="02020603050405020304" pitchFamily="18" charset="0"/>
              </a:rPr>
              <a:t> </a:t>
            </a:r>
            <a:r>
              <a:rPr lang="en-US" sz="3200" dirty="0" err="1">
                <a:effectLst/>
                <a:latin typeface="Ethiopic Sadiss Light" pitchFamily="2" charset="0"/>
                <a:ea typeface="Times New Roman" panose="02020603050405020304" pitchFamily="18" charset="0"/>
                <a:cs typeface="Times New Roman" panose="02020603050405020304" pitchFamily="18" charset="0"/>
              </a:rPr>
              <a:t>አልተቀበላችሁኝም</a:t>
            </a:r>
            <a:r>
              <a:rPr lang="en-US" sz="3200" dirty="0">
                <a:effectLst/>
                <a:latin typeface="Ethiopic Sadiss Light" pitchFamily="2" charset="0"/>
                <a:ea typeface="Times New Roman" panose="02020603050405020304" pitchFamily="18" charset="0"/>
                <a:cs typeface="Times New Roman" panose="02020603050405020304" pitchFamily="18" charset="0"/>
              </a:rPr>
              <a:t>፤ </a:t>
            </a:r>
            <a:r>
              <a:rPr lang="en-US" sz="3200" dirty="0" err="1">
                <a:effectLst/>
                <a:latin typeface="Ethiopic Sadiss Light" pitchFamily="2" charset="0"/>
                <a:ea typeface="Times New Roman" panose="02020603050405020304" pitchFamily="18" charset="0"/>
                <a:cs typeface="Times New Roman" panose="02020603050405020304" pitchFamily="18" charset="0"/>
              </a:rPr>
              <a:t>ሌላው</a:t>
            </a:r>
            <a:r>
              <a:rPr lang="en-US" sz="3200" dirty="0">
                <a:effectLst/>
                <a:latin typeface="Ethiopic Sadiss Light" pitchFamily="2" charset="0"/>
                <a:ea typeface="Times New Roman" panose="02020603050405020304" pitchFamily="18" charset="0"/>
                <a:cs typeface="Times New Roman" panose="02020603050405020304" pitchFamily="18" charset="0"/>
              </a:rPr>
              <a:t> </a:t>
            </a:r>
            <a:r>
              <a:rPr lang="en-US" sz="3200" dirty="0" err="1">
                <a:effectLst/>
                <a:latin typeface="Ethiopic Sadiss Light" pitchFamily="2" charset="0"/>
                <a:ea typeface="Times New Roman" panose="02020603050405020304" pitchFamily="18" charset="0"/>
                <a:cs typeface="Times New Roman" panose="02020603050405020304" pitchFamily="18" charset="0"/>
              </a:rPr>
              <a:t>በራሱ</a:t>
            </a:r>
            <a:r>
              <a:rPr lang="en-US" sz="3200" dirty="0">
                <a:effectLst/>
                <a:latin typeface="Ethiopic Sadiss Light" pitchFamily="2" charset="0"/>
                <a:ea typeface="Times New Roman" panose="02020603050405020304" pitchFamily="18" charset="0"/>
                <a:cs typeface="Times New Roman" panose="02020603050405020304" pitchFamily="18" charset="0"/>
              </a:rPr>
              <a:t> </a:t>
            </a:r>
            <a:r>
              <a:rPr lang="en-US" sz="3200" dirty="0" err="1">
                <a:effectLst/>
                <a:latin typeface="Ethiopic Sadiss Light" pitchFamily="2" charset="0"/>
                <a:ea typeface="Times New Roman" panose="02020603050405020304" pitchFamily="18" charset="0"/>
                <a:cs typeface="Times New Roman" panose="02020603050405020304" pitchFamily="18" charset="0"/>
              </a:rPr>
              <a:t>ስም</a:t>
            </a:r>
            <a:r>
              <a:rPr lang="en-US" sz="3200" dirty="0">
                <a:effectLst/>
                <a:latin typeface="Ethiopic Sadiss Light" pitchFamily="2" charset="0"/>
                <a:ea typeface="Times New Roman" panose="02020603050405020304" pitchFamily="18" charset="0"/>
                <a:cs typeface="Times New Roman" panose="02020603050405020304" pitchFamily="18" charset="0"/>
              </a:rPr>
              <a:t> </a:t>
            </a:r>
            <a:r>
              <a:rPr lang="en-US" sz="3200" dirty="0" err="1">
                <a:effectLst/>
                <a:latin typeface="Ethiopic Sadiss Light" pitchFamily="2" charset="0"/>
                <a:ea typeface="Times New Roman" panose="02020603050405020304" pitchFamily="18" charset="0"/>
                <a:cs typeface="Times New Roman" panose="02020603050405020304" pitchFamily="18" charset="0"/>
              </a:rPr>
              <a:t>ቢመጣ</a:t>
            </a:r>
            <a:r>
              <a:rPr lang="en-US" sz="3200" dirty="0">
                <a:effectLst/>
                <a:latin typeface="Ethiopic Sadiss Light" pitchFamily="2" charset="0"/>
                <a:ea typeface="Times New Roman" panose="02020603050405020304" pitchFamily="18" charset="0"/>
                <a:cs typeface="Times New Roman" panose="02020603050405020304" pitchFamily="18" charset="0"/>
              </a:rPr>
              <a:t> </a:t>
            </a:r>
            <a:r>
              <a:rPr lang="en-US" sz="3200" dirty="0" err="1">
                <a:effectLst/>
                <a:latin typeface="Ethiopic Sadiss Light" pitchFamily="2" charset="0"/>
                <a:ea typeface="Times New Roman" panose="02020603050405020304" pitchFamily="18" charset="0"/>
                <a:cs typeface="Times New Roman" panose="02020603050405020304" pitchFamily="18" charset="0"/>
              </a:rPr>
              <a:t>ግን</a:t>
            </a:r>
            <a:r>
              <a:rPr lang="en-US" sz="3200" dirty="0">
                <a:effectLst/>
                <a:latin typeface="Ethiopic Sadiss Light" pitchFamily="2" charset="0"/>
                <a:ea typeface="Times New Roman" panose="02020603050405020304" pitchFamily="18" charset="0"/>
                <a:cs typeface="Times New Roman" panose="02020603050405020304" pitchFamily="18" charset="0"/>
              </a:rPr>
              <a:t> </a:t>
            </a:r>
            <a:r>
              <a:rPr lang="en-US" sz="3200" dirty="0" err="1">
                <a:effectLst/>
                <a:latin typeface="Ethiopic Sadiss Light" pitchFamily="2" charset="0"/>
                <a:ea typeface="Times New Roman" panose="02020603050405020304" pitchFamily="18" charset="0"/>
                <a:cs typeface="Times New Roman" panose="02020603050405020304" pitchFamily="18" charset="0"/>
              </a:rPr>
              <a:t>ትቀበሉታላችሁ</a:t>
            </a:r>
            <a:r>
              <a:rPr lang="en-US" sz="36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3200" dirty="0">
              <a:effectLst/>
              <a:latin typeface="VG2 Main" panose="020B7200000000000000" pitchFamily="34" charset="0"/>
              <a:ea typeface="Times New Roman" panose="02020603050405020304" pitchFamily="18" charset="0"/>
              <a:cs typeface="Times New Roman" panose="02020603050405020304" pitchFamily="18" charset="0"/>
            </a:endParaRPr>
          </a:p>
          <a:p>
            <a:pPr marL="182880" marR="0" indent="-182880" algn="ctr">
              <a:lnSpc>
                <a:spcPct val="150000"/>
              </a:lnSpc>
              <a:buNone/>
            </a:pPr>
            <a:endParaRPr lang="en-US" sz="3200" dirty="0">
              <a:effectLst/>
              <a:latin typeface="Times New Roman" panose="02020603050405020304" pitchFamily="18" charset="0"/>
              <a:ea typeface="Malgun Gothic" panose="020B0503020000020004" pitchFamily="34" charset="-127"/>
              <a:cs typeface="Times New Roman" panose="02020603050405020304" pitchFamily="18" charset="0"/>
            </a:endParaRPr>
          </a:p>
          <a:p>
            <a:pPr marL="182880" marR="0" indent="-182880" algn="ctr">
              <a:lnSpc>
                <a:spcPct val="150000"/>
              </a:lnSpc>
              <a:buNone/>
            </a:pPr>
            <a:r>
              <a:rPr lang="en-US" sz="2800" dirty="0">
                <a:latin typeface="Times New Roman" panose="02020603050405020304" pitchFamily="18" charset="0"/>
                <a:ea typeface="Times New Roman" panose="02020603050405020304" pitchFamily="18" charset="0"/>
                <a:cs typeface="Times New Roman" panose="02020603050405020304" pitchFamily="18" charset="0"/>
              </a:rPr>
              <a:t>“</a:t>
            </a:r>
            <a:r>
              <a:rPr lang="el-GR" sz="2800" dirty="0">
                <a:effectLst/>
                <a:latin typeface="Times New Roman" panose="02020603050405020304" pitchFamily="18" charset="0"/>
                <a:ea typeface="Malgun Gothic" panose="020B0503020000020004" pitchFamily="34" charset="-127"/>
                <a:cs typeface="Times New Roman" panose="02020603050405020304" pitchFamily="18" charset="0"/>
              </a:rPr>
              <a:t>ἐγὼ ἐλήλυθα ἐν τῷ ὀνόματι τοῦ πατρός μου</a:t>
            </a:r>
            <a:r>
              <a:rPr lang="en-US" sz="28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l-GR" sz="2800" dirty="0">
                <a:effectLst/>
                <a:latin typeface="Times New Roman" panose="02020603050405020304" pitchFamily="18" charset="0"/>
                <a:ea typeface="Malgun Gothic" panose="020B0503020000020004" pitchFamily="34" charset="-127"/>
                <a:cs typeface="Times New Roman" panose="02020603050405020304" pitchFamily="18" charset="0"/>
              </a:rPr>
              <a:t>καὶ οὐ λαμβάνετέ με</a:t>
            </a:r>
            <a:r>
              <a:rPr lang="en-US" sz="28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l-GR" sz="2800" dirty="0">
                <a:effectLst/>
                <a:latin typeface="Times New Roman" panose="02020603050405020304" pitchFamily="18" charset="0"/>
                <a:ea typeface="Malgun Gothic" panose="020B0503020000020004" pitchFamily="34" charset="-127"/>
                <a:cs typeface="Times New Roman" panose="02020603050405020304" pitchFamily="18" charset="0"/>
              </a:rPr>
              <a:t>ἐὰν ἄλλος ἔλθῃ ἐν τῷ ὀνόματι τῷ ἰδίῳ</a:t>
            </a:r>
            <a:r>
              <a:rPr lang="en-US" sz="28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l-GR" sz="2800" dirty="0">
                <a:effectLst/>
                <a:latin typeface="Times New Roman" panose="02020603050405020304" pitchFamily="18" charset="0"/>
                <a:ea typeface="Malgun Gothic" panose="020B0503020000020004" pitchFamily="34" charset="-127"/>
                <a:cs typeface="Times New Roman" panose="02020603050405020304" pitchFamily="18" charset="0"/>
              </a:rPr>
              <a:t>ἐκεῖνον λήμψεσθε</a:t>
            </a:r>
            <a:r>
              <a:rPr lang="en-US" sz="2800" dirty="0">
                <a:effectLst/>
                <a:latin typeface="Times New Roman" panose="02020603050405020304" pitchFamily="18" charset="0"/>
                <a:ea typeface="Malgun Gothic" panose="020B0503020000020004" pitchFamily="34" charset="-127"/>
                <a:cs typeface="Times New Roman" panose="02020603050405020304" pitchFamily="18" charset="0"/>
              </a:rPr>
              <a:t>.</a:t>
            </a:r>
            <a:r>
              <a:rPr lang="en-US" sz="2800" dirty="0">
                <a:latin typeface="Times New Roman" panose="02020603050405020304" pitchFamily="18" charset="0"/>
                <a:ea typeface="Times New Roman" panose="02020603050405020304" pitchFamily="18" charset="0"/>
                <a:cs typeface="Times New Roman" panose="02020603050405020304" pitchFamily="18" charset="0"/>
              </a:rPr>
              <a:t>”</a:t>
            </a:r>
            <a:r>
              <a:rPr lang="en-US" sz="2800" dirty="0">
                <a:effectLst/>
                <a:latin typeface="Times New Roman" panose="02020603050405020304" pitchFamily="18" charset="0"/>
                <a:ea typeface="Malgun Gothic" panose="020B0503020000020004" pitchFamily="34" charset="-127"/>
                <a:cs typeface="Times New Roman" panose="02020603050405020304" pitchFamily="18" charset="0"/>
              </a:rPr>
              <a:t> </a:t>
            </a:r>
          </a:p>
          <a:p>
            <a:pPr marL="182880" indent="-182880" algn="ctr">
              <a:lnSpc>
                <a:spcPct val="150000"/>
              </a:lnSpc>
            </a:pPr>
            <a:r>
              <a:rPr lang="en-US" sz="3600" dirty="0" err="1">
                <a:latin typeface="Ethiopic Yebse" panose="02000500000000000000" pitchFamily="2" charset="0"/>
                <a:ea typeface="Times New Roman" panose="02020603050405020304" pitchFamily="18" charset="0"/>
                <a:cs typeface="Times New Roman" panose="02020603050405020304" pitchFamily="18" charset="0"/>
              </a:rPr>
              <a:t>ዮሐንስ</a:t>
            </a:r>
            <a:r>
              <a:rPr lang="en-US" sz="3600" dirty="0">
                <a:latin typeface="Ethiopic Yebse" panose="02000500000000000000" pitchFamily="2" charset="0"/>
                <a:ea typeface="Times New Roman" panose="02020603050405020304" pitchFamily="18" charset="0"/>
                <a:cs typeface="Times New Roman" panose="02020603050405020304" pitchFamily="18" charset="0"/>
              </a:rPr>
              <a:t> 5፥43</a:t>
            </a:r>
            <a:endParaRPr lang="en-US" sz="3200" dirty="0">
              <a:latin typeface="VG2 Main" panose="020B7200000000000000" pitchFamily="34" charset="0"/>
              <a:ea typeface="Times New Roman" panose="02020603050405020304" pitchFamily="18" charset="0"/>
              <a:cs typeface="Times New Roman" panose="02020603050405020304" pitchFamily="18" charset="0"/>
            </a:endParaRPr>
          </a:p>
          <a:p>
            <a:pPr marL="182880" marR="0" indent="-182880" algn="just">
              <a:lnSpc>
                <a:spcPct val="150000"/>
              </a:lnSpc>
              <a:buNone/>
            </a:pPr>
            <a:endParaRPr lang="en-US" dirty="0">
              <a:latin typeface="Times New Roman" panose="02020603050405020304" pitchFamily="18" charset="0"/>
              <a:ea typeface="Malgun Gothic" panose="020B0503020000020004" pitchFamily="34" charset="-127"/>
              <a:cs typeface="Times New Roman" panose="02020603050405020304" pitchFamily="18" charset="0"/>
            </a:endParaRPr>
          </a:p>
          <a:p>
            <a:pPr marL="182880" marR="0" indent="-182880" algn="just">
              <a:lnSpc>
                <a:spcPct val="150000"/>
              </a:lnSpc>
              <a:buNone/>
            </a:pPr>
            <a:endParaRPr lang="en-US" sz="28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42891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9921FC-8CF4-917D-E6E2-C76EC06CE34B}"/>
              </a:ext>
            </a:extLst>
          </p:cNvPr>
          <p:cNvSpPr txBox="1"/>
          <p:nvPr/>
        </p:nvSpPr>
        <p:spPr>
          <a:xfrm>
            <a:off x="728133" y="1090207"/>
            <a:ext cx="8314267" cy="4299831"/>
          </a:xfrm>
          <a:prstGeom prst="rect">
            <a:avLst/>
          </a:prstGeom>
          <a:noFill/>
        </p:spPr>
        <p:txBody>
          <a:bodyPr wrap="square">
            <a:spAutoFit/>
          </a:bodyPr>
          <a:lstStyle/>
          <a:p>
            <a:pPr marL="342900" marR="0" lvl="0" indent="-342900" algn="just">
              <a:lnSpc>
                <a:spcPct val="150000"/>
              </a:lnSpc>
              <a:buSzPts val="1200"/>
              <a:buFont typeface="Wingdings" panose="05000000000000000000" pitchFamily="2" charset="2"/>
              <a:buChar char="q"/>
            </a:pPr>
            <a:r>
              <a:rPr lang="en-GB" sz="24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ክርስቶስ</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በማርያም</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ማሕፀን</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ሰው</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ሆኖ</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ከተወለደ</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በኋላ</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ደግሞ</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መለኮታዊ</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ሰው</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እንጂ</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በሥጋው</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ፈጣሪ</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ወይም</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መለኮት</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አለመሆኑን</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በእግዚአብሔር</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በአምላኩ</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እንዲጠራና</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በመለኮታዊ</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ግርማ</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እንዲሞላ</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መደረጉን</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ያስገነዝበናል</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ስለዚህ</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የሥጋው</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ሆነ</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በዮሐንስ</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ወንጌል</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a:effectLst/>
                <a:latin typeface="Garamond" panose="02020404030301010803" pitchFamily="18" charset="0"/>
                <a:ea typeface="Times New Roman" panose="02020603050405020304" pitchFamily="18" charset="0"/>
                <a:cs typeface="Times New Roman" panose="02020603050405020304" pitchFamily="18" charset="0"/>
              </a:rPr>
              <a:t>5</a:t>
            </a:r>
            <a:r>
              <a:rPr lang="en-GB" sz="2400" dirty="0">
                <a:effectLst/>
                <a:latin typeface="Garamond" panose="02020404030301010803" pitchFamily="18" charset="0"/>
                <a:ea typeface="Times New Roman" panose="02020603050405020304" pitchFamily="18" charset="0"/>
                <a:cs typeface="Nyala" panose="02000504070300020003" pitchFamily="2" charset="0"/>
              </a:rPr>
              <a:t>÷</a:t>
            </a:r>
            <a:r>
              <a:rPr lang="en-GB" sz="2400" dirty="0">
                <a:effectLst/>
                <a:latin typeface="Garamond" panose="02020404030301010803" pitchFamily="18" charset="0"/>
                <a:ea typeface="Times New Roman" panose="02020603050405020304" pitchFamily="18" charset="0"/>
                <a:cs typeface="Times New Roman" panose="02020603050405020304" pitchFamily="18" charset="0"/>
              </a:rPr>
              <a:t>43</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እኔ</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በአባቴ</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መጥቼአለሁ</a:t>
            </a:r>
            <a:r>
              <a:rPr lang="en-GB" sz="24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ተብሎ</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በተጻፈው</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ተረጋግጦልናል</a:t>
            </a:r>
            <a:r>
              <a:rPr lang="en-GB" sz="24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800" dirty="0">
              <a:effectLst/>
              <a:latin typeface="VG2 Main" panose="020B7200000000000000" pitchFamily="34" charset="0"/>
              <a:ea typeface="Times New Roman" panose="02020603050405020304" pitchFamily="18" charset="0"/>
              <a:cs typeface="Times New Roman" panose="02020603050405020304" pitchFamily="18" charset="0"/>
            </a:endParaRPr>
          </a:p>
          <a:p>
            <a:pPr marL="3028950" lvl="6" indent="-285750">
              <a:lnSpc>
                <a:spcPct val="150000"/>
              </a:lnSpc>
              <a:buFont typeface="Wingdings" panose="05000000000000000000" pitchFamily="2" charset="2"/>
              <a:buChar char="q"/>
            </a:pPr>
            <a:r>
              <a:rPr lang="en-GB" sz="1600" dirty="0" err="1">
                <a:effectLst/>
                <a:latin typeface="Power Geez Unicode1" panose="00000400000000000000" pitchFamily="2" charset="0"/>
                <a:ea typeface="Times New Roman" panose="02020603050405020304" pitchFamily="18" charset="0"/>
                <a:cs typeface="Times New Roman" panose="02020603050405020304" pitchFamily="18" charset="0"/>
              </a:rPr>
              <a:t>ተክለ</a:t>
            </a:r>
            <a:r>
              <a:rPr lang="en-GB" sz="16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600" dirty="0" err="1">
                <a:effectLst/>
                <a:latin typeface="Power Geez Unicode1" panose="00000400000000000000" pitchFamily="2" charset="0"/>
                <a:ea typeface="Times New Roman" panose="02020603050405020304" pitchFamily="18" charset="0"/>
                <a:cs typeface="Times New Roman" panose="02020603050405020304" pitchFamily="18" charset="0"/>
              </a:rPr>
              <a:t>ማርያም</a:t>
            </a:r>
            <a:r>
              <a:rPr lang="en-GB" sz="16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600" dirty="0" err="1">
                <a:effectLst/>
                <a:latin typeface="Power Geez Unicode1" panose="00000400000000000000" pitchFamily="2" charset="0"/>
                <a:ea typeface="Times New Roman" panose="02020603050405020304" pitchFamily="18" charset="0"/>
                <a:cs typeface="Times New Roman" panose="02020603050405020304" pitchFamily="18" charset="0"/>
              </a:rPr>
              <a:t>ገዛኸኝ</a:t>
            </a:r>
            <a:r>
              <a:rPr lang="en-GB" sz="16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600" i="1"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ኢየሱስን</a:t>
            </a:r>
            <a:r>
              <a:rPr lang="en-GB" sz="1600" i="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600" i="1" dirty="0" err="1">
                <a:effectLst/>
                <a:latin typeface="Power Geez Unicode1" panose="00000400000000000000" pitchFamily="2" charset="0"/>
                <a:ea typeface="Times New Roman" panose="02020603050405020304" pitchFamily="18" charset="0"/>
                <a:cs typeface="Times New Roman" panose="02020603050405020304" pitchFamily="18" charset="0"/>
              </a:rPr>
              <a:t>ማን</a:t>
            </a:r>
            <a:r>
              <a:rPr lang="en-GB" sz="1600" i="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600" i="1" dirty="0" err="1">
                <a:effectLst/>
                <a:latin typeface="Power Geez Unicode1" panose="00000400000000000000" pitchFamily="2" charset="0"/>
                <a:ea typeface="Times New Roman" panose="02020603050405020304" pitchFamily="18" charset="0"/>
                <a:cs typeface="Times New Roman" panose="02020603050405020304" pitchFamily="18" charset="0"/>
              </a:rPr>
              <a:t>ይሉታል</a:t>
            </a:r>
            <a:r>
              <a:rPr lang="en-GB" sz="1600" i="1" dirty="0">
                <a:effectLst/>
                <a:latin typeface="Garamond" panose="02020404030301010803" pitchFamily="18" charset="0"/>
                <a:ea typeface="Times New Roman" panose="02020603050405020304" pitchFamily="18" charset="0"/>
                <a:cs typeface="Times New Roman" panose="02020603050405020304" pitchFamily="18" charset="0"/>
              </a:rPr>
              <a:t>? </a:t>
            </a:r>
            <a:r>
              <a:rPr lang="en-GB" sz="1600" dirty="0">
                <a:effectLst/>
                <a:latin typeface="Garamond" panose="02020404030301010803" pitchFamily="18" charset="0"/>
                <a:ea typeface="Times New Roman" panose="02020603050405020304" pitchFamily="18" charset="0"/>
                <a:cs typeface="Times New Roman" panose="02020603050405020304" pitchFamily="18" charset="0"/>
              </a:rPr>
              <a:t>51</a:t>
            </a:r>
            <a:r>
              <a:rPr lang="en-GB" sz="1600" dirty="0">
                <a:effectLst/>
                <a:latin typeface="Power Geez Unicode1" panose="00000400000000000000" pitchFamily="2" charset="0"/>
                <a:ea typeface="Times New Roman" panose="02020603050405020304" pitchFamily="18" charset="0"/>
                <a:cs typeface="Times New Roman" panose="02020603050405020304" pitchFamily="18" charset="0"/>
              </a:rPr>
              <a:t>፡፡</a:t>
            </a:r>
            <a:endParaRPr lang="en-US" sz="1400" dirty="0">
              <a:effectLst/>
              <a:latin typeface="VG2 Main" panose="020B7200000000000000" pitchFamily="34" charset="0"/>
              <a:ea typeface="Times New Roman" panose="02020603050405020304" pitchFamily="18" charset="0"/>
              <a:cs typeface="Times New Roman" panose="02020603050405020304" pitchFamily="18" charset="0"/>
            </a:endParaRPr>
          </a:p>
        </p:txBody>
      </p:sp>
      <p:pic>
        <p:nvPicPr>
          <p:cNvPr id="4" name="Picture 3" descr="A person standing in front of a person&#10;&#10;AI-generated content may be incorrect.">
            <a:extLst>
              <a:ext uri="{FF2B5EF4-FFF2-40B4-BE49-F238E27FC236}">
                <a16:creationId xmlns:a16="http://schemas.microsoft.com/office/drawing/2014/main" id="{2941096B-854F-D2C5-42F6-21AB86B70A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48010" y="2276475"/>
            <a:ext cx="1728788" cy="2305050"/>
          </a:xfrm>
          <a:prstGeom prst="rect">
            <a:avLst/>
          </a:prstGeom>
        </p:spPr>
      </p:pic>
    </p:spTree>
    <p:extLst>
      <p:ext uri="{BB962C8B-B14F-4D97-AF65-F5344CB8AC3E}">
        <p14:creationId xmlns:p14="http://schemas.microsoft.com/office/powerpoint/2010/main" val="11257905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AA8E01-CD27-8585-E1BE-DC4502962DB2}"/>
              </a:ext>
            </a:extLst>
          </p:cNvPr>
          <p:cNvSpPr txBox="1"/>
          <p:nvPr/>
        </p:nvSpPr>
        <p:spPr>
          <a:xfrm>
            <a:off x="753533" y="853701"/>
            <a:ext cx="9914467" cy="400110"/>
          </a:xfrm>
          <a:prstGeom prst="rect">
            <a:avLst/>
          </a:prstGeom>
          <a:noFill/>
        </p:spPr>
        <p:txBody>
          <a:bodyPr wrap="square">
            <a:spAutoFit/>
          </a:bodyPr>
          <a:lstStyle/>
          <a:p>
            <a:pPr marL="285750" indent="-285750" algn="just">
              <a:buFont typeface="Wingdings" panose="05000000000000000000" pitchFamily="2" charset="2"/>
              <a:buChar char="q"/>
            </a:pP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የክፍሉ</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ዐውደ</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ምንባብ</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አብና</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የተለያዩ</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አካላት</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መሆናቸውን</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በግልጽ</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ያሳያልና</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sz="2000" dirty="0"/>
          </a:p>
        </p:txBody>
      </p:sp>
      <p:sp>
        <p:nvSpPr>
          <p:cNvPr id="5" name="TextBox 4">
            <a:extLst>
              <a:ext uri="{FF2B5EF4-FFF2-40B4-BE49-F238E27FC236}">
                <a16:creationId xmlns:a16="http://schemas.microsoft.com/office/drawing/2014/main" id="{70E2AE0E-D8AD-B543-D170-7A1B35928245}"/>
              </a:ext>
            </a:extLst>
          </p:cNvPr>
          <p:cNvSpPr txBox="1"/>
          <p:nvPr/>
        </p:nvSpPr>
        <p:spPr>
          <a:xfrm>
            <a:off x="753532" y="1301110"/>
            <a:ext cx="10659535" cy="1712392"/>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አንደኛ</a:t>
            </a:r>
            <a:r>
              <a:rPr lang="en-GB" sz="1800" b="1" dirty="0">
                <a:effectLst/>
                <a:latin typeface="Power Geez Unicode1" panose="00000400000000000000" pitchFamily="2"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የክፍሉ</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ዐውድ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ዮሐንስ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5÷37-44</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ከአባቱ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ጋር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ያለውን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ግንኙነት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እንዲሁም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የሰጠው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ተልእኮ</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የሚገልጽ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a:t>
            </a:r>
            <a:endParaRPr lang="en-GB" b="1" dirty="0">
              <a:latin typeface="Power Geez Unicode1" panose="00000400000000000000" pitchFamily="2" charset="0"/>
              <a:ea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q"/>
            </a:pP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ሁለተኛ</a:t>
            </a:r>
            <a:r>
              <a:rPr lang="en-GB" sz="1800" b="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የወልድን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አገልግሎት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በተመለከተ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ምስክርነቱን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ሰጥቶአል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ቊ.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37)</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ደግሞ</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የተለያዩ</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አካላት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መሆናቸውን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አመልካች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dirty="0"/>
          </a:p>
        </p:txBody>
      </p:sp>
      <p:sp>
        <p:nvSpPr>
          <p:cNvPr id="7" name="TextBox 6">
            <a:extLst>
              <a:ext uri="{FF2B5EF4-FFF2-40B4-BE49-F238E27FC236}">
                <a16:creationId xmlns:a16="http://schemas.microsoft.com/office/drawing/2014/main" id="{0B35FE14-1F40-A598-AF3C-EAAD11BE6B14}"/>
              </a:ext>
            </a:extLst>
          </p:cNvPr>
          <p:cNvSpPr txBox="1"/>
          <p:nvPr/>
        </p:nvSpPr>
        <p:spPr>
          <a:xfrm>
            <a:off x="753531" y="3141977"/>
            <a:ext cx="10659535" cy="2543389"/>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ሦስተኛ</a:t>
            </a:r>
            <a:r>
              <a:rPr lang="en-GB" sz="1800" b="1" dirty="0">
                <a:effectLst/>
                <a:latin typeface="Power Geez Unicode1" panose="00000400000000000000" pitchFamily="2"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በክፍሉ</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ውስጥ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ራሱን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አላቀረበም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መልክተኛ</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እንጂ</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ቊ.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36-38)</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በአባቴ</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መጥቻለሁ</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አልተቀበላችሁኝምም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ሌው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በራሱ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ቢመጣ</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እርሱን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ትቀበሉታላችሁ</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ቊ.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43)</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የመጣው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በራሱ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መጽሐፉ</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የመጣሁት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በራሴ</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አይደለም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በአባቴ</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የተለያዩ</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መሆናቸውን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አመልካች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ሌላው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በራሱ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ቢመጣ</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እርሱን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ትቀየበሉታላችሁ</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የጌታ</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ንግግር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አንዳችም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ትርጒም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አይኖረውም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dirty="0"/>
          </a:p>
        </p:txBody>
      </p:sp>
    </p:spTree>
    <p:extLst>
      <p:ext uri="{BB962C8B-B14F-4D97-AF65-F5344CB8AC3E}">
        <p14:creationId xmlns:p14="http://schemas.microsoft.com/office/powerpoint/2010/main" val="42586640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A0FDFA-8AA0-C9D3-E6FB-C060A6F6C791}"/>
              </a:ext>
            </a:extLst>
          </p:cNvPr>
          <p:cNvSpPr txBox="1"/>
          <p:nvPr/>
        </p:nvSpPr>
        <p:spPr>
          <a:xfrm>
            <a:off x="575735" y="627586"/>
            <a:ext cx="10684932" cy="1700209"/>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አራተኛ</a:t>
            </a:r>
            <a:r>
              <a:rPr lang="en-GB" sz="1800" b="1" dirty="0">
                <a:effectLst/>
                <a:latin typeface="Power Geez Unicode1" panose="00000400000000000000" pitchFamily="2"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አላቸው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እግዚአብሔርስ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አባታችሁ</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በወደዳችሁኝ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ነበር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ከእግዚአብሔር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ወጥቼ</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መጥቻለሁና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እርሱ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ላከኝ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እንጂ</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ከራሴ</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አልመጣሁምና</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ዮሐንስ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8÷42)</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ምንባብ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ላኪና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ተላኪ</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ሆኑ</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ተልኮ</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መጣ</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እንጂ</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በራሱ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እንዳልመጣ</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የሚገልጽ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ደግሞ</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የተለያዩ</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አካላት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መሆናቸውን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በግልጽ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አስተማሪ</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499B851-6E87-7A4E-6107-BF8478F3524F}"/>
              </a:ext>
            </a:extLst>
          </p:cNvPr>
          <p:cNvSpPr txBox="1"/>
          <p:nvPr/>
        </p:nvSpPr>
        <p:spPr>
          <a:xfrm>
            <a:off x="753534" y="2440530"/>
            <a:ext cx="10684931" cy="3789884"/>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አምስተኛ</a:t>
            </a:r>
            <a:r>
              <a:rPr lang="en-GB" sz="1800" b="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ብቻዬን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ከራሴ</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ምንም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ማድረግ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አልችልም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የምፈርደው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የምሰማውን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ብቻ</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ነው፤የላከኝን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እንጂ</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የራሴን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ፈቃድ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ስለማልሻም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ፍርዴ</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ትክክል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ስለራሴ</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ብመሰክር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ምስክርነቴ</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ተቀባይነት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አይኖረውም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የሚመሰክር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b="1" i="1" dirty="0" err="1">
                <a:effectLst/>
                <a:latin typeface="Power Geez Unicode1" panose="00000400000000000000" pitchFamily="2" charset="0"/>
                <a:ea typeface="Times New Roman" panose="02020603050405020304" pitchFamily="18" charset="0"/>
                <a:cs typeface="Times New Roman" panose="02020603050405020304" pitchFamily="18" charset="0"/>
              </a:rPr>
              <a:t>ሌላ</a:t>
            </a:r>
            <a:r>
              <a:rPr lang="en-GB" sz="1800" b="1" i="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b="1" i="1" dirty="0" err="1">
                <a:effectLst/>
                <a:latin typeface="Power Geez Unicode1" panose="00000400000000000000" pitchFamily="2" charset="0"/>
                <a:ea typeface="Times New Roman" panose="02020603050405020304" pitchFamily="18" charset="0"/>
                <a:cs typeface="Times New Roman" panose="02020603050405020304" pitchFamily="18" charset="0"/>
              </a:rPr>
              <a:t>እርሱ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b="1" i="1" dirty="0" err="1">
                <a:effectLst/>
                <a:latin typeface="Power Geez Unicode1" panose="00000400000000000000" pitchFamily="2" charset="0"/>
                <a:ea typeface="Times New Roman" panose="02020603050405020304" pitchFamily="18" charset="0"/>
                <a:cs typeface="Times New Roman" panose="02020603050405020304" pitchFamily="18" charset="0"/>
              </a:rPr>
              <a:t>እኔ</a:t>
            </a:r>
            <a:r>
              <a:rPr lang="en-GB" sz="1800" b="1" i="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የሚሰጠውም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ምስክርነት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እውነት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ዐውቃለሁ</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የሚመሰክር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ሌላ</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አለ</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አነጋገሩ</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ምስክር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በሁለት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ወይም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በሦስት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ይጸናል</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የብሉይ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ኪዳን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ክፍል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በግምት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ውስጥ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ያስገባ</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ዘኁልቍ</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 35÷30</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ዘዳግም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17÷6</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19÷15)</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እርሱ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ራሱ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እርሱ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ራሱ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ራሱ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መስክሮአልና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እርሱ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ራሱ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ተናገረው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ምስክርነቱ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እውነት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ሊሆን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አይችልም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ነገር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የተለያዩ</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በመሆናቸው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አንዱ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የሚመሰክርለት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ሌላው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ደግሞ</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የሚመሰክር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ሆኖ</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ቀርቧል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ቅን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ልቡና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ማንኛውም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ሰው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በዚህ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ዐውደ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ምንባብ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ውስጥ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የሚገኙት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አነጋገሮች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መሆናቸውን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ያሳያል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እንዴት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ይችላል</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dirty="0"/>
          </a:p>
        </p:txBody>
      </p:sp>
    </p:spTree>
    <p:extLst>
      <p:ext uri="{BB962C8B-B14F-4D97-AF65-F5344CB8AC3E}">
        <p14:creationId xmlns:p14="http://schemas.microsoft.com/office/powerpoint/2010/main" val="28774315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156198-CD56-00EA-AA8D-E75E56A58CF1}"/>
              </a:ext>
            </a:extLst>
          </p:cNvPr>
          <p:cNvSpPr txBox="1"/>
          <p:nvPr/>
        </p:nvSpPr>
        <p:spPr>
          <a:xfrm>
            <a:off x="753533" y="496723"/>
            <a:ext cx="10684933" cy="5864554"/>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እባክዎን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የዚህን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ክፍል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ዐውደ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ምንባብ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በጥሞና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ይመልከቱ</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a:p>
            <a:pPr marL="342900" marR="0" lvl="0" indent="-342900" algn="just">
              <a:lnSpc>
                <a:spcPct val="150000"/>
              </a:lnSpc>
              <a:buFont typeface="Courier New" panose="02070309020205020404" pitchFamily="49" charset="0"/>
              <a:buChar char="o"/>
            </a:pP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ከራሴ</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ምንም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ማድረግ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አልችልም</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a:p>
            <a:pPr marL="342900" marR="0" lvl="0" indent="-342900" algn="just">
              <a:lnSpc>
                <a:spcPct val="150000"/>
              </a:lnSpc>
              <a:buFont typeface="Courier New" panose="02070309020205020404" pitchFamily="49" charset="0"/>
              <a:buChar char="o"/>
            </a:pP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የምፈርደው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የምሰማውን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ብቻ</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a:p>
            <a:pPr marL="342900" marR="0" lvl="0" indent="-342900" algn="just">
              <a:lnSpc>
                <a:spcPct val="150000"/>
              </a:lnSpc>
              <a:buFont typeface="Courier New" panose="02070309020205020404" pitchFamily="49" charset="0"/>
              <a:buChar char="o"/>
            </a:pP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የላከኝን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እንጂ</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የራሴን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ፈቃድ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ስለማልሻ</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a:p>
            <a:pPr marL="342900" marR="0" lvl="0" indent="-342900" algn="just">
              <a:lnSpc>
                <a:spcPct val="150000"/>
              </a:lnSpc>
              <a:buFont typeface="Courier New" panose="02070309020205020404" pitchFamily="49" charset="0"/>
              <a:buChar char="o"/>
            </a:pP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እኔ</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ራሴ</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ብመሰክር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ምስክርነቴ</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ተቀባይነት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አይኖረውም</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a:p>
            <a:pPr marL="342900" marR="0" lvl="0" indent="-342900" algn="just">
              <a:lnSpc>
                <a:spcPct val="150000"/>
              </a:lnSpc>
              <a:buFont typeface="Courier New" panose="02070309020205020404" pitchFamily="49" charset="0"/>
              <a:buChar char="o"/>
            </a:pP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a:t>
            </a: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ራሴ</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ምንም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ማድረግ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አልችልም</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a:p>
            <a:pPr marL="342900" marR="0" lvl="0" indent="-342900" algn="just">
              <a:lnSpc>
                <a:spcPct val="150000"/>
              </a:lnSpc>
              <a:buFont typeface="Courier New" panose="02070309020205020404" pitchFamily="49" charset="0"/>
              <a:buChar char="o"/>
            </a:pP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የምፈርደው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የምሰማውን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ብቻ</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a:p>
            <a:pPr marL="342900" marR="0" lvl="0" indent="-342900" algn="just">
              <a:lnSpc>
                <a:spcPct val="150000"/>
              </a:lnSpc>
              <a:buFont typeface="Courier New" panose="02070309020205020404" pitchFamily="49" charset="0"/>
              <a:buChar char="o"/>
            </a:pP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የላከኝን</a:t>
            </a:r>
            <a:r>
              <a:rPr lang="en-GB" sz="1800" b="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እንጂ</a:t>
            </a:r>
            <a:r>
              <a:rPr lang="en-GB" sz="1800" b="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የራሴን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ፈቃድ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ስለማልሻ</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a:p>
            <a:pPr marL="342900" marR="0" lvl="0" indent="-342900" algn="just">
              <a:lnSpc>
                <a:spcPct val="150000"/>
              </a:lnSpc>
              <a:buFont typeface="Courier New" panose="02070309020205020404" pitchFamily="49" charset="0"/>
              <a:buChar char="o"/>
            </a:pP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እኔ</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ራሴ</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ብመሰክር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ምስክርነቴ</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ተቀባይነት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አይኖረውም</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a:p>
            <a:pPr marL="342900" marR="0" lvl="0" indent="-342900" algn="just">
              <a:lnSpc>
                <a:spcPct val="150000"/>
              </a:lnSpc>
              <a:buFont typeface="Courier New" panose="02070309020205020404" pitchFamily="49" charset="0"/>
              <a:buChar char="o"/>
            </a:pP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እኔ</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የሚመሰክር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ሌላ</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አለ</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a:p>
            <a:pPr marL="342900" marR="0" lvl="0" indent="-342900" algn="just">
              <a:lnSpc>
                <a:spcPct val="150000"/>
              </a:lnSpc>
              <a:buFont typeface="Courier New" panose="02070309020205020404" pitchFamily="49" charset="0"/>
              <a:buChar char="o"/>
            </a:pP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እርሱ</a:t>
            </a:r>
            <a:r>
              <a:rPr lang="en-GB" sz="1800" b="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እኔ</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የሚሰጠውም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ምስክርነት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እውነት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ዐውቃለሁ</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a:p>
            <a:pPr marL="0" marR="0" indent="457200" algn="just">
              <a:lnSpc>
                <a:spcPct val="150000"/>
              </a:lnSpc>
              <a:buNone/>
            </a:pP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በክፍሉ</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ላይ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የምናገኘው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ተናጋሪ</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እርሱ</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የላከኝ</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ሌላ</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አለ</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የሚሉትን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ቃላት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ደጋግሞ</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እየተናገረ</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እነዚህን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ቃላት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የሚናገረው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ሰው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ራሱን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ለማመልከት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የተናገራቸው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ቃላት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ናቸው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እንዴት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ይቻላል</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91477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E06B8A-4687-42FF-D639-8FB15F8E2DBE}"/>
              </a:ext>
            </a:extLst>
          </p:cNvPr>
          <p:cNvSpPr txBox="1"/>
          <p:nvPr/>
        </p:nvSpPr>
        <p:spPr>
          <a:xfrm>
            <a:off x="609601" y="926013"/>
            <a:ext cx="10701866" cy="4565609"/>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ስድስተኛ</a:t>
            </a:r>
            <a:r>
              <a:rPr lang="en-GB" sz="1800" b="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በዐዲስ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ኪዳን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ትምህርት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በ__</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l-GR" sz="1800" dirty="0">
                <a:effectLst/>
                <a:latin typeface="Times New Roman" panose="02020603050405020304" pitchFamily="18" charset="0"/>
                <a:ea typeface="Times New Roman" panose="02020603050405020304" pitchFamily="18" charset="0"/>
                <a:cs typeface="Times New Roman" panose="02020603050405020304" pitchFamily="18" charset="0"/>
              </a:rPr>
              <a:t>ἐγὼ ἐλήλυθα ἐν τῷ ὀνόματι</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በ</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__</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ሥልጣን</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በአባቴ</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መጥቻለሁ</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በአባቱ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ሥልጣን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መምጣቱን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የሚያሳይ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በአባቴ</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በራሴ</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የሚሉት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ሐረጐች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በግልጽ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የሚያመለክቱት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ጌታ</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የመጣው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በራሱ</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ሳይሆን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በአባቱ</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ጌታ</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ትምህርት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በራሱ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የሚመጣውን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ሰው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መቀበል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ሞኝነት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የራሱን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ክብር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ይሻልና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ደግሞ</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የሐዋርያት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ቤተ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ክርስቲያን</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መምህራን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ከሚያስተምሩት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ትምህርት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ተቃራኒ</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መንገድ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እንዳልሆነና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እንዳልሆነ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የሚያመለክት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አስደናቂው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ጒዳይ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እንዳልሆነ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በመረጃነት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ሊቀርብ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የሚገባው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ክፍል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በተገላቢጦሽ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ለማለት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በዋቢነት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መቅረቡ</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አጀብ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የሚያሰኝ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ለማለት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በድርጅቱ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መምህራን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ከዚህ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ክፍል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ጋር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በማዳቀል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የሚጠቅሱት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ጥቅስ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ዮሐንስ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7</a:t>
            </a:r>
            <a:r>
              <a:rPr lang="en-GB" sz="20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6:11:12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ትንታኔ</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ወላጅ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ስሙን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ለልጁ</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ሰጠው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እንዲሁም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ልጅ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ሆኑ</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a:p>
            <a:pPr marL="0" marR="0">
              <a:lnSpc>
                <a:spcPct val="150000"/>
              </a:lnSpc>
              <a:buNone/>
            </a:pPr>
            <a:r>
              <a:rPr lang="en-US" sz="1400" dirty="0">
                <a:effectLst/>
                <a:latin typeface="VG2 Main" panose="020B7200000000000000" pitchFamily="34" charset="0"/>
                <a:ea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9294742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71CCCC-1D4D-E2B6-9EA5-941813BE8B0A}"/>
              </a:ext>
            </a:extLst>
          </p:cNvPr>
          <p:cNvSpPr txBox="1"/>
          <p:nvPr/>
        </p:nvSpPr>
        <p:spPr>
          <a:xfrm>
            <a:off x="745066" y="689507"/>
            <a:ext cx="10701867" cy="3789884"/>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ሰባተኛ</a:t>
            </a:r>
            <a:r>
              <a:rPr lang="en-GB" sz="1800" b="1" dirty="0">
                <a:effectLst/>
                <a:latin typeface="VG2 Main" panose="020B7200000000000000" pitchFamily="34"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በዐዲስ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ኪዳን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ምንባባት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በግሪክ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ኦኖማ</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l-GR" sz="1800" dirty="0">
                <a:effectLst/>
                <a:latin typeface="BibliaLS"/>
                <a:ea typeface="Times New Roman" panose="02020603050405020304" pitchFamily="18" charset="0"/>
                <a:cs typeface="Times New Roman" panose="02020603050405020304" pitchFamily="18" charset="0"/>
              </a:rPr>
              <a:t>ὄνομα</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ከ</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156</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ጊዜ</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በላይ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ጥቅም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ላይ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የዋለ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ሲሆን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በእነዚህ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ስፍራዎችም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ቃሉ</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በአብዛኛው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በ</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__</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ሥልጣን</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ትርጒም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የሚወክል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ለምሳሌ</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የሚከተለውን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ክፍል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ይመለከቷል</a:t>
            </a:r>
            <a:r>
              <a:rPr lang="en-GB" sz="1800" dirty="0">
                <a:effectLst/>
                <a:latin typeface="Nyala" panose="02000504070300020003" pitchFamily="2" charset="0"/>
                <a:ea typeface="Times New Roman" panose="02020603050405020304" pitchFamily="18" charset="0"/>
                <a:cs typeface="Nyala" panose="02000504070300020003" pitchFamily="2"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b="1" dirty="0">
                <a:solidFill>
                  <a:srgbClr val="4472C4"/>
                </a:solidFill>
                <a:effectLst/>
                <a:latin typeface="VG2 Main" panose="020B7200000000000000" pitchFamily="34" charset="0"/>
                <a:ea typeface="Times New Roman" panose="02020603050405020304" pitchFamily="18" charset="0"/>
                <a:cs typeface="Times New Roman" panose="02020603050405020304" pitchFamily="18" charset="0"/>
              </a:rPr>
              <a:t>  </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a:p>
            <a:pPr marL="800100" lvl="1" indent="-342900" algn="just">
              <a:lnSpc>
                <a:spcPct val="150000"/>
              </a:lnSpc>
              <a:buSzPts val="1200"/>
              <a:buFont typeface="Aegyptus" panose="020405020508060A0203" pitchFamily="18" charset="0"/>
              <a:buChar char="□"/>
            </a:pP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ዳዊትም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ፍልስጥኤማዊውን</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እንዲህ</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አለው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አንተ</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ሰይፍ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ጦርና</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ጭሬ</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ይዘህ</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ትመጣብኛለህ</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እኔ</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ግን</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አንተ</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በተገዳደርኸው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የእስራኤል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ሰራዊት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አምላክ</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በሆነው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ሁሉን</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በሚችል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በእግዚአብሔር</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እመጣብሃለሁ</a:t>
            </a: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Garamond" panose="02020404030301010803" pitchFamily="18" charset="0"/>
                <a:ea typeface="Times New Roman" panose="02020603050405020304" pitchFamily="18" charset="0"/>
                <a:cs typeface="Times New Roman" panose="02020603050405020304" pitchFamily="18" charset="0"/>
              </a:rPr>
              <a:t>(1</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ሳሙኤል </a:t>
            </a:r>
            <a:r>
              <a:rPr lang="en-GB" dirty="0">
                <a:effectLst/>
                <a:latin typeface="Garamond" panose="02020404030301010803" pitchFamily="18" charset="0"/>
                <a:ea typeface="Times New Roman" panose="02020603050405020304" pitchFamily="18" charset="0"/>
                <a:cs typeface="Times New Roman" panose="02020603050405020304" pitchFamily="18" charset="0"/>
              </a:rPr>
              <a:t>17</a:t>
            </a: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dirty="0">
                <a:effectLst/>
                <a:latin typeface="Garamond" panose="02020404030301010803" pitchFamily="18" charset="0"/>
                <a:ea typeface="Times New Roman" panose="02020603050405020304" pitchFamily="18" charset="0"/>
                <a:cs typeface="Times New Roman" panose="02020603050405020304" pitchFamily="18" charset="0"/>
              </a:rPr>
              <a:t>45)</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q"/>
            </a:pP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በዚህ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ክፍል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ዳዊት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በእግዚአብሔር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b="1" i="1"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sz="1800" i="1"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እመጣብሃለሁ</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ሲል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ስሜ</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እግዚአብሔር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ሆኖ</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ወይም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እግዚአብሔር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ሆነን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እመጣብሃለሁ</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ሳይሆን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በተገዳደርኸው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በእግዚአብሔር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ሥልጣን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እመጣብሃለሁ</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dirty="0"/>
          </a:p>
        </p:txBody>
      </p:sp>
      <p:sp>
        <p:nvSpPr>
          <p:cNvPr id="5" name="TextBox 4">
            <a:extLst>
              <a:ext uri="{FF2B5EF4-FFF2-40B4-BE49-F238E27FC236}">
                <a16:creationId xmlns:a16="http://schemas.microsoft.com/office/drawing/2014/main" id="{BBAA33C2-9B75-54B6-E99F-FB3B99A3EC6A}"/>
              </a:ext>
            </a:extLst>
          </p:cNvPr>
          <p:cNvSpPr txBox="1"/>
          <p:nvPr/>
        </p:nvSpPr>
        <p:spPr>
          <a:xfrm>
            <a:off x="592667" y="4523840"/>
            <a:ext cx="10854265" cy="1296893"/>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ልክ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እንደዚሁ</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ሁሉ</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በአባቴ</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መጣሁ</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ሲል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የሐዋርያት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ቤተ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ክርስቲያን</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መምህራን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እንደሚያስተምሩት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የአንድ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መጠሪያ</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ወይም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ናቸው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ለማለት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ተፈልጎ</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ሳይሆን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በአባቴ</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ሥልጣን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ወይም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አባቴን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ወክዬ</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መጥቻለሁ</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dirty="0"/>
          </a:p>
        </p:txBody>
      </p:sp>
    </p:spTree>
    <p:extLst>
      <p:ext uri="{BB962C8B-B14F-4D97-AF65-F5344CB8AC3E}">
        <p14:creationId xmlns:p14="http://schemas.microsoft.com/office/powerpoint/2010/main" val="9032982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8C807C-FB11-52CE-9817-CAB8E59E38AA}"/>
              </a:ext>
            </a:extLst>
          </p:cNvPr>
          <p:cNvSpPr txBox="1"/>
          <p:nvPr/>
        </p:nvSpPr>
        <p:spPr>
          <a:xfrm>
            <a:off x="778933" y="1876026"/>
            <a:ext cx="10634134" cy="672428"/>
          </a:xfrm>
          <a:prstGeom prst="rect">
            <a:avLst/>
          </a:prstGeom>
          <a:noFill/>
        </p:spPr>
        <p:txBody>
          <a:bodyPr wrap="square">
            <a:spAutoFit/>
          </a:bodyPr>
          <a:lstStyle/>
          <a:p>
            <a:pPr marL="0" marR="0" algn="ctr">
              <a:lnSpc>
                <a:spcPct val="115000"/>
              </a:lnSpc>
              <a:buNone/>
            </a:pPr>
            <a:r>
              <a:rPr lang="en-US" sz="36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3200" dirty="0" err="1">
                <a:effectLst/>
                <a:latin typeface="Ethiopic Sadiss Light" pitchFamily="2" charset="0"/>
                <a:ea typeface="Times New Roman" panose="02020603050405020304" pitchFamily="18" charset="0"/>
                <a:cs typeface="Times New Roman" panose="02020603050405020304" pitchFamily="18" charset="0"/>
              </a:rPr>
              <a:t>ሁላችን</a:t>
            </a:r>
            <a:r>
              <a:rPr lang="en-US" sz="3200" dirty="0">
                <a:effectLst/>
                <a:latin typeface="Ethiopic Sadiss Light" pitchFamily="2" charset="0"/>
                <a:ea typeface="Times New Roman" panose="02020603050405020304" pitchFamily="18" charset="0"/>
                <a:cs typeface="Times New Roman" panose="02020603050405020304" pitchFamily="18" charset="0"/>
              </a:rPr>
              <a:t> አንድ </a:t>
            </a:r>
            <a:r>
              <a:rPr lang="en-US" sz="3200" dirty="0" err="1">
                <a:effectLst/>
                <a:latin typeface="Ethiopic Sadiss Light" pitchFamily="2" charset="0"/>
                <a:ea typeface="Times New Roman" panose="02020603050405020304" pitchFamily="18" charset="0"/>
                <a:cs typeface="Times New Roman" panose="02020603050405020304" pitchFamily="18" charset="0"/>
              </a:rPr>
              <a:t>አባት</a:t>
            </a:r>
            <a:r>
              <a:rPr lang="en-US" sz="3200" dirty="0">
                <a:effectLst/>
                <a:latin typeface="Ethiopic Sadiss Light" pitchFamily="2" charset="0"/>
                <a:ea typeface="Times New Roman" panose="02020603050405020304" pitchFamily="18" charset="0"/>
                <a:cs typeface="Times New Roman" panose="02020603050405020304" pitchFamily="18" charset="0"/>
              </a:rPr>
              <a:t> </a:t>
            </a:r>
            <a:r>
              <a:rPr lang="en-US" sz="3200" dirty="0" err="1">
                <a:effectLst/>
                <a:latin typeface="Ethiopic Sadiss Light" pitchFamily="2" charset="0"/>
                <a:ea typeface="Times New Roman" panose="02020603050405020304" pitchFamily="18" charset="0"/>
                <a:cs typeface="Times New Roman" panose="02020603050405020304" pitchFamily="18" charset="0"/>
              </a:rPr>
              <a:t>ያለን</a:t>
            </a:r>
            <a:r>
              <a:rPr lang="en-US" sz="3200" dirty="0">
                <a:effectLst/>
                <a:latin typeface="Ethiopic Sadiss Light" pitchFamily="2" charset="0"/>
                <a:ea typeface="Times New Roman" panose="02020603050405020304" pitchFamily="18" charset="0"/>
                <a:cs typeface="Times New Roman" panose="02020603050405020304" pitchFamily="18" charset="0"/>
              </a:rPr>
              <a:t> </a:t>
            </a:r>
            <a:r>
              <a:rPr lang="en-US" sz="3200" dirty="0" err="1">
                <a:effectLst/>
                <a:latin typeface="Ethiopic Sadiss Light" pitchFamily="2" charset="0"/>
                <a:ea typeface="Times New Roman" panose="02020603050405020304" pitchFamily="18" charset="0"/>
                <a:cs typeface="Times New Roman" panose="02020603050405020304" pitchFamily="18" charset="0"/>
              </a:rPr>
              <a:t>አይደለንምን</a:t>
            </a:r>
            <a:r>
              <a:rPr lang="en-US" sz="3200" dirty="0">
                <a:effectLst/>
                <a:latin typeface="Ethiopic Sadiss Light" pitchFamily="2" charset="0"/>
                <a:ea typeface="Times New Roman" panose="02020603050405020304" pitchFamily="18" charset="0"/>
                <a:cs typeface="Times New Roman" panose="02020603050405020304" pitchFamily="18" charset="0"/>
              </a:rPr>
              <a:t>? </a:t>
            </a:r>
            <a:r>
              <a:rPr lang="en-US" sz="3200" dirty="0" err="1">
                <a:effectLst/>
                <a:latin typeface="Ethiopic Sadiss Light" pitchFamily="2" charset="0"/>
                <a:ea typeface="Times New Roman" panose="02020603050405020304" pitchFamily="18" charset="0"/>
                <a:cs typeface="Times New Roman" panose="02020603050405020304" pitchFamily="18" charset="0"/>
              </a:rPr>
              <a:t>የፈጠረንስ</a:t>
            </a:r>
            <a:r>
              <a:rPr lang="en-US" sz="3200" dirty="0">
                <a:effectLst/>
                <a:latin typeface="Ethiopic Sadiss Light" pitchFamily="2" charset="0"/>
                <a:ea typeface="Times New Roman" panose="02020603050405020304" pitchFamily="18" charset="0"/>
                <a:cs typeface="Times New Roman" panose="02020603050405020304" pitchFamily="18" charset="0"/>
              </a:rPr>
              <a:t> አንድ </a:t>
            </a:r>
            <a:r>
              <a:rPr lang="en-US" sz="3200" dirty="0" err="1">
                <a:effectLst/>
                <a:latin typeface="Ethiopic Sadiss Light" pitchFamily="2" charset="0"/>
                <a:ea typeface="Times New Roman" panose="02020603050405020304" pitchFamily="18" charset="0"/>
                <a:cs typeface="Times New Roman" panose="02020603050405020304" pitchFamily="18" charset="0"/>
              </a:rPr>
              <a:t>አምላክ</a:t>
            </a:r>
            <a:r>
              <a:rPr lang="en-US" sz="3200" dirty="0">
                <a:effectLst/>
                <a:latin typeface="Ethiopic Sadiss Light" pitchFamily="2" charset="0"/>
                <a:ea typeface="Times New Roman" panose="02020603050405020304" pitchFamily="18" charset="0"/>
                <a:cs typeface="Times New Roman" panose="02020603050405020304" pitchFamily="18" charset="0"/>
              </a:rPr>
              <a:t> </a:t>
            </a:r>
            <a:r>
              <a:rPr lang="en-US" sz="3200" dirty="0" err="1">
                <a:effectLst/>
                <a:latin typeface="Ethiopic Sadiss Light" pitchFamily="2" charset="0"/>
                <a:ea typeface="Times New Roman" panose="02020603050405020304" pitchFamily="18" charset="0"/>
                <a:cs typeface="Times New Roman" panose="02020603050405020304" pitchFamily="18" charset="0"/>
              </a:rPr>
              <a:t>አይደለምን</a:t>
            </a:r>
            <a:r>
              <a:rPr lang="en-US" sz="3200" dirty="0">
                <a:effectLst/>
                <a:latin typeface="Ethiopic Sadiss Light" pitchFamily="2" charset="0"/>
                <a:ea typeface="Times New Roman" panose="02020603050405020304" pitchFamily="18" charset="0"/>
                <a:cs typeface="Times New Roman" panose="02020603050405020304" pitchFamily="18" charset="0"/>
              </a:rPr>
              <a:t>?</a:t>
            </a:r>
            <a:r>
              <a:rPr lang="en-US" sz="36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32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06C2A3B-B443-1000-5F38-BFFBE610800D}"/>
              </a:ext>
            </a:extLst>
          </p:cNvPr>
          <p:cNvSpPr txBox="1"/>
          <p:nvPr/>
        </p:nvSpPr>
        <p:spPr>
          <a:xfrm>
            <a:off x="3039534" y="2928751"/>
            <a:ext cx="6112932" cy="732508"/>
          </a:xfrm>
          <a:prstGeom prst="rect">
            <a:avLst/>
          </a:prstGeom>
          <a:noFill/>
        </p:spPr>
        <p:txBody>
          <a:bodyPr wrap="square">
            <a:spAutoFit/>
          </a:bodyPr>
          <a:lstStyle/>
          <a:p>
            <a:pPr marL="0" marR="0" algn="ctr">
              <a:lnSpc>
                <a:spcPct val="150000"/>
              </a:lnSpc>
              <a:buNone/>
            </a:pPr>
            <a:r>
              <a:rPr lang="en-US" sz="3200" dirty="0" err="1">
                <a:effectLst/>
                <a:latin typeface="Ethiopic Yebse" panose="02000500000000000000" pitchFamily="2" charset="0"/>
                <a:ea typeface="Times New Roman" panose="02020603050405020304" pitchFamily="18" charset="0"/>
                <a:cs typeface="Times New Roman" panose="02020603050405020304" pitchFamily="18" charset="0"/>
              </a:rPr>
              <a:t>ሚልክያስ</a:t>
            </a:r>
            <a:r>
              <a:rPr lang="en-US" sz="3200" dirty="0">
                <a:effectLst/>
                <a:latin typeface="Ethiopic Yebse" panose="02000500000000000000" pitchFamily="2" charset="0"/>
                <a:ea typeface="Times New Roman" panose="02020603050405020304" pitchFamily="18" charset="0"/>
                <a:cs typeface="Times New Roman" panose="02020603050405020304" pitchFamily="18" charset="0"/>
              </a:rPr>
              <a:t> 2፥10</a:t>
            </a:r>
            <a:endParaRPr lang="en-US" sz="28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44192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8AC69C-0C3E-1597-91A7-EE00967155BC}"/>
              </a:ext>
            </a:extLst>
          </p:cNvPr>
          <p:cNvSpPr txBox="1"/>
          <p:nvPr/>
        </p:nvSpPr>
        <p:spPr>
          <a:xfrm>
            <a:off x="770466" y="683807"/>
            <a:ext cx="10651067" cy="2042675"/>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ይህን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ክፍል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አስመልክቶ</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የድርጅቱ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ታዋቂ</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መምህር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እንዲሁም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የዓለም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ዐቀፍ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ድርጅቱ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የበላይ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ጠባቂ</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የሆኑት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ዴቪድ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ኬ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በርናርድ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እንዲህ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ይላሉ</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a:p>
            <a:pPr marL="800100" lvl="1" indent="-342900" algn="just" fontAlgn="base">
              <a:lnSpc>
                <a:spcPct val="150000"/>
              </a:lnSpc>
              <a:buClr>
                <a:srgbClr val="000000"/>
              </a:buClr>
              <a:buSzPts val="1200"/>
              <a:buFont typeface="Courier New" panose="02070309020205020404" pitchFamily="49" charset="0"/>
              <a:buChar char="□"/>
            </a:pP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አንድ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እግዚአብሔር</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ብቻ</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ካለና</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ይህም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እግዚአብሔር</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ከሆነ</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Garamond" panose="02020404030301010803" pitchFamily="18" charset="0"/>
                <a:ea typeface="Times New Roman" panose="02020603050405020304" pitchFamily="18" charset="0"/>
                <a:cs typeface="Times New Roman" panose="02020603050405020304" pitchFamily="18" charset="0"/>
              </a:rPr>
              <a:t>(</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ሚልክያስ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a:effectLst/>
                <a:latin typeface="Garamond" panose="02020404030301010803" pitchFamily="18" charset="0"/>
                <a:ea typeface="Times New Roman" panose="02020603050405020304" pitchFamily="18" charset="0"/>
                <a:cs typeface="Times New Roman" panose="02020603050405020304" pitchFamily="18" charset="0"/>
              </a:rPr>
              <a:t>2÷10)</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እንዲሁም</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አምላክ</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ከሆነ</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ምክንዮአዊ</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የሆነው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ድምዳሜ</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dirty="0">
                <a:effectLst/>
                <a:latin typeface="Power Geez Unicode1" panose="00000400000000000000" pitchFamily="2" charset="0"/>
                <a:ea typeface="Times New Roman" panose="02020603050405020304" pitchFamily="18" charset="0"/>
                <a:cs typeface="Times New Roman" panose="02020603050405020304" pitchFamily="18" charset="0"/>
              </a:rPr>
              <a:t>፡፡</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a:p>
            <a:pPr marL="1657350" lvl="3" indent="-285750">
              <a:lnSpc>
                <a:spcPct val="150000"/>
              </a:lnSpc>
              <a:buFont typeface="Wingdings" panose="05000000000000000000" pitchFamily="2" charset="2"/>
              <a:buChar char="q"/>
            </a:pPr>
            <a:r>
              <a:rPr lang="en-GB" sz="1400" dirty="0">
                <a:effectLst/>
                <a:latin typeface="Garamond" panose="02020404030301010803" pitchFamily="18" charset="0"/>
                <a:ea typeface="Times New Roman" panose="02020603050405020304" pitchFamily="18" charset="0"/>
                <a:cs typeface="Times New Roman" panose="02020603050405020304" pitchFamily="18" charset="0"/>
              </a:rPr>
              <a:t>David K. Bernard, </a:t>
            </a:r>
            <a:r>
              <a:rPr lang="en-GB" sz="1400" i="1" dirty="0">
                <a:effectLst/>
                <a:latin typeface="Garamond" panose="02020404030301010803" pitchFamily="18" charset="0"/>
                <a:ea typeface="Times New Roman" panose="02020603050405020304" pitchFamily="18" charset="0"/>
                <a:cs typeface="Times New Roman" panose="02020603050405020304" pitchFamily="18" charset="0"/>
              </a:rPr>
              <a:t>The Oneness of God,</a:t>
            </a:r>
            <a:r>
              <a:rPr lang="en-GB" sz="1400" dirty="0">
                <a:effectLst/>
                <a:latin typeface="Garamond" panose="02020404030301010803" pitchFamily="18" charset="0"/>
                <a:ea typeface="Times New Roman" panose="02020603050405020304" pitchFamily="18" charset="0"/>
                <a:cs typeface="Times New Roman" panose="02020603050405020304" pitchFamily="18" charset="0"/>
              </a:rPr>
              <a:t> 66.</a:t>
            </a:r>
            <a:endParaRPr lang="en-US" sz="14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637F835-8204-88D4-3304-6BC9C599E5F0}"/>
              </a:ext>
            </a:extLst>
          </p:cNvPr>
          <p:cNvSpPr txBox="1"/>
          <p:nvPr/>
        </p:nvSpPr>
        <p:spPr>
          <a:xfrm>
            <a:off x="770467" y="2891795"/>
            <a:ext cx="10651066" cy="3362202"/>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አንደኛ</a:t>
            </a:r>
            <a:r>
              <a:rPr lang="en-GB" sz="1800" b="1" dirty="0">
                <a:effectLst/>
                <a:latin typeface="Power Geez Unicode1" panose="00000400000000000000" pitchFamily="2"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ኢሳይያስ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9÷6</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ላይ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ለማየት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ሞከርነው</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እግዚአብሔር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ብቻ</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ካለና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(2)</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ይህም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እግዚአብሔር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(3)</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እግዚአብሔር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ስለሆነ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የሐዋርያት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ቤተ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ክርስቲያን</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የሙግት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አካሄድ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ስሕተት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ከላይ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ሞግተናል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አምላክ</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የሚሉት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ቃላት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ባሕርይን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እንጂ</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አኃዛዊ</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አንድነትን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አመላካች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አይደሉም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ባሕርይ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የሚናገሩትን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ማስረጃዎች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ከአካል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ጋር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አቀላቅሎና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አጣርሶ</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ሙግትን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ማቅረብ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የርቱዕ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ሙግት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አካሄድ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አይደለም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የሙግት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ውቅር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ባሕርይንና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ማምታታቱ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ብቻ</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ሳይሆን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እግዚአብሔር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ብቻ</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ስሑት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መቅድመ</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ልባዌ</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ታሳቢ</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ያደረገ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ሙግት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ምክንያቱም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ክፍሉ</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b="1" i="1" dirty="0" err="1">
                <a:effectLst/>
                <a:latin typeface="Power Geez Unicode1" panose="00000400000000000000" pitchFamily="2" charset="0"/>
                <a:ea typeface="Times New Roman" panose="02020603050405020304" pitchFamily="18" charset="0"/>
                <a:cs typeface="Times New Roman" panose="02020603050405020304" pitchFamily="18" charset="0"/>
              </a:rPr>
              <a:t>ብቻ</a:t>
            </a:r>
            <a:r>
              <a:rPr lang="en-GB" sz="1800" b="1" i="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አምላክ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ወይም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በግጻዌ</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መለኮት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ውስጥ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ሌሎች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አካላት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የሉም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ዐሳብ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የለውምና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a:t>
            </a:r>
            <a:endParaRPr lang="en-US" sz="14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43656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44C6F6-3328-337D-789E-2A08DB75FC62}"/>
              </a:ext>
            </a:extLst>
          </p:cNvPr>
          <p:cNvSpPr txBox="1"/>
          <p:nvPr/>
        </p:nvSpPr>
        <p:spPr>
          <a:xfrm>
            <a:off x="626534" y="763053"/>
            <a:ext cx="10651066" cy="1700209"/>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ሁለተኛ</a:t>
            </a:r>
            <a:r>
              <a:rPr lang="en-GB" sz="1800" b="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በነገረ</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መለኮቱ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ዓለም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አስተርዮተ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እግዚአብሔር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አምላክ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ራሱን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ለፍጥረቱ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የገለጠበት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መንገድ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ርምደታዊ</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ከጊዜ</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ጊዜ</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እየጠለለና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ብርሃኑ</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እየደመቀ</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መጣ</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ይታመናል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መጽሐፍ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ቅዱስ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መንፈስ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ቅዱስ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የሚያስተምረው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ትምህርት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ከብሉይ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ኪዳን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ይልቅ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በዐዲስ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ኪዳን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በእጅጉ</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ዳብሮና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ፍንትው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ብሎ</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የሚታየው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በዚህ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ምክንያት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CBB8949-3F00-7B93-0A82-E499623A5C5B}"/>
              </a:ext>
            </a:extLst>
          </p:cNvPr>
          <p:cNvSpPr txBox="1"/>
          <p:nvPr/>
        </p:nvSpPr>
        <p:spPr>
          <a:xfrm>
            <a:off x="770467" y="2317246"/>
            <a:ext cx="10651066" cy="3777701"/>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ሦስተኛ</a:t>
            </a:r>
            <a:r>
              <a:rPr lang="en-GB" sz="1800" b="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በዕብራውያኑ</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አመለካከት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በተለይ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ደግሞ</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የዚህ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ክፍል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ትምህርት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ፈጣሪ</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solidFill>
                  <a:srgbClr val="4472C4"/>
                </a:solidFill>
                <a:effectLst/>
                <a:latin typeface="VG2 Main" panose="020B7200000000000000" pitchFamily="34"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ጥቂት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ናሙናዎችን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እንመልከት</a:t>
            </a:r>
            <a:r>
              <a:rPr lang="en-GB" sz="1800" dirty="0">
                <a:effectLst/>
                <a:latin typeface="Nyala" panose="02000504070300020003" pitchFamily="2" charset="0"/>
                <a:ea typeface="Times New Roman" panose="02020603050405020304" pitchFamily="18" charset="0"/>
                <a:cs typeface="Nyala" panose="02000504070300020003" pitchFamily="2" charset="0"/>
              </a:rPr>
              <a:t>:—</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a:p>
            <a:pPr marL="342900" marR="0" lvl="0" indent="-342900" algn="just">
              <a:lnSpc>
                <a:spcPct val="150000"/>
              </a:lnSpc>
              <a:buSzPts val="1200"/>
              <a:buFont typeface="Courier New" panose="02070309020205020404" pitchFamily="49" charset="0"/>
              <a:buChar char="□"/>
            </a:pP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አባትህ</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ፈጣሪህ</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የሠራህና</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ያበጀህ</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እርሱ</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አይደለምን</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ዘዳግም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32</a:t>
            </a:r>
            <a:r>
              <a:rPr lang="en-GB" sz="18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6)</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a:p>
            <a:pPr marL="342900" marR="0" lvl="0" indent="-342900" algn="just">
              <a:lnSpc>
                <a:spcPct val="150000"/>
              </a:lnSpc>
              <a:buSzPts val="1200"/>
              <a:buFont typeface="Courier New" panose="02070309020205020404" pitchFamily="49" charset="0"/>
              <a:buChar char="□"/>
            </a:pP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እግዚአብሔር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ሆይ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አንተ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አባታችን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እኛ</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ሸክላዎች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አንተም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ሸክላ</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ሠሪ</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ሁላችንም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የእጅህ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ሥራ</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ነን</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ኢሳይያስ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64</a:t>
            </a:r>
            <a:r>
              <a:rPr lang="en-GB" sz="18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8)</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a:p>
            <a:pPr marL="342900" marR="0" lvl="0" indent="-342900" algn="just">
              <a:lnSpc>
                <a:spcPct val="150000"/>
              </a:lnSpc>
              <a:buSzPts val="1200"/>
              <a:buFont typeface="Courier New" panose="02070309020205020404" pitchFamily="49" charset="0"/>
              <a:buChar char="□"/>
            </a:pP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ሁላችን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ያለን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አይደለንምን</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የፈጠረንስ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አምላክ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አይደለምን</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ሚልክያስ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2</a:t>
            </a:r>
            <a:r>
              <a:rPr lang="en-GB" sz="18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10)</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a:p>
            <a:pPr marL="182880" marR="0" indent="-182880" algn="just">
              <a:lnSpc>
                <a:spcPct val="150000"/>
              </a:lnSpc>
              <a:buNone/>
            </a:pP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በእማኝነት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ካቀረብናቸው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ከእነዚህ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ክፍሎች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መረዳት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የምንችለው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በብሉይ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ኪዳን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አስተምህሮ</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ፈጣሪ</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ትርጒም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እንደሚጐዳኝ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ፈጣሪ</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የሚሉት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ቃላት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በተለዋዋጭነት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ዐይነት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ትርጒም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ወክለው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እንደሚያገለግሉ</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a:t>
            </a:r>
            <a:endParaRPr lang="en-US" sz="14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55382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F5F27A-E219-C1F2-C02E-AC9118A0619D}"/>
              </a:ext>
            </a:extLst>
          </p:cNvPr>
          <p:cNvSpPr txBox="1"/>
          <p:nvPr/>
        </p:nvSpPr>
        <p:spPr>
          <a:xfrm>
            <a:off x="728133" y="2120837"/>
            <a:ext cx="10718800" cy="2773580"/>
          </a:xfrm>
          <a:prstGeom prst="rect">
            <a:avLst/>
          </a:prstGeom>
          <a:noFill/>
        </p:spPr>
        <p:txBody>
          <a:bodyPr wrap="square">
            <a:spAutoFit/>
          </a:bodyPr>
          <a:lstStyle/>
          <a:p>
            <a:pPr marL="285750" marR="0" indent="-285750" algn="just">
              <a:lnSpc>
                <a:spcPct val="200000"/>
              </a:lnSpc>
              <a:buFont typeface="Wingdings" panose="05000000000000000000" pitchFamily="2" charset="2"/>
              <a:buChar char="q"/>
            </a:pP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አራተኛ</a:t>
            </a:r>
            <a:r>
              <a:rPr lang="en-GB" sz="1800" b="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የሐዋርያት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ቤተ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ክርስቲያን</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መምህራን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አባት</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ግንኙነትን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አመላካች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አልተገነዘቡም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ይኸውም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እግዚአብሔር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የሚቤዥ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የሚያጽናና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የሚጠበቅ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የሚፈጥር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ወዘተ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አምላክ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መሆኑን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የሚገልጽ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መዝሙር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103</a:t>
            </a:r>
            <a:r>
              <a:rPr lang="en-GB" sz="18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13</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ኢሳይያስ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63</a:t>
            </a:r>
            <a:r>
              <a:rPr lang="en-GB" sz="18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16)</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ዐይነቱ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ባሕርይ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እንዳለው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ሁሉ</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መሆኑ</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መሆናቸውን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የሚያመለክት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ሳይሆን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ተመሳሳይ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ባሕርይ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እንዳላቸው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የሚያስተምር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9226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24952D-2916-CFC4-A801-0D9ACA40A253}"/>
              </a:ext>
            </a:extLst>
          </p:cNvPr>
          <p:cNvSpPr txBox="1"/>
          <p:nvPr/>
        </p:nvSpPr>
        <p:spPr>
          <a:xfrm>
            <a:off x="770466" y="892921"/>
            <a:ext cx="10651067" cy="5349157"/>
          </a:xfrm>
          <a:prstGeom prst="rect">
            <a:avLst/>
          </a:prstGeom>
          <a:noFill/>
        </p:spPr>
        <p:txBody>
          <a:bodyPr wrap="square">
            <a:spAutoFit/>
          </a:bodyPr>
          <a:lstStyle/>
          <a:p>
            <a:pPr marL="0" marR="0" algn="ctr">
              <a:lnSpc>
                <a:spcPct val="150000"/>
              </a:lnSpc>
              <a:buNone/>
            </a:pP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2800" dirty="0" err="1">
                <a:effectLst/>
                <a:latin typeface="Ethiopic Sadiss Light" pitchFamily="2" charset="0"/>
                <a:ea typeface="Times New Roman" panose="02020603050405020304" pitchFamily="18" charset="0"/>
                <a:cs typeface="Times New Roman" panose="02020603050405020304" pitchFamily="18" charset="0"/>
              </a:rPr>
              <a:t>ለእኛ</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ግን</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ሁሉም</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ነገር</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ከእርሱ</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የሆነ</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እኛም</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ለእርሱ</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የሆን</a:t>
            </a:r>
            <a:r>
              <a:rPr lang="en-US" sz="2800" dirty="0">
                <a:effectLst/>
                <a:latin typeface="Ethiopic Sadiss Light" pitchFamily="2" charset="0"/>
                <a:ea typeface="Times New Roman" panose="02020603050405020304" pitchFamily="18" charset="0"/>
                <a:cs typeface="Times New Roman" panose="02020603050405020304" pitchFamily="18" charset="0"/>
              </a:rPr>
              <a:t> አንድ </a:t>
            </a:r>
            <a:r>
              <a:rPr lang="en-US" sz="2800" dirty="0" err="1">
                <a:effectLst/>
                <a:latin typeface="Ethiopic Sadiss Light" pitchFamily="2" charset="0"/>
                <a:ea typeface="Times New Roman" panose="02020603050405020304" pitchFamily="18" charset="0"/>
                <a:cs typeface="Times New Roman" panose="02020603050405020304" pitchFamily="18" charset="0"/>
              </a:rPr>
              <a:t>አምላክ</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አብ</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አለን</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ደግሞም</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ሁሉም</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ነገር</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በእርሱ</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አማካይነት</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የሆነ</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እኛም</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በእርሱ</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አማካይነት</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የሆነ</a:t>
            </a:r>
            <a:r>
              <a:rPr lang="en-US" sz="2800" dirty="0">
                <a:effectLst/>
                <a:latin typeface="Ethiopic Sadiss Light" pitchFamily="2" charset="0"/>
                <a:ea typeface="Times New Roman" panose="02020603050405020304" pitchFamily="18" charset="0"/>
                <a:cs typeface="Times New Roman" panose="02020603050405020304" pitchFamily="18" charset="0"/>
              </a:rPr>
              <a:t> አንድ </a:t>
            </a:r>
            <a:r>
              <a:rPr lang="en-US" sz="2800" dirty="0" err="1">
                <a:effectLst/>
                <a:latin typeface="Ethiopic Sadiss Light" pitchFamily="2" charset="0"/>
                <a:ea typeface="Times New Roman" panose="02020603050405020304" pitchFamily="18" charset="0"/>
                <a:cs typeface="Times New Roman" panose="02020603050405020304" pitchFamily="18" charset="0"/>
              </a:rPr>
              <a:t>ጌታ</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ኢየሱስ</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ክርስቶስ</a:t>
            </a:r>
            <a:r>
              <a:rPr lang="en-US" sz="2800" dirty="0">
                <a:effectLst/>
                <a:latin typeface="Ethiopic Sadiss Light" pitchFamily="2" charset="0"/>
                <a:ea typeface="Times New Roman" panose="02020603050405020304" pitchFamily="18" charset="0"/>
                <a:cs typeface="Times New Roman" panose="02020603050405020304" pitchFamily="18" charset="0"/>
              </a:rPr>
              <a:t> </a:t>
            </a:r>
            <a:r>
              <a:rPr lang="en-US" sz="2800" dirty="0" err="1">
                <a:effectLst/>
                <a:latin typeface="Ethiopic Sadiss Light" pitchFamily="2" charset="0"/>
                <a:ea typeface="Times New Roman" panose="02020603050405020304" pitchFamily="18" charset="0"/>
                <a:cs typeface="Times New Roman" panose="02020603050405020304" pitchFamily="18" charset="0"/>
              </a:rPr>
              <a:t>አለን</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800" dirty="0">
              <a:effectLst/>
              <a:latin typeface="VG2 Main" panose="020B7200000000000000" pitchFamily="34" charset="0"/>
              <a:ea typeface="Times New Roman" panose="02020603050405020304" pitchFamily="18" charset="0"/>
              <a:cs typeface="Times New Roman" panose="02020603050405020304" pitchFamily="18" charset="0"/>
            </a:endParaRPr>
          </a:p>
          <a:p>
            <a:pPr marL="182880" marR="0" indent="-182880" algn="ctr">
              <a:lnSpc>
                <a:spcPct val="150000"/>
              </a:lnSpc>
              <a:buNone/>
            </a:pPr>
            <a:r>
              <a:rPr lang="en-US" sz="3200" dirty="0">
                <a:latin typeface="Times New Roman" panose="02020603050405020304" pitchFamily="18" charset="0"/>
                <a:ea typeface="Times New Roman" panose="02020603050405020304" pitchFamily="18" charset="0"/>
                <a:cs typeface="Times New Roman" panose="02020603050405020304" pitchFamily="18" charset="0"/>
              </a:rPr>
              <a:t>“</a:t>
            </a:r>
            <a:r>
              <a:rPr lang="el-GR" sz="3200" dirty="0">
                <a:latin typeface="Gentium" panose="02000503060000020004" pitchFamily="2" charset="0"/>
                <a:ea typeface="Times New Roman" panose="02020603050405020304" pitchFamily="18" charset="0"/>
                <a:cs typeface="Times New Roman" panose="02020603050405020304" pitchFamily="18" charset="0"/>
              </a:rPr>
              <a:t>ἀλλ</a:t>
            </a:r>
            <a:r>
              <a:rPr lang="en-US" sz="3200" dirty="0">
                <a:latin typeface="Gentium" panose="02000503060000020004" pitchFamily="2" charset="0"/>
                <a:ea typeface="Times New Roman" panose="02020603050405020304" pitchFamily="18" charset="0"/>
                <a:cs typeface="Times New Roman" panose="02020603050405020304" pitchFamily="18" charset="0"/>
              </a:rPr>
              <a:t>ʼ </a:t>
            </a:r>
            <a:r>
              <a:rPr lang="el-GR" sz="3200" dirty="0">
                <a:latin typeface="Gentium" panose="02000503060000020004" pitchFamily="2" charset="0"/>
                <a:ea typeface="Times New Roman" panose="02020603050405020304" pitchFamily="18" charset="0"/>
                <a:cs typeface="Times New Roman" panose="02020603050405020304" pitchFamily="18" charset="0"/>
              </a:rPr>
              <a:t>ἡμῖν εἷς θεὸς ὁ πατὴρ ἐξ οὗ τὰ πάντα καὶ ἡμεῖς εἰς αὐτόν</a:t>
            </a:r>
            <a:r>
              <a:rPr lang="en-US" sz="3200" dirty="0">
                <a:latin typeface="Gentium" panose="02000503060000020004" pitchFamily="2" charset="0"/>
                <a:ea typeface="Times New Roman" panose="02020603050405020304" pitchFamily="18" charset="0"/>
                <a:cs typeface="Times New Roman" panose="02020603050405020304" pitchFamily="18" charset="0"/>
              </a:rPr>
              <a:t>, </a:t>
            </a:r>
            <a:r>
              <a:rPr lang="el-GR" sz="3200" dirty="0">
                <a:latin typeface="Gentium" panose="02000503060000020004" pitchFamily="2" charset="0"/>
                <a:ea typeface="Times New Roman" panose="02020603050405020304" pitchFamily="18" charset="0"/>
                <a:cs typeface="Times New Roman" panose="02020603050405020304" pitchFamily="18" charset="0"/>
              </a:rPr>
              <a:t>καὶ εἷς κύριος Ἰησοῦς Χριστὸς</a:t>
            </a:r>
            <a:endParaRPr lang="en-US" sz="4400" dirty="0">
              <a:latin typeface="VG2 Main" panose="020B7200000000000000" pitchFamily="34" charset="0"/>
              <a:ea typeface="Times New Roman" panose="02020603050405020304" pitchFamily="18" charset="0"/>
              <a:cs typeface="Times New Roman" panose="02020603050405020304" pitchFamily="18" charset="0"/>
            </a:endParaRPr>
          </a:p>
          <a:p>
            <a:pPr marL="114300" marR="0" indent="-114300" algn="ctr">
              <a:lnSpc>
                <a:spcPct val="150000"/>
              </a:lnSpc>
              <a:buNone/>
            </a:pPr>
            <a:r>
              <a:rPr lang="en-US" sz="3200" dirty="0">
                <a:latin typeface="Gentium" panose="02000503060000020004" pitchFamily="2" charset="0"/>
                <a:ea typeface="Times New Roman" panose="02020603050405020304" pitchFamily="18" charset="0"/>
                <a:cs typeface="Times New Roman" panose="02020603050405020304" pitchFamily="18" charset="0"/>
              </a:rPr>
              <a:t>       </a:t>
            </a:r>
            <a:r>
              <a:rPr lang="el-GR" sz="3200" dirty="0">
                <a:latin typeface="Gentium" panose="02000503060000020004" pitchFamily="2" charset="0"/>
                <a:ea typeface="Times New Roman" panose="02020603050405020304" pitchFamily="18" charset="0"/>
                <a:cs typeface="Times New Roman" panose="02020603050405020304" pitchFamily="18" charset="0"/>
              </a:rPr>
              <a:t>δι</a:t>
            </a:r>
            <a:r>
              <a:rPr lang="en-US" sz="3200" dirty="0">
                <a:latin typeface="Gentium" panose="02000503060000020004" pitchFamily="2" charset="0"/>
                <a:ea typeface="Times New Roman" panose="02020603050405020304" pitchFamily="18" charset="0"/>
                <a:cs typeface="Times New Roman" panose="02020603050405020304" pitchFamily="18" charset="0"/>
              </a:rPr>
              <a:t>ʼ </a:t>
            </a:r>
            <a:r>
              <a:rPr lang="el-GR" sz="3200" dirty="0">
                <a:latin typeface="Gentium" panose="02000503060000020004" pitchFamily="2" charset="0"/>
                <a:ea typeface="Times New Roman" panose="02020603050405020304" pitchFamily="18" charset="0"/>
                <a:cs typeface="Times New Roman" panose="02020603050405020304" pitchFamily="18" charset="0"/>
              </a:rPr>
              <a:t>οὗ τὰ πάντα καὶ ἡμεῖς δι</a:t>
            </a:r>
            <a:r>
              <a:rPr lang="en-US" sz="3200" dirty="0">
                <a:latin typeface="Gentium" panose="02000503060000020004" pitchFamily="2" charset="0"/>
                <a:ea typeface="Times New Roman" panose="02020603050405020304" pitchFamily="18" charset="0"/>
                <a:cs typeface="Times New Roman" panose="02020603050405020304" pitchFamily="18" charset="0"/>
              </a:rPr>
              <a:t>ʼ </a:t>
            </a:r>
            <a:r>
              <a:rPr lang="el-GR" sz="3200" dirty="0">
                <a:latin typeface="Gentium" panose="02000503060000020004" pitchFamily="2" charset="0"/>
                <a:ea typeface="Times New Roman" panose="02020603050405020304" pitchFamily="18" charset="0"/>
                <a:cs typeface="Times New Roman" panose="02020603050405020304" pitchFamily="18" charset="0"/>
              </a:rPr>
              <a:t>αὐτοῦ</a:t>
            </a:r>
            <a:r>
              <a:rPr lang="en-US" sz="3200" dirty="0">
                <a:latin typeface="Gentium" panose="02000503060000020004" pitchFamily="2" charset="0"/>
                <a:ea typeface="Times New Roman" panose="02020603050405020304" pitchFamily="18" charset="0"/>
                <a:cs typeface="Times New Roman" panose="02020603050405020304" pitchFamily="18" charset="0"/>
              </a:rPr>
              <a:t>.</a:t>
            </a:r>
            <a:r>
              <a:rPr lang="en-US" sz="44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4400" dirty="0">
              <a:latin typeface="VG2 Main" panose="020B7200000000000000" pitchFamily="34" charset="0"/>
              <a:ea typeface="Times New Roman" panose="02020603050405020304" pitchFamily="18" charset="0"/>
              <a:cs typeface="Times New Roman" panose="02020603050405020304" pitchFamily="18" charset="0"/>
            </a:endParaRPr>
          </a:p>
          <a:p>
            <a:pPr algn="ctr">
              <a:lnSpc>
                <a:spcPct val="150000"/>
              </a:lnSpc>
            </a:pPr>
            <a:r>
              <a:rPr lang="en-US" sz="3200" dirty="0">
                <a:effectLst/>
                <a:latin typeface="Ethiopic Yebse" panose="02000500000000000000" pitchFamily="2" charset="0"/>
                <a:ea typeface="Times New Roman" panose="02020603050405020304" pitchFamily="18" charset="0"/>
                <a:cs typeface="Times New Roman" panose="02020603050405020304" pitchFamily="18" charset="0"/>
              </a:rPr>
              <a:t>1ቆሮንቶስ 8፥6</a:t>
            </a:r>
            <a:endParaRPr lang="en-US" sz="28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32947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746F2E-19EE-6AA5-6DFB-0C08BD3107A1}"/>
              </a:ext>
            </a:extLst>
          </p:cNvPr>
          <p:cNvSpPr txBox="1"/>
          <p:nvPr/>
        </p:nvSpPr>
        <p:spPr>
          <a:xfrm>
            <a:off x="753533" y="704812"/>
            <a:ext cx="10684934" cy="2946704"/>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የሐዋርያት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ቤተ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ክርስቲያን</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ጸሓፍት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ሚልክያስ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2÷10</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ሁሉ</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ይህም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ክፍል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ብቻ</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አምላክ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የሚያስተምር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ክፍል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ባዮች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ናቸው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ክፍል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የይሖዋ</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ምስክሮችም</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ብቻ</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አምላክ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በአንጻሩ</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ደግሞ</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ክርስቶስ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አምላክ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ያለመሆኑን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ከሚያስተምሩ</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የመጽሐፍ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ቅዱስ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ክፍሎች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መኻል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አንዱ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ይላሉ</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ዐይነቱ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ትምህርት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ከክፍሉ</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ዐቢይ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ዐሳብ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ጋር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የሚጻረር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ክፍሉ</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አምላክ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ጌታ</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ክርስቶስ</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የሚያስተምር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የሐዋርያት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ቤተ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ክርስቲያን</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የይሖዋ</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ምስክሮች</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ብቻ</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አምላክ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አምላክ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ያለመሆኑን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ያሳያል</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ወደሚለው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ድምዳሜ</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ሄደዋል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ከብዙ</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አቅጣጫ</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ስሕተት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3C8646C-4223-C41E-965F-71D24AF984DD}"/>
              </a:ext>
            </a:extLst>
          </p:cNvPr>
          <p:cNvSpPr txBox="1"/>
          <p:nvPr/>
        </p:nvSpPr>
        <p:spPr>
          <a:xfrm>
            <a:off x="753533" y="3858877"/>
            <a:ext cx="10684934" cy="2117118"/>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አንደኛ</a:t>
            </a:r>
            <a:r>
              <a:rPr lang="en-GB" sz="1800" b="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ብቻ</a:t>
            </a:r>
            <a:r>
              <a:rPr lang="en-GB" sz="1800" b="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አምላክ</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ግሪክ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ቴዎስ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l-GR" sz="1800" dirty="0">
                <a:effectLst/>
                <a:latin typeface="Gentium" panose="02000503060000020004" pitchFamily="2" charset="0"/>
                <a:ea typeface="Times New Roman" panose="02020603050405020304" pitchFamily="18" charset="0"/>
                <a:cs typeface="Times New Roman" panose="02020603050405020304" pitchFamily="18" charset="0"/>
              </a:rPr>
              <a:t>θεὸς</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ክርስቶስ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ደግሞ</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ጌታ</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ግሪክ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ኩሪዮስ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l-GR" sz="1800" dirty="0">
                <a:effectLst/>
                <a:latin typeface="Gentium" panose="02000503060000020004" pitchFamily="2" charset="0"/>
                <a:ea typeface="Times New Roman" panose="02020603050405020304" pitchFamily="18" charset="0"/>
                <a:cs typeface="Times New Roman" panose="02020603050405020304" pitchFamily="18" charset="0"/>
              </a:rPr>
              <a:t>κύριος</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ካልን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ይህንኑ</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የሙግት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ነጥብ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በመጠቀም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ብቻ</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ጌታ</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ጌታ</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ግሪክ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ኩሪዮስ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l-GR" sz="1800" dirty="0">
                <a:effectLst/>
                <a:latin typeface="Gentium" panose="02000503060000020004" pitchFamily="2" charset="0"/>
                <a:ea typeface="Times New Roman" panose="02020603050405020304" pitchFamily="18" charset="0"/>
                <a:cs typeface="Times New Roman" panose="02020603050405020304" pitchFamily="18" charset="0"/>
              </a:rPr>
              <a:t>κύριος</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አይደለም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ነገር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ጌታ</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እግዚአብሔር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ያስተምራል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ለምሳሌ</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ማቴዎስ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11÷25)</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አምላክ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ተብሏልና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ብቻ</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አምላክ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ካልን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ጌታ</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ተብሏልና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ብቻ</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ጌታ</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ወደሚለው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የተሳሳተ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ድምዳሜ</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ይወስደናል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40430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C002991-C906-D0C0-60CF-1C21E9044326}"/>
              </a:ext>
            </a:extLst>
          </p:cNvPr>
          <p:cNvSpPr txBox="1"/>
          <p:nvPr/>
        </p:nvSpPr>
        <p:spPr>
          <a:xfrm>
            <a:off x="745066" y="1134533"/>
            <a:ext cx="10701867" cy="5024196"/>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ሁለተኛ</a:t>
            </a:r>
            <a:r>
              <a:rPr lang="en-GB" sz="1800" b="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ቅዱሳት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መጻሕፍት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አምላክ</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ግሪክ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ቴዎስ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l-GR" sz="1800" dirty="0">
                <a:effectLst/>
                <a:latin typeface="Times New Roman" panose="02020603050405020304" pitchFamily="18" charset="0"/>
                <a:ea typeface="Times New Roman" panose="02020603050405020304" pitchFamily="18" charset="0"/>
                <a:cs typeface="Times New Roman" panose="02020603050405020304" pitchFamily="18" charset="0"/>
              </a:rPr>
              <a:t>θεὸς</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ተባለው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ሁሉ</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አምላክ</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ቴዎስ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l-GR" sz="1800" dirty="0">
                <a:effectLst/>
                <a:latin typeface="Gentium" panose="02000503060000020004" pitchFamily="2" charset="0"/>
                <a:ea typeface="Times New Roman" panose="02020603050405020304" pitchFamily="18" charset="0"/>
                <a:cs typeface="Times New Roman" panose="02020603050405020304" pitchFamily="18" charset="0"/>
              </a:rPr>
              <a:t>θεὸς</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ያስረዳሉ</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ለምሳሌ</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ዮሐንስ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1÷1:8</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20÷28</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ሐሥ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20÷28</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ዮሐንስ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5÷20-21</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ሮሜ</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9÷5</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ዕብራውያን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1÷8</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ቲቶ</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2÷13</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2</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ተሰሎንቄ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1÷12)</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a:p>
            <a:pPr marL="285750" marR="0" indent="-285750" algn="just">
              <a:lnSpc>
                <a:spcPct val="150000"/>
              </a:lnSpc>
              <a:buFont typeface="Wingdings" panose="05000000000000000000" pitchFamily="2" charset="2"/>
              <a:buChar char="q"/>
            </a:pP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ሦስተኛ</a:t>
            </a:r>
            <a:r>
              <a:rPr lang="en-GB" sz="1800" b="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የሐዋርያት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ቤተ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ክርስቲያን</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የይሖዋ</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ምስክሮች</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በተሳሳተ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መንገድ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ቢረዱትም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በቅዱሳት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መጻሕፍት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አስተምህሮ</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አምላክና</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ግሪክ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ቴዎስ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l-GR" sz="1800" dirty="0">
                <a:effectLst/>
                <a:latin typeface="Gentium" panose="02000503060000020004" pitchFamily="2" charset="0"/>
                <a:ea typeface="Times New Roman" panose="02020603050405020304" pitchFamily="18" charset="0"/>
                <a:cs typeface="Times New Roman" panose="02020603050405020304" pitchFamily="18" charset="0"/>
              </a:rPr>
              <a:t>θεὸς</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ጌታ</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ግሪክ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ኩሪዮስ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l-GR" sz="1800" dirty="0">
                <a:effectLst/>
                <a:latin typeface="Gentium" panose="02000503060000020004" pitchFamily="2" charset="0"/>
                <a:ea typeface="Times New Roman" panose="02020603050405020304" pitchFamily="18" charset="0"/>
                <a:cs typeface="Times New Roman" panose="02020603050405020304" pitchFamily="18" charset="0"/>
              </a:rPr>
              <a:t>κύριος</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የሚሉትን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ቃላት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አንዳችም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የትርጒም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ልዩነት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የላቸውም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ጒዳይ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በግልጽ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ከሚታይባቸው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ሁኔታዎች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መኻል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አንዱ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የሰብዓ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ሊቃናት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ትርጒም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(LXX)</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በመባል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የሚታወቀው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የብሉይ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ኪዳን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የግሪክ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ትርጒም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ያህዌ</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የእግዚአብሔር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ጌታ</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በግሪክ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ኩርዮስ</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l-GR" sz="1800" dirty="0">
                <a:effectLst/>
                <a:latin typeface="Times New Roman" panose="02020603050405020304" pitchFamily="18" charset="0"/>
                <a:ea typeface="Times New Roman" panose="02020603050405020304" pitchFamily="18" charset="0"/>
                <a:cs typeface="Times New Roman" panose="02020603050405020304" pitchFamily="18" charset="0"/>
              </a:rPr>
              <a:t>κύριός</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እያለ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የተረጐመው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የዐዲስ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ኪዳን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ጸሓፍት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ደግሞ</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ብሉያትን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ለትምህርታቸው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ማጠናከሪያ</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ሲጠቅሱ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የጠቀሱት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የሰብዐ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ሊቃናትን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ቅጅ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እንጂ</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የዕብራይስጡን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ትርጒም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አይደለም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ጒዳይ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የዐዲስ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ኪዳን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ጸሓፍት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በጌታ</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ኩርዮስ</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l-GR" sz="1800" dirty="0">
                <a:effectLst/>
                <a:latin typeface="Times New Roman" panose="02020603050405020304" pitchFamily="18" charset="0"/>
                <a:ea typeface="Times New Roman" panose="02020603050405020304" pitchFamily="18" charset="0"/>
                <a:cs typeface="Times New Roman" panose="02020603050405020304" pitchFamily="18" charset="0"/>
              </a:rPr>
              <a:t>κύριός</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በአምላክ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እግዚአብሔር</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በግሪክ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ቴዎስ</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l-GR" sz="1800" dirty="0">
                <a:effectLst/>
                <a:latin typeface="Times New Roman" panose="02020603050405020304" pitchFamily="18" charset="0"/>
                <a:ea typeface="Times New Roman" panose="02020603050405020304" pitchFamily="18" charset="0"/>
                <a:cs typeface="Times New Roman" panose="02020603050405020304" pitchFamily="18" charset="0"/>
              </a:rPr>
              <a:t>θεός</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መካከል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አንዳችም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የትርጒም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ልዩነት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እንደሌለ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ሁለቱም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አምላክን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የሚያመለክቱ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ስያሜዎች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መሆናቸውን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የሚያሳይ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56229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A3BBD6-BDD9-C292-66E8-DD5D2C829DB5}"/>
              </a:ext>
            </a:extLst>
          </p:cNvPr>
          <p:cNvSpPr txBox="1"/>
          <p:nvPr/>
        </p:nvSpPr>
        <p:spPr>
          <a:xfrm>
            <a:off x="618067" y="1950967"/>
            <a:ext cx="10684934" cy="2956066"/>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b="1" dirty="0" err="1">
                <a:effectLst/>
                <a:latin typeface="Power Geez Unicode1" panose="00000400000000000000" pitchFamily="2" charset="0"/>
                <a:ea typeface="Malgun Gothic" panose="020B0503020000020004" pitchFamily="34" charset="-127"/>
                <a:cs typeface="Malgun Gothic" panose="020B0503020000020004" pitchFamily="34" charset="-127"/>
              </a:rPr>
              <a:t>አራተኛ</a:t>
            </a:r>
            <a:r>
              <a:rPr lang="en-GB" sz="1800" b="1"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እንደ</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ድርጅቱ</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ትምህርት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በአብና</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በወልድ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መኻል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ባሕርያዊ</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አንድነት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ከሌለ</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አብ</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አምላክ</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ሆኖ</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ኢየሱስ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ሥጋ</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ብቻ</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ከሆነ</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መጽሐፍ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ቅዱስ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ኢየሱስ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አምላክ</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እንደ</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ሆነ</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ከማስተማሩም</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ባሻገር</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ለምሳሌ</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ዮሐንስ</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a:effectLst/>
                <a:latin typeface="Garamond" panose="02020404030301010803" pitchFamily="18" charset="0"/>
                <a:ea typeface="Aptos" panose="020B0004020202020204" pitchFamily="34" charset="0"/>
                <a:cs typeface="Times New Roman" panose="02020603050405020304" pitchFamily="18" charset="0"/>
              </a:rPr>
              <a:t>1÷1:8</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a:effectLst/>
                <a:latin typeface="Garamond" panose="02020404030301010803" pitchFamily="18" charset="0"/>
                <a:ea typeface="Aptos" panose="020B0004020202020204" pitchFamily="34" charset="0"/>
                <a:cs typeface="Times New Roman" panose="02020603050405020304" pitchFamily="18" charset="0"/>
              </a:rPr>
              <a:t>20÷28</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ሐሥ</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a:effectLst/>
                <a:latin typeface="Garamond" panose="02020404030301010803" pitchFamily="18" charset="0"/>
                <a:ea typeface="Aptos" panose="020B0004020202020204" pitchFamily="34" charset="0"/>
                <a:cs typeface="Times New Roman" panose="02020603050405020304" pitchFamily="18" charset="0"/>
              </a:rPr>
              <a:t>20÷28</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a:effectLst/>
                <a:latin typeface="Garamond" panose="02020404030301010803" pitchFamily="18" charset="0"/>
                <a:ea typeface="Aptos" panose="020B0004020202020204" pitchFamily="34" charset="0"/>
                <a:cs typeface="Times New Roman" panose="02020603050405020304" pitchFamily="18" charset="0"/>
              </a:rPr>
              <a:t>1</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ዮሐንስ </a:t>
            </a:r>
            <a:r>
              <a:rPr lang="en-US" sz="1800" kern="100" dirty="0">
                <a:effectLst/>
                <a:latin typeface="Garamond" panose="02020404030301010803" pitchFamily="18" charset="0"/>
                <a:ea typeface="Aptos" panose="020B0004020202020204" pitchFamily="34" charset="0"/>
                <a:cs typeface="Times New Roman" panose="02020603050405020304" pitchFamily="18" charset="0"/>
              </a:rPr>
              <a:t>5÷20-21</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ሮሜ</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a:effectLst/>
                <a:latin typeface="Garamond" panose="02020404030301010803" pitchFamily="18" charset="0"/>
                <a:ea typeface="Aptos" panose="020B0004020202020204" pitchFamily="34" charset="0"/>
                <a:cs typeface="Times New Roman" panose="02020603050405020304" pitchFamily="18" charset="0"/>
              </a:rPr>
              <a:t>9÷5</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ዕብራውያን</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a:effectLst/>
                <a:latin typeface="Garamond" panose="02020404030301010803" pitchFamily="18" charset="0"/>
                <a:ea typeface="Aptos" panose="020B0004020202020204" pitchFamily="34" charset="0"/>
                <a:cs typeface="Times New Roman" panose="02020603050405020304" pitchFamily="18" charset="0"/>
              </a:rPr>
              <a:t>1÷8</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ቲቶ</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a:effectLst/>
                <a:latin typeface="Garamond" panose="02020404030301010803" pitchFamily="18" charset="0"/>
                <a:ea typeface="Aptos" panose="020B0004020202020204" pitchFamily="34" charset="0"/>
                <a:cs typeface="Times New Roman" panose="02020603050405020304" pitchFamily="18" charset="0"/>
              </a:rPr>
              <a:t>2÷13</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a:effectLst/>
                <a:latin typeface="Garamond" panose="02020404030301010803" pitchFamily="18" charset="0"/>
                <a:ea typeface="Aptos" panose="020B0004020202020204" pitchFamily="34" charset="0"/>
                <a:cs typeface="Times New Roman" panose="02020603050405020304" pitchFamily="18" charset="0"/>
              </a:rPr>
              <a:t>2</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ተሰሎንቄ </a:t>
            </a:r>
            <a:r>
              <a:rPr lang="en-US" sz="1800" kern="100" dirty="0">
                <a:effectLst/>
                <a:latin typeface="Garamond" panose="02020404030301010803" pitchFamily="18" charset="0"/>
                <a:ea typeface="Aptos" panose="020B0004020202020204" pitchFamily="34" charset="0"/>
                <a:cs typeface="Times New Roman" panose="02020603050405020304" pitchFamily="18" charset="0"/>
              </a:rPr>
              <a:t>1÷12)</a:t>
            </a:r>
            <a:r>
              <a:rPr lang="en-US"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ኢየሱስ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ከአባቱ</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ጋር</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በአምላክነቱ</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ፍጹም</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ትክክል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እንደ</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ሆነ</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ይገልጻል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ለምሳሌ</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ፊልጵስዩስ</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a:effectLst/>
                <a:latin typeface="Garamond" panose="02020404030301010803" pitchFamily="18" charset="0"/>
                <a:ea typeface="Aptos" panose="020B0004020202020204" pitchFamily="34" charset="0"/>
                <a:cs typeface="Times New Roman" panose="02020603050405020304" pitchFamily="18" charset="0"/>
              </a:rPr>
              <a:t>2÷5-6</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ቈላስይስ</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a:effectLst/>
                <a:latin typeface="Garamond" panose="02020404030301010803" pitchFamily="18" charset="0"/>
                <a:ea typeface="Aptos" panose="020B0004020202020204" pitchFamily="34" charset="0"/>
                <a:cs typeface="Times New Roman" panose="02020603050405020304" pitchFamily="18" charset="0"/>
              </a:rPr>
              <a:t>1÷15-17</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ዕብራውያን</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a:effectLst/>
                <a:latin typeface="Garamond" panose="02020404030301010803" pitchFamily="18" charset="0"/>
                <a:ea typeface="Aptos" panose="020B0004020202020204" pitchFamily="34" charset="0"/>
                <a:cs typeface="Times New Roman" panose="02020603050405020304" pitchFamily="18" charset="0"/>
              </a:rPr>
              <a:t>1÷3</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ዮሐንስ</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a:effectLst/>
                <a:latin typeface="Garamond" panose="02020404030301010803" pitchFamily="18" charset="0"/>
                <a:ea typeface="Aptos" panose="020B0004020202020204" pitchFamily="34" charset="0"/>
                <a:cs typeface="Times New Roman" panose="02020603050405020304" pitchFamily="18" charset="0"/>
              </a:rPr>
              <a:t>17÷5</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a:effectLst/>
                <a:latin typeface="Garamond" panose="02020404030301010803" pitchFamily="18" charset="0"/>
                <a:ea typeface="Aptos" panose="020B0004020202020204" pitchFamily="34" charset="0"/>
                <a:cs typeface="Times New Roman" panose="02020603050405020304" pitchFamily="18" charset="0"/>
              </a:rPr>
              <a:t>10÷30</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a:effectLst/>
                <a:latin typeface="Garamond" panose="02020404030301010803" pitchFamily="18" charset="0"/>
                <a:ea typeface="Aptos" panose="020B0004020202020204" pitchFamily="34" charset="0"/>
                <a:cs typeface="Times New Roman" panose="02020603050405020304" pitchFamily="18" charset="0"/>
              </a:rPr>
              <a:t>2</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ቆሮንቶስ </a:t>
            </a:r>
            <a:r>
              <a:rPr lang="en-US" sz="1800" kern="100" dirty="0">
                <a:effectLst/>
                <a:latin typeface="Garamond" panose="02020404030301010803" pitchFamily="18" charset="0"/>
                <a:ea typeface="Aptos" panose="020B0004020202020204" pitchFamily="34" charset="0"/>
                <a:cs typeface="Times New Roman" panose="02020603050405020304" pitchFamily="18" charset="0"/>
              </a:rPr>
              <a:t>8÷9</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ኢሳይያስ</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a:effectLst/>
                <a:latin typeface="Garamond" panose="02020404030301010803" pitchFamily="18" charset="0"/>
                <a:ea typeface="Aptos" panose="020B0004020202020204" pitchFamily="34" charset="0"/>
                <a:cs typeface="Times New Roman" panose="02020603050405020304" pitchFamily="18" charset="0"/>
              </a:rPr>
              <a:t>9÷6</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Times New Roman" panose="02020603050405020304" pitchFamily="18" charset="0"/>
              </a:rPr>
              <a:t>ዮሐንስ</a:t>
            </a:r>
            <a:r>
              <a:rPr lang="en-US" sz="1800" kern="100" dirty="0">
                <a:effectLst/>
                <a:latin typeface="Power Geez Unicode1" panose="00000400000000000000" pitchFamily="2" charset="0"/>
                <a:ea typeface="Aptos" panose="020B0004020202020204" pitchFamily="34" charset="0"/>
                <a:cs typeface="Times New Roman" panose="02020603050405020304" pitchFamily="18" charset="0"/>
              </a:rPr>
              <a:t> </a:t>
            </a:r>
            <a:r>
              <a:rPr lang="en-US" sz="1800" kern="100" dirty="0">
                <a:effectLst/>
                <a:latin typeface="Garamond" panose="02020404030301010803" pitchFamily="18" charset="0"/>
                <a:ea typeface="Aptos" panose="020B0004020202020204" pitchFamily="34" charset="0"/>
                <a:cs typeface="Times New Roman" panose="02020603050405020304" pitchFamily="18" charset="0"/>
              </a:rPr>
              <a:t>20÷28)</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አምላክ</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ከሥጋ</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ጋር</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በምን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አግባብ</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እኲል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ሊሆን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ይችላል</a:t>
            </a:r>
            <a:r>
              <a:rPr lang="en-US" sz="1800" kern="100" dirty="0">
                <a:effectLst/>
                <a:latin typeface="Garamond" panose="02020404030301010803" pitchFamily="18" charset="0"/>
                <a:ea typeface="Aptos" panose="020B0004020202020204" pitchFamily="34" charset="0"/>
                <a:cs typeface="Times New Roman" panose="02020603050405020304" pitchFamily="18" charset="0"/>
              </a:rPr>
              <a:t>?</a:t>
            </a:r>
            <a:r>
              <a:rPr lang="en-US"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ድርጅቱ</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እነዚህን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መጽሐፍ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ቅዱሳዊ</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ምንባባት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ከአስተምህሮው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ጋር</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የሚያስታርቃቸው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በምን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መንገድ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ነው</a:t>
            </a:r>
            <a:r>
              <a:rPr lang="en-US" sz="1800" kern="100" dirty="0">
                <a:effectLst/>
                <a:latin typeface="Garamond" panose="02020404030301010803" pitchFamily="18" charset="0"/>
                <a:ea typeface="Aptos" panose="020B0004020202020204" pitchFamily="34" charset="0"/>
                <a:cs typeface="Times New Roman" panose="02020603050405020304" pitchFamily="18" charset="0"/>
              </a:rPr>
              <a:t>?</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48008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33323DC-C72C-B935-D07A-AB61D11939A4}"/>
              </a:ext>
            </a:extLst>
          </p:cNvPr>
          <p:cNvSpPr txBox="1"/>
          <p:nvPr/>
        </p:nvSpPr>
        <p:spPr>
          <a:xfrm>
            <a:off x="745066" y="694478"/>
            <a:ext cx="10701867" cy="5036379"/>
          </a:xfrm>
          <a:prstGeom prst="rect">
            <a:avLst/>
          </a:prstGeom>
          <a:noFill/>
        </p:spPr>
        <p:txBody>
          <a:bodyPr wrap="square">
            <a:spAutoFit/>
          </a:bodyPr>
          <a:lstStyle/>
          <a:p>
            <a:pPr algn="just">
              <a:lnSpc>
                <a:spcPct val="150000"/>
              </a:lnSpc>
            </a:pP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አምስተኛ</a:t>
            </a:r>
            <a:r>
              <a:rPr lang="en-GB" sz="1800" b="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የክፍሉ</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ዐውደ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ምንባብ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የኢየሱስን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አምላክነት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አመልካች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b="1" dirty="0">
                <a:effectLst/>
                <a:latin typeface="Garamond" panose="02020404030301010803" pitchFamily="18" charset="0"/>
                <a:ea typeface="Times New Roman" panose="02020603050405020304" pitchFamily="18" charset="0"/>
                <a:cs typeface="Times New Roman" panose="02020603050405020304" pitchFamily="18" charset="0"/>
              </a:rPr>
              <a:t>(1)</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በዚህ</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ቦታ</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ጳውሎስ</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ኢየሱስን</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ጌታ</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ያለው</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የክርስቶስን</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ፍጹም</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አምላክነት</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በሚያሳይ</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አንጽንዖት</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ነው</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a:effectLst/>
                <a:latin typeface="Times New Roman" panose="02020603050405020304" pitchFamily="18" charset="0"/>
                <a:ea typeface="Times New Roman" panose="02020603050405020304" pitchFamily="18" charset="0"/>
                <a:cs typeface="Segoe UI" panose="020B0502040204020203" pitchFamily="34" charset="0"/>
              </a:rPr>
              <a:t>“</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አንድ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ጌታ</a:t>
            </a:r>
            <a:r>
              <a:rPr lang="en-GB" sz="1800" dirty="0">
                <a:effectLst/>
                <a:latin typeface="Times New Roman" panose="02020603050405020304" pitchFamily="18" charset="0"/>
                <a:ea typeface="Times New Roman" panose="02020603050405020304" pitchFamily="18" charset="0"/>
                <a:cs typeface="Segoe UI" panose="020B0502040204020203" pitchFamily="34" charset="0"/>
              </a:rPr>
              <a:t>”</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b="1" dirty="0">
                <a:effectLst/>
                <a:latin typeface="Times New Roman" panose="02020603050405020304" pitchFamily="18" charset="0"/>
                <a:ea typeface="Times New Roman" panose="02020603050405020304" pitchFamily="18" charset="0"/>
                <a:cs typeface="Segoe UI" panose="020B0502040204020203" pitchFamily="34" charset="0"/>
              </a:rPr>
              <a:t>(“</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ሄይስ</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ኲርዮስ</a:t>
            </a:r>
            <a:r>
              <a:rPr lang="en-GB" sz="1800" b="1" dirty="0">
                <a:effectLst/>
                <a:latin typeface="Times New Roman" panose="02020603050405020304" pitchFamily="18" charset="0"/>
                <a:ea typeface="Times New Roman" panose="02020603050405020304" pitchFamily="18" charset="0"/>
                <a:cs typeface="Segoe UI" panose="020B0502040204020203" pitchFamily="34" charset="0"/>
              </a:rPr>
              <a:t>” </a:t>
            </a:r>
            <a:r>
              <a:rPr lang="en-GB" sz="1800" b="1" dirty="0" err="1">
                <a:effectLst/>
                <a:latin typeface="Times New Roman" panose="02020603050405020304" pitchFamily="18" charset="0"/>
                <a:ea typeface="Times New Roman" panose="02020603050405020304" pitchFamily="18" charset="0"/>
                <a:cs typeface="Segoe UI" panose="020B0502040204020203" pitchFamily="34" charset="0"/>
              </a:rPr>
              <a:t>εἷς</a:t>
            </a:r>
            <a:r>
              <a:rPr lang="en-GB" sz="1800" b="1" dirty="0">
                <a:effectLst/>
                <a:latin typeface="Times New Roman" panose="02020603050405020304" pitchFamily="18" charset="0"/>
                <a:ea typeface="Times New Roman" panose="02020603050405020304" pitchFamily="18" charset="0"/>
                <a:cs typeface="Segoe UI" panose="020B0502040204020203" pitchFamily="34" charset="0"/>
              </a:rPr>
              <a:t> </a:t>
            </a:r>
            <a:r>
              <a:rPr lang="en-GB" sz="1800" b="1" dirty="0" err="1">
                <a:effectLst/>
                <a:latin typeface="Times New Roman" panose="02020603050405020304" pitchFamily="18" charset="0"/>
                <a:ea typeface="Times New Roman" panose="02020603050405020304" pitchFamily="18" charset="0"/>
                <a:cs typeface="Segoe UI" panose="020B0502040204020203" pitchFamily="34" charset="0"/>
              </a:rPr>
              <a:t>Κύριος</a:t>
            </a:r>
            <a:r>
              <a:rPr lang="en-GB" sz="1800" b="1" dirty="0">
                <a:effectLst/>
                <a:latin typeface="Times New Roman" panose="02020603050405020304" pitchFamily="18" charset="0"/>
                <a:ea typeface="Times New Roman" panose="02020603050405020304" pitchFamily="18" charset="0"/>
                <a:cs typeface="Segoe UI" panose="020B0502040204020203" pitchFamily="34" charset="0"/>
              </a:rPr>
              <a:t>)</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የሚለው</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ሐረግ</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በሕጉ</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መጽሐፍ</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a:effectLst/>
                <a:latin typeface="Times New Roman" panose="02020603050405020304" pitchFamily="18" charset="0"/>
                <a:ea typeface="Times New Roman" panose="02020603050405020304" pitchFamily="18" charset="0"/>
                <a:cs typeface="Segoe UI" panose="020B0502040204020203" pitchFamily="34" charset="0"/>
              </a:rPr>
              <a:t>“</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አንድ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አምላክ</a:t>
            </a:r>
            <a:r>
              <a:rPr lang="en-GB" sz="1800" dirty="0">
                <a:effectLst/>
                <a:latin typeface="Times New Roman" panose="02020603050405020304" pitchFamily="18" charset="0"/>
                <a:ea typeface="Times New Roman" panose="02020603050405020304" pitchFamily="18" charset="0"/>
                <a:cs typeface="Segoe UI" panose="020B0502040204020203" pitchFamily="34" charset="0"/>
              </a:rPr>
              <a:t>”</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የሚለውን</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ታሳቢ</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ያደረገ</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ነው</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b="1" dirty="0">
                <a:effectLst/>
                <a:latin typeface="Times New Roman" panose="02020603050405020304" pitchFamily="18" charset="0"/>
                <a:ea typeface="Times New Roman" panose="02020603050405020304" pitchFamily="18" charset="0"/>
                <a:cs typeface="Segoe UI" panose="020B0502040204020203" pitchFamily="34" charset="0"/>
              </a:rPr>
              <a:t> (</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ዘዳ.</a:t>
            </a:r>
            <a:r>
              <a:rPr lang="en-GB" sz="1800" dirty="0">
                <a:effectLst/>
                <a:latin typeface="Garamond" panose="02020404030301010803" pitchFamily="18" charset="0"/>
                <a:ea typeface="Times New Roman" panose="02020603050405020304" pitchFamily="18" charset="0"/>
                <a:cs typeface="Segoe UI" panose="020B0502040204020203" pitchFamily="34" charset="0"/>
              </a:rPr>
              <a:t>6÷4</a:t>
            </a:r>
            <a:r>
              <a:rPr lang="en-GB" sz="1800" b="1" dirty="0">
                <a:effectLst/>
                <a:latin typeface="Times New Roman" panose="02020603050405020304" pitchFamily="18" charset="0"/>
                <a:ea typeface="Times New Roman" panose="02020603050405020304" pitchFamily="18" charset="0"/>
                <a:cs typeface="Segoe UI" panose="020B0502040204020203" pitchFamily="34" charset="0"/>
              </a:rPr>
              <a:t>)</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አንደኛ</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ቆሮንቶስ</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a:effectLst/>
                <a:latin typeface="Garamond" panose="02020404030301010803" pitchFamily="18" charset="0"/>
                <a:ea typeface="Times New Roman" panose="02020603050405020304" pitchFamily="18" charset="0"/>
                <a:cs typeface="Segoe UI" panose="020B0502040204020203" pitchFamily="34" charset="0"/>
              </a:rPr>
              <a:t>8÷4-7</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የቅርብና</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የሩቅ</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ዐውድ</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እንመልከት</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በጳውሎስ</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ዘዳግም</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a:effectLst/>
                <a:latin typeface="Garamond" panose="02020404030301010803" pitchFamily="18" charset="0"/>
                <a:ea typeface="Times New Roman" panose="02020603050405020304" pitchFamily="18" charset="0"/>
                <a:cs typeface="Segoe UI" panose="020B0502040204020203" pitchFamily="34" charset="0"/>
              </a:rPr>
              <a:t>6÷4</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የተመለከተው</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በሚከተለው</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መልክ</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ነው</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ምንም</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እንኳ</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በአረማውያኑ</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ዘንድ</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ብዙ</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አማልክትና</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ብዙ</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ጌቶች</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ቢኖሩ</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ለእኛ</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ግን</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ዘንድ</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ጌታና</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አንድ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አምላክ</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ብቻ</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ነው</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ያለን</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ጳውሎስ</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ጌታ</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ሲል</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አምላክን</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ታሳቢ</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ያደረገ</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ነው</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በብሉይ</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የያህዌን</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ስም</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ጥሩ</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ተብለን</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ነበር</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a:effectLst/>
                <a:latin typeface="Garamond" panose="02020404030301010803" pitchFamily="18" charset="0"/>
                <a:ea typeface="Times New Roman" panose="02020603050405020304" pitchFamily="18" charset="0"/>
                <a:cs typeface="Segoe UI" panose="020B0502040204020203" pitchFamily="34" charset="0"/>
              </a:rPr>
              <a:t>(</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ኢዮኤል</a:t>
            </a:r>
            <a:r>
              <a:rPr lang="en-GB" sz="1800" dirty="0">
                <a:effectLst/>
                <a:latin typeface="Garamond" panose="02020404030301010803" pitchFamily="18" charset="0"/>
                <a:ea typeface="Times New Roman" panose="02020603050405020304" pitchFamily="18" charset="0"/>
                <a:cs typeface="Segoe UI" panose="020B0502040204020203" pitchFamily="34" charset="0"/>
              </a:rPr>
              <a:t> 2÷32 )</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ጳውሎስ</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ደግሞ</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የኢየሱስን</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ስም</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ጥሩ</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ይለናል</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a:effectLst/>
                <a:latin typeface="Garamond" panose="02020404030301010803" pitchFamily="18" charset="0"/>
                <a:ea typeface="Times New Roman" panose="02020603050405020304" pitchFamily="18" charset="0"/>
                <a:cs typeface="Segoe UI" panose="020B0502040204020203" pitchFamily="34" charset="0"/>
              </a:rPr>
              <a:t>(1</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ቆሮንቶስ </a:t>
            </a:r>
            <a:r>
              <a:rPr lang="en-GB" sz="1800" dirty="0">
                <a:effectLst/>
                <a:latin typeface="Garamond" panose="02020404030301010803" pitchFamily="18" charset="0"/>
                <a:ea typeface="Times New Roman" panose="02020603050405020304" pitchFamily="18" charset="0"/>
                <a:cs typeface="Segoe UI" panose="020B0502040204020203" pitchFamily="34" charset="0"/>
              </a:rPr>
              <a:t>1÷2)</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በብሉይ</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ዐለቱ</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ያህዌ</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ነው</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a:effectLst/>
                <a:latin typeface="Garamond" panose="02020404030301010803" pitchFamily="18" charset="0"/>
                <a:ea typeface="Times New Roman" panose="02020603050405020304" pitchFamily="18" charset="0"/>
                <a:cs typeface="Segoe UI" panose="020B0502040204020203" pitchFamily="34" charset="0"/>
              </a:rPr>
              <a:t>(</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ዘፀአት</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a:effectLst/>
                <a:latin typeface="Garamond" panose="02020404030301010803" pitchFamily="18" charset="0"/>
                <a:ea typeface="Times New Roman" panose="02020603050405020304" pitchFamily="18" charset="0"/>
                <a:cs typeface="Segoe UI" panose="020B0502040204020203" pitchFamily="34" charset="0"/>
              </a:rPr>
              <a:t>17÷6)</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በዐዲስ</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ደግሞ</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ዐለቱ</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ኢየሱስ</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ነው</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a:effectLst/>
                <a:latin typeface="Garamond" panose="02020404030301010803" pitchFamily="18" charset="0"/>
                <a:ea typeface="Times New Roman" panose="02020603050405020304" pitchFamily="18" charset="0"/>
                <a:cs typeface="Segoe UI" panose="020B0502040204020203" pitchFamily="34" charset="0"/>
              </a:rPr>
              <a:t>(1</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ቆሮንቶስ </a:t>
            </a:r>
            <a:r>
              <a:rPr lang="en-GB" sz="1800" dirty="0">
                <a:effectLst/>
                <a:latin typeface="Garamond" panose="02020404030301010803" pitchFamily="18" charset="0"/>
                <a:ea typeface="Times New Roman" panose="02020603050405020304" pitchFamily="18" charset="0"/>
                <a:cs typeface="Segoe UI" panose="020B0502040204020203" pitchFamily="34" charset="0"/>
              </a:rPr>
              <a:t>10÷4)</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እስራኤላውያን</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የተፈታተኑት</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ያህዌን</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ነው</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a:effectLst/>
                <a:latin typeface="Garamond" panose="02020404030301010803" pitchFamily="18" charset="0"/>
                <a:ea typeface="Times New Roman" panose="02020603050405020304" pitchFamily="18" charset="0"/>
                <a:cs typeface="Segoe UI" panose="020B0502040204020203" pitchFamily="34" charset="0"/>
              </a:rPr>
              <a:t>(1</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ዘኈ. </a:t>
            </a:r>
            <a:r>
              <a:rPr lang="en-GB" sz="1800" dirty="0">
                <a:effectLst/>
                <a:latin typeface="Garamond" panose="02020404030301010803" pitchFamily="18" charset="0"/>
                <a:ea typeface="Times New Roman" panose="02020603050405020304" pitchFamily="18" charset="0"/>
                <a:cs typeface="Segoe UI" panose="020B0502040204020203" pitchFamily="34" charset="0"/>
              </a:rPr>
              <a:t>21÷5-6)</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በዐዲስ</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ደግሞ</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ክርስቲያኖች</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ክርስቶስን</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ልንፈታተነው</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አይገባም</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a:effectLst/>
                <a:latin typeface="Garamond" panose="02020404030301010803" pitchFamily="18" charset="0"/>
                <a:ea typeface="Times New Roman" panose="02020603050405020304" pitchFamily="18" charset="0"/>
                <a:cs typeface="Segoe UI" panose="020B0502040204020203" pitchFamily="34" charset="0"/>
              </a:rPr>
              <a:t>(1</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ቆሮንቶስ </a:t>
            </a:r>
            <a:r>
              <a:rPr lang="en-GB" sz="1800" dirty="0">
                <a:effectLst/>
                <a:latin typeface="Garamond" panose="02020404030301010803" pitchFamily="18" charset="0"/>
                <a:ea typeface="Times New Roman" panose="02020603050405020304" pitchFamily="18" charset="0"/>
                <a:cs typeface="Segoe UI" panose="020B0502040204020203" pitchFamily="34" charset="0"/>
              </a:rPr>
              <a:t>10÷9)</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 </a:t>
            </a:r>
            <a:r>
              <a:rPr lang="en-GB" sz="1800" b="1" dirty="0">
                <a:effectLst/>
                <a:latin typeface="Garamond" panose="02020404030301010803" pitchFamily="18" charset="0"/>
                <a:ea typeface="Times New Roman" panose="02020603050405020304" pitchFamily="18" charset="0"/>
                <a:cs typeface="Times New Roman" panose="02020603050405020304" pitchFamily="18" charset="0"/>
              </a:rPr>
              <a:t>(2)</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ኢየሱስ</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የክብር</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አምላክ</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ነው</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a:effectLst/>
                <a:latin typeface="Times New Roman" panose="02020603050405020304" pitchFamily="18" charset="0"/>
                <a:ea typeface="Times New Roman" panose="02020603050405020304" pitchFamily="18" charset="0"/>
                <a:cs typeface="Segoe UI" panose="020B0502040204020203" pitchFamily="34" charset="0"/>
              </a:rPr>
              <a:t>(</a:t>
            </a:r>
            <a:r>
              <a:rPr lang="en-GB" sz="1800" dirty="0" err="1">
                <a:effectLst/>
                <a:latin typeface="Times New Roman" panose="02020603050405020304" pitchFamily="18" charset="0"/>
                <a:ea typeface="Times New Roman" panose="02020603050405020304" pitchFamily="18" charset="0"/>
                <a:cs typeface="Segoe UI" panose="020B0502040204020203" pitchFamily="34" charset="0"/>
              </a:rPr>
              <a:t>τὸν</a:t>
            </a:r>
            <a:r>
              <a:rPr lang="en-GB" sz="1800" dirty="0">
                <a:effectLst/>
                <a:latin typeface="Times New Roman" panose="02020603050405020304" pitchFamily="18" charset="0"/>
                <a:ea typeface="Times New Roman" panose="02020603050405020304" pitchFamily="18" charset="0"/>
                <a:cs typeface="Segoe UI" panose="020B0502040204020203" pitchFamily="34" charset="0"/>
              </a:rPr>
              <a:t> </a:t>
            </a:r>
            <a:r>
              <a:rPr lang="en-GB" sz="1800" dirty="0" err="1">
                <a:effectLst/>
                <a:latin typeface="Times New Roman" panose="02020603050405020304" pitchFamily="18" charset="0"/>
                <a:ea typeface="Times New Roman" panose="02020603050405020304" pitchFamily="18" charset="0"/>
                <a:cs typeface="Segoe UI" panose="020B0502040204020203" pitchFamily="34" charset="0"/>
              </a:rPr>
              <a:t>Κύριον</a:t>
            </a:r>
            <a:r>
              <a:rPr lang="en-GB" sz="1800" dirty="0">
                <a:effectLst/>
                <a:latin typeface="Times New Roman" panose="02020603050405020304" pitchFamily="18" charset="0"/>
                <a:ea typeface="Times New Roman" panose="02020603050405020304" pitchFamily="18" charset="0"/>
                <a:cs typeface="Segoe UI" panose="020B0502040204020203" pitchFamily="34" charset="0"/>
              </a:rPr>
              <a:t> </a:t>
            </a:r>
            <a:r>
              <a:rPr lang="en-GB" sz="1800" dirty="0" err="1">
                <a:effectLst/>
                <a:latin typeface="Times New Roman" panose="02020603050405020304" pitchFamily="18" charset="0"/>
                <a:ea typeface="Times New Roman" panose="02020603050405020304" pitchFamily="18" charset="0"/>
                <a:cs typeface="Segoe UI" panose="020B0502040204020203" pitchFamily="34" charset="0"/>
              </a:rPr>
              <a:t>τῆς</a:t>
            </a:r>
            <a:r>
              <a:rPr lang="en-GB" sz="1800" dirty="0">
                <a:effectLst/>
                <a:latin typeface="Times New Roman" panose="02020603050405020304" pitchFamily="18" charset="0"/>
                <a:ea typeface="Times New Roman" panose="02020603050405020304" pitchFamily="18" charset="0"/>
                <a:cs typeface="Segoe UI" panose="020B0502040204020203" pitchFamily="34" charset="0"/>
              </a:rPr>
              <a:t> </a:t>
            </a:r>
            <a:r>
              <a:rPr lang="en-GB" sz="1800" dirty="0" err="1">
                <a:effectLst/>
                <a:latin typeface="Times New Roman" panose="02020603050405020304" pitchFamily="18" charset="0"/>
                <a:ea typeface="Times New Roman" panose="02020603050405020304" pitchFamily="18" charset="0"/>
                <a:cs typeface="Segoe UI" panose="020B0502040204020203" pitchFamily="34" charset="0"/>
              </a:rPr>
              <a:t>δόξης</a:t>
            </a:r>
            <a:r>
              <a:rPr lang="en-GB" sz="1800" dirty="0">
                <a:effectLst/>
                <a:latin typeface="Times New Roman" panose="02020603050405020304" pitchFamily="18" charset="0"/>
                <a:ea typeface="Times New Roman" panose="02020603050405020304" pitchFamily="18" charset="0"/>
                <a:cs typeface="Segoe UI" panose="020B0502040204020203" pitchFamily="34" charset="0"/>
              </a:rPr>
              <a:t>)</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a:effectLst/>
                <a:latin typeface="Garamond" panose="02020404030301010803" pitchFamily="18" charset="0"/>
                <a:ea typeface="Times New Roman" panose="02020603050405020304" pitchFamily="18" charset="0"/>
                <a:cs typeface="Segoe UI" panose="020B0502040204020203" pitchFamily="34" charset="0"/>
              </a:rPr>
              <a:t>(1</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ቆሮንቶስ </a:t>
            </a:r>
            <a:r>
              <a:rPr lang="en-GB" sz="1800" dirty="0">
                <a:effectLst/>
                <a:latin typeface="Garamond" panose="02020404030301010803" pitchFamily="18" charset="0"/>
                <a:ea typeface="Times New Roman" panose="02020603050405020304" pitchFamily="18" charset="0"/>
                <a:cs typeface="Segoe UI" panose="020B0502040204020203" pitchFamily="34" charset="0"/>
              </a:rPr>
              <a:t>2÷8)</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በብሉይ</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የክብር</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አምላክ</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የያህዌ</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ስም</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ነው</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a:effectLst/>
                <a:latin typeface="Garamond" panose="02020404030301010803" pitchFamily="18" charset="0"/>
                <a:ea typeface="Times New Roman" panose="02020603050405020304" pitchFamily="18" charset="0"/>
                <a:cs typeface="Segoe UI" panose="020B0502040204020203" pitchFamily="34" charset="0"/>
              </a:rPr>
              <a:t>(</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መዝሙር</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a:effectLst/>
                <a:latin typeface="Garamond" panose="02020404030301010803" pitchFamily="18" charset="0"/>
                <a:ea typeface="Times New Roman" panose="02020603050405020304" pitchFamily="18" charset="0"/>
                <a:cs typeface="Segoe UI" panose="020B0502040204020203" pitchFamily="34" charset="0"/>
              </a:rPr>
              <a:t>24÷8-10)</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b="1" dirty="0">
                <a:effectLst/>
                <a:latin typeface="Garamond" panose="02020404030301010803" pitchFamily="18" charset="0"/>
                <a:ea typeface="Times New Roman" panose="02020603050405020304" pitchFamily="18" charset="0"/>
                <a:cs typeface="Times New Roman" panose="02020603050405020304" pitchFamily="18" charset="0"/>
              </a:rPr>
              <a:t>(3)</a:t>
            </a:r>
            <a:r>
              <a:rPr lang="en-GB" sz="1800" b="1"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ጳውሎስ</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ኢየሱስን</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ከአብና</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ከመንፈስ</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ቅዱስ</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እኲል</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የበረከታችን</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ምንጭ</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አድርጎ</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err="1">
                <a:effectLst/>
                <a:latin typeface="Power Geez Unicode1" panose="00000400000000000000" pitchFamily="2" charset="0"/>
                <a:ea typeface="Times New Roman" panose="02020603050405020304" pitchFamily="18" charset="0"/>
                <a:cs typeface="Segoe UI" panose="020B0502040204020203" pitchFamily="34" charset="0"/>
              </a:rPr>
              <a:t>አቅርቦታል</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r>
              <a:rPr lang="en-GB" sz="1800" dirty="0">
                <a:effectLst/>
                <a:latin typeface="Garamond" panose="02020404030301010803" pitchFamily="18" charset="0"/>
                <a:ea typeface="Times New Roman" panose="02020603050405020304" pitchFamily="18" charset="0"/>
                <a:cs typeface="Segoe UI" panose="020B0502040204020203" pitchFamily="34" charset="0"/>
              </a:rPr>
              <a:t>(2</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ቆሮንቶስ </a:t>
            </a:r>
            <a:r>
              <a:rPr lang="en-GB" sz="1800" dirty="0">
                <a:effectLst/>
                <a:latin typeface="Garamond" panose="02020404030301010803" pitchFamily="18" charset="0"/>
                <a:ea typeface="Times New Roman" panose="02020603050405020304" pitchFamily="18" charset="0"/>
                <a:cs typeface="Segoe UI" panose="020B0502040204020203" pitchFamily="34" charset="0"/>
              </a:rPr>
              <a:t>13÷14)</a:t>
            </a:r>
            <a:r>
              <a:rPr lang="en-GB" sz="1800" dirty="0">
                <a:effectLst/>
                <a:latin typeface="Power Geez Unicode1" panose="00000400000000000000" pitchFamily="2" charset="0"/>
                <a:ea typeface="Times New Roman" panose="02020603050405020304" pitchFamily="18" charset="0"/>
                <a:cs typeface="Segoe UI" panose="020B0502040204020203" pitchFamily="34" charset="0"/>
              </a:rPr>
              <a:t>፡፡ </a:t>
            </a:r>
            <a:endParaRPr lang="en-US" dirty="0"/>
          </a:p>
        </p:txBody>
      </p:sp>
    </p:spTree>
    <p:extLst>
      <p:ext uri="{BB962C8B-B14F-4D97-AF65-F5344CB8AC3E}">
        <p14:creationId xmlns:p14="http://schemas.microsoft.com/office/powerpoint/2010/main" val="37522675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3D4EBD-29B6-C77C-0EA8-3E11E3EBF5F4}"/>
              </a:ext>
            </a:extLst>
          </p:cNvPr>
          <p:cNvSpPr txBox="1"/>
          <p:nvPr/>
        </p:nvSpPr>
        <p:spPr>
          <a:xfrm>
            <a:off x="643466" y="859954"/>
            <a:ext cx="10651067" cy="3426644"/>
          </a:xfrm>
          <a:prstGeom prst="rect">
            <a:avLst/>
          </a:prstGeom>
          <a:noFill/>
        </p:spPr>
        <p:txBody>
          <a:bodyPr wrap="square">
            <a:spAutoFit/>
          </a:bodyPr>
          <a:lstStyle/>
          <a:p>
            <a:pPr marL="0" marR="0" algn="ctr">
              <a:lnSpc>
                <a:spcPct val="150000"/>
              </a:lnSpc>
              <a:buNone/>
            </a:pP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3200" dirty="0" err="1">
                <a:effectLst/>
                <a:latin typeface="Ethiopic Sadiss Light" pitchFamily="2" charset="0"/>
                <a:ea typeface="Times New Roman" panose="02020603050405020304" pitchFamily="18" charset="0"/>
                <a:cs typeface="Times New Roman" panose="02020603050405020304" pitchFamily="18" charset="0"/>
              </a:rPr>
              <a:t>ኢየሱስም</a:t>
            </a:r>
            <a:r>
              <a:rPr lang="en-US" sz="3200" dirty="0">
                <a:effectLst/>
                <a:latin typeface="Ethiopic Sadiss Light" pitchFamily="2" charset="0"/>
                <a:ea typeface="Times New Roman" panose="02020603050405020304" pitchFamily="18" charset="0"/>
                <a:cs typeface="Times New Roman" panose="02020603050405020304" pitchFamily="18" charset="0"/>
              </a:rPr>
              <a:t> </a:t>
            </a:r>
            <a:r>
              <a:rPr lang="en-US" sz="3200" dirty="0" err="1">
                <a:effectLst/>
                <a:latin typeface="Ethiopic Sadiss Light" pitchFamily="2" charset="0"/>
                <a:ea typeface="Times New Roman" panose="02020603050405020304" pitchFamily="18" charset="0"/>
                <a:cs typeface="Times New Roman" panose="02020603050405020304" pitchFamily="18" charset="0"/>
              </a:rPr>
              <a:t>እንዲህ</a:t>
            </a:r>
            <a:r>
              <a:rPr lang="en-US" sz="3200" dirty="0">
                <a:effectLst/>
                <a:latin typeface="Ethiopic Sadiss Light" pitchFamily="2" charset="0"/>
                <a:ea typeface="Times New Roman" panose="02020603050405020304" pitchFamily="18" charset="0"/>
                <a:cs typeface="Times New Roman" panose="02020603050405020304" pitchFamily="18" charset="0"/>
              </a:rPr>
              <a:t> </a:t>
            </a:r>
            <a:r>
              <a:rPr lang="en-US" sz="3200" dirty="0" err="1">
                <a:effectLst/>
                <a:latin typeface="Ethiopic Sadiss Light" pitchFamily="2" charset="0"/>
                <a:ea typeface="Times New Roman" panose="02020603050405020304" pitchFamily="18" charset="0"/>
                <a:cs typeface="Times New Roman" panose="02020603050405020304" pitchFamily="18" charset="0"/>
              </a:rPr>
              <a:t>አለው</a:t>
            </a:r>
            <a:r>
              <a:rPr lang="en-US" sz="3200" dirty="0">
                <a:effectLst/>
                <a:latin typeface="Ethiopic Sadiss Light" pitchFamily="2"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3200" dirty="0" err="1">
                <a:effectLst/>
                <a:latin typeface="Ethiopic Sadiss Light" pitchFamily="2" charset="0"/>
                <a:ea typeface="Times New Roman" panose="02020603050405020304" pitchFamily="18" charset="0"/>
                <a:cs typeface="Times New Roman" panose="02020603050405020304" pitchFamily="18" charset="0"/>
              </a:rPr>
              <a:t>አንተ</a:t>
            </a:r>
            <a:r>
              <a:rPr lang="en-US" sz="3200" dirty="0">
                <a:effectLst/>
                <a:latin typeface="Ethiopic Sadiss Light" pitchFamily="2" charset="0"/>
                <a:ea typeface="Times New Roman" panose="02020603050405020304" pitchFamily="18" charset="0"/>
                <a:cs typeface="Times New Roman" panose="02020603050405020304" pitchFamily="18" charset="0"/>
              </a:rPr>
              <a:t> </a:t>
            </a:r>
            <a:r>
              <a:rPr lang="en-US" sz="3200" dirty="0" err="1">
                <a:effectLst/>
                <a:latin typeface="Ethiopic Sadiss Light" pitchFamily="2" charset="0"/>
                <a:ea typeface="Times New Roman" panose="02020603050405020304" pitchFamily="18" charset="0"/>
                <a:cs typeface="Times New Roman" panose="02020603050405020304" pitchFamily="18" charset="0"/>
              </a:rPr>
              <a:t>ፊልጶስ</a:t>
            </a:r>
            <a:r>
              <a:rPr lang="en-US" sz="3200" dirty="0">
                <a:effectLst/>
                <a:latin typeface="Ethiopic Sadiss Light" pitchFamily="2" charset="0"/>
                <a:ea typeface="Times New Roman" panose="02020603050405020304" pitchFamily="18" charset="0"/>
                <a:cs typeface="Times New Roman" panose="02020603050405020304" pitchFamily="18" charset="0"/>
              </a:rPr>
              <a:t>! </a:t>
            </a:r>
            <a:r>
              <a:rPr lang="en-US" sz="3200" dirty="0" err="1">
                <a:effectLst/>
                <a:latin typeface="Ethiopic Sadiss Light" pitchFamily="2" charset="0"/>
                <a:ea typeface="Times New Roman" panose="02020603050405020304" pitchFamily="18" charset="0"/>
                <a:cs typeface="Times New Roman" panose="02020603050405020304" pitchFamily="18" charset="0"/>
              </a:rPr>
              <a:t>ይህን</a:t>
            </a:r>
            <a:r>
              <a:rPr lang="en-US" sz="3200" dirty="0">
                <a:effectLst/>
                <a:latin typeface="Ethiopic Sadiss Light" pitchFamily="2" charset="0"/>
                <a:ea typeface="Times New Roman" panose="02020603050405020304" pitchFamily="18" charset="0"/>
                <a:cs typeface="Times New Roman" panose="02020603050405020304" pitchFamily="18" charset="0"/>
              </a:rPr>
              <a:t> </a:t>
            </a:r>
            <a:r>
              <a:rPr lang="en-US" sz="3200" dirty="0" err="1">
                <a:effectLst/>
                <a:latin typeface="Ethiopic Sadiss Light" pitchFamily="2" charset="0"/>
                <a:ea typeface="Times New Roman" panose="02020603050405020304" pitchFamily="18" charset="0"/>
                <a:cs typeface="Times New Roman" panose="02020603050405020304" pitchFamily="18" charset="0"/>
              </a:rPr>
              <a:t>ያህል</a:t>
            </a:r>
            <a:r>
              <a:rPr lang="en-US" sz="3200" dirty="0">
                <a:effectLst/>
                <a:latin typeface="Ethiopic Sadiss Light" pitchFamily="2" charset="0"/>
                <a:ea typeface="Times New Roman" panose="02020603050405020304" pitchFamily="18" charset="0"/>
                <a:cs typeface="Times New Roman" panose="02020603050405020304" pitchFamily="18" charset="0"/>
              </a:rPr>
              <a:t> </a:t>
            </a:r>
            <a:r>
              <a:rPr lang="en-US" sz="3200" dirty="0" err="1">
                <a:effectLst/>
                <a:latin typeface="Ethiopic Sadiss Light" pitchFamily="2" charset="0"/>
                <a:ea typeface="Times New Roman" panose="02020603050405020304" pitchFamily="18" charset="0"/>
                <a:cs typeface="Times New Roman" panose="02020603050405020304" pitchFamily="18" charset="0"/>
              </a:rPr>
              <a:t>ጊዜ</a:t>
            </a:r>
            <a:r>
              <a:rPr lang="en-US" sz="3200" dirty="0">
                <a:effectLst/>
                <a:latin typeface="Ethiopic Sadiss Light" pitchFamily="2" charset="0"/>
                <a:ea typeface="Times New Roman" panose="02020603050405020304" pitchFamily="18" charset="0"/>
                <a:cs typeface="Times New Roman" panose="02020603050405020304" pitchFamily="18" charset="0"/>
              </a:rPr>
              <a:t> </a:t>
            </a:r>
            <a:r>
              <a:rPr lang="en-US" sz="3200" dirty="0" err="1">
                <a:effectLst/>
                <a:latin typeface="Ethiopic Sadiss Light" pitchFamily="2" charset="0"/>
                <a:ea typeface="Times New Roman" panose="02020603050405020304" pitchFamily="18" charset="0"/>
                <a:cs typeface="Times New Roman" panose="02020603050405020304" pitchFamily="18" charset="0"/>
              </a:rPr>
              <a:t>ከእናንተ</a:t>
            </a:r>
            <a:r>
              <a:rPr lang="en-US" sz="3200" dirty="0">
                <a:effectLst/>
                <a:latin typeface="Ethiopic Sadiss Light" pitchFamily="2" charset="0"/>
                <a:ea typeface="Times New Roman" panose="02020603050405020304" pitchFamily="18" charset="0"/>
                <a:cs typeface="Times New Roman" panose="02020603050405020304" pitchFamily="18" charset="0"/>
              </a:rPr>
              <a:t> </a:t>
            </a:r>
            <a:r>
              <a:rPr lang="en-US" sz="3200" dirty="0" err="1">
                <a:effectLst/>
                <a:latin typeface="Ethiopic Sadiss Light" pitchFamily="2" charset="0"/>
                <a:ea typeface="Times New Roman" panose="02020603050405020304" pitchFamily="18" charset="0"/>
                <a:cs typeface="Times New Roman" panose="02020603050405020304" pitchFamily="18" charset="0"/>
              </a:rPr>
              <a:t>ጋር</a:t>
            </a:r>
            <a:r>
              <a:rPr lang="en-US" sz="3200" dirty="0">
                <a:effectLst/>
                <a:latin typeface="Ethiopic Sadiss Light" pitchFamily="2" charset="0"/>
                <a:ea typeface="Times New Roman" panose="02020603050405020304" pitchFamily="18" charset="0"/>
                <a:cs typeface="Times New Roman" panose="02020603050405020304" pitchFamily="18" charset="0"/>
              </a:rPr>
              <a:t> </a:t>
            </a:r>
            <a:r>
              <a:rPr lang="en-US" sz="3200" dirty="0" err="1">
                <a:effectLst/>
                <a:latin typeface="Ethiopic Sadiss Light" pitchFamily="2" charset="0"/>
                <a:ea typeface="Times New Roman" panose="02020603050405020304" pitchFamily="18" charset="0"/>
                <a:cs typeface="Times New Roman" panose="02020603050405020304" pitchFamily="18" charset="0"/>
              </a:rPr>
              <a:t>ስኖር</a:t>
            </a:r>
            <a:r>
              <a:rPr lang="en-US" sz="3200" dirty="0">
                <a:effectLst/>
                <a:latin typeface="Ethiopic Sadiss Light" pitchFamily="2" charset="0"/>
                <a:ea typeface="Times New Roman" panose="02020603050405020304" pitchFamily="18" charset="0"/>
                <a:cs typeface="Times New Roman" panose="02020603050405020304" pitchFamily="18" charset="0"/>
              </a:rPr>
              <a:t> </a:t>
            </a:r>
            <a:r>
              <a:rPr lang="en-US" sz="3200" dirty="0" err="1">
                <a:effectLst/>
                <a:latin typeface="Ethiopic Sadiss Light" pitchFamily="2" charset="0"/>
                <a:ea typeface="Times New Roman" panose="02020603050405020304" pitchFamily="18" charset="0"/>
                <a:cs typeface="Times New Roman" panose="02020603050405020304" pitchFamily="18" charset="0"/>
              </a:rPr>
              <a:t>አታውቀኝምን</a:t>
            </a:r>
            <a:r>
              <a:rPr lang="en-US" sz="3200" dirty="0">
                <a:effectLst/>
                <a:latin typeface="Ethiopic Sadiss Light" pitchFamily="2" charset="0"/>
                <a:ea typeface="Times New Roman" panose="02020603050405020304" pitchFamily="18" charset="0"/>
                <a:cs typeface="Times New Roman" panose="02020603050405020304" pitchFamily="18" charset="0"/>
              </a:rPr>
              <a:t>? </a:t>
            </a:r>
            <a:r>
              <a:rPr lang="en-US" sz="3200" dirty="0" err="1">
                <a:effectLst/>
                <a:latin typeface="Ethiopic Sadiss Light" pitchFamily="2" charset="0"/>
                <a:ea typeface="Times New Roman" panose="02020603050405020304" pitchFamily="18" charset="0"/>
                <a:cs typeface="Times New Roman" panose="02020603050405020304" pitchFamily="18" charset="0"/>
              </a:rPr>
              <a:t>እኔን</a:t>
            </a:r>
            <a:r>
              <a:rPr lang="en-US" sz="3200" dirty="0">
                <a:effectLst/>
                <a:latin typeface="Ethiopic Sadiss Light" pitchFamily="2" charset="0"/>
                <a:ea typeface="Times New Roman" panose="02020603050405020304" pitchFamily="18" charset="0"/>
                <a:cs typeface="Times New Roman" panose="02020603050405020304" pitchFamily="18" charset="0"/>
              </a:rPr>
              <a:t> </a:t>
            </a:r>
            <a:r>
              <a:rPr lang="en-US" sz="3200" dirty="0" err="1">
                <a:effectLst/>
                <a:latin typeface="Ethiopic Sadiss Light" pitchFamily="2" charset="0"/>
                <a:ea typeface="Times New Roman" panose="02020603050405020304" pitchFamily="18" charset="0"/>
                <a:cs typeface="Times New Roman" panose="02020603050405020304" pitchFamily="18" charset="0"/>
              </a:rPr>
              <a:t>ያየ</a:t>
            </a:r>
            <a:r>
              <a:rPr lang="en-US" sz="3200" dirty="0">
                <a:effectLst/>
                <a:latin typeface="Ethiopic Sadiss Light" pitchFamily="2" charset="0"/>
                <a:ea typeface="Times New Roman" panose="02020603050405020304" pitchFamily="18" charset="0"/>
                <a:cs typeface="Times New Roman" panose="02020603050405020304" pitchFamily="18" charset="0"/>
              </a:rPr>
              <a:t> </a:t>
            </a:r>
            <a:r>
              <a:rPr lang="en-US" sz="3200" dirty="0" err="1">
                <a:effectLst/>
                <a:latin typeface="Ethiopic Sadiss Light" pitchFamily="2" charset="0"/>
                <a:ea typeface="Times New Roman" panose="02020603050405020304" pitchFamily="18" charset="0"/>
                <a:cs typeface="Times New Roman" panose="02020603050405020304" pitchFamily="18" charset="0"/>
              </a:rPr>
              <a:t>አብን</a:t>
            </a:r>
            <a:r>
              <a:rPr lang="en-US" sz="3200" dirty="0">
                <a:effectLst/>
                <a:latin typeface="Ethiopic Sadiss Light" pitchFamily="2" charset="0"/>
                <a:ea typeface="Times New Roman" panose="02020603050405020304" pitchFamily="18" charset="0"/>
                <a:cs typeface="Times New Roman" panose="02020603050405020304" pitchFamily="18" charset="0"/>
              </a:rPr>
              <a:t> </a:t>
            </a:r>
            <a:r>
              <a:rPr lang="en-US" sz="3200" dirty="0" err="1">
                <a:effectLst/>
                <a:latin typeface="Ethiopic Sadiss Light" pitchFamily="2" charset="0"/>
                <a:ea typeface="Times New Roman" panose="02020603050405020304" pitchFamily="18" charset="0"/>
                <a:cs typeface="Times New Roman" panose="02020603050405020304" pitchFamily="18" charset="0"/>
              </a:rPr>
              <a:t>አይቶአል</a:t>
            </a:r>
            <a:r>
              <a:rPr lang="en-US" sz="3200" dirty="0">
                <a:effectLst/>
                <a:latin typeface="Ethiopic Sadiss Light" pitchFamily="2" charset="0"/>
                <a:ea typeface="Times New Roman" panose="02020603050405020304" pitchFamily="18" charset="0"/>
                <a:cs typeface="Times New Roman" panose="02020603050405020304" pitchFamily="18" charset="0"/>
              </a:rPr>
              <a:t>፤ </a:t>
            </a:r>
            <a:r>
              <a:rPr lang="en-US" sz="3200" dirty="0" err="1">
                <a:effectLst/>
                <a:latin typeface="Ethiopic Sadiss Light" pitchFamily="2" charset="0"/>
                <a:ea typeface="Times New Roman" panose="02020603050405020304" pitchFamily="18" charset="0"/>
                <a:cs typeface="Times New Roman" panose="02020603050405020304" pitchFamily="18" charset="0"/>
              </a:rPr>
              <a:t>እንዴትስ</a:t>
            </a:r>
            <a:r>
              <a:rPr lang="en-US" sz="3200" dirty="0">
                <a:effectLst/>
                <a:latin typeface="Ethiopic Sadiss Light" pitchFamily="2"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3200" dirty="0" err="1">
                <a:effectLst/>
                <a:latin typeface="Ethiopic Sadiss Light" pitchFamily="2" charset="0"/>
                <a:ea typeface="Times New Roman" panose="02020603050405020304" pitchFamily="18" charset="0"/>
                <a:cs typeface="Times New Roman" panose="02020603050405020304" pitchFamily="18" charset="0"/>
              </a:rPr>
              <a:t>አብን</a:t>
            </a:r>
            <a:r>
              <a:rPr lang="en-US" sz="3200" dirty="0">
                <a:effectLst/>
                <a:latin typeface="Ethiopic Sadiss Light" pitchFamily="2" charset="0"/>
                <a:ea typeface="Times New Roman" panose="02020603050405020304" pitchFamily="18" charset="0"/>
                <a:cs typeface="Times New Roman" panose="02020603050405020304" pitchFamily="18" charset="0"/>
              </a:rPr>
              <a:t> </a:t>
            </a:r>
            <a:r>
              <a:rPr lang="en-US" sz="3200" dirty="0" err="1">
                <a:effectLst/>
                <a:latin typeface="Ethiopic Sadiss Light" pitchFamily="2" charset="0"/>
                <a:ea typeface="Times New Roman" panose="02020603050405020304" pitchFamily="18" charset="0"/>
                <a:cs typeface="Times New Roman" panose="02020603050405020304" pitchFamily="18" charset="0"/>
              </a:rPr>
              <a:t>አሳየን</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3200" dirty="0">
                <a:effectLst/>
                <a:latin typeface="Ethiopic Sadiss Light" pitchFamily="2" charset="0"/>
                <a:ea typeface="Times New Roman" panose="02020603050405020304" pitchFamily="18" charset="0"/>
                <a:cs typeface="Times New Roman" panose="02020603050405020304" pitchFamily="18" charset="0"/>
              </a:rPr>
              <a:t> </a:t>
            </a:r>
            <a:r>
              <a:rPr lang="en-US" sz="3200" dirty="0" err="1">
                <a:effectLst/>
                <a:latin typeface="Ethiopic Sadiss Light" pitchFamily="2" charset="0"/>
                <a:ea typeface="Times New Roman" panose="02020603050405020304" pitchFamily="18" charset="0"/>
                <a:cs typeface="Times New Roman" panose="02020603050405020304" pitchFamily="18" charset="0"/>
              </a:rPr>
              <a:t>ትላለህ</a:t>
            </a:r>
            <a:r>
              <a:rPr lang="en-US" sz="3200" dirty="0">
                <a:effectLst/>
                <a:latin typeface="Ethiopic Sadiss Light" pitchFamily="2" charset="0"/>
                <a:ea typeface="Times New Roman" panose="02020603050405020304" pitchFamily="18" charset="0"/>
                <a:cs typeface="Times New Roman" panose="02020603050405020304" pitchFamily="18" charset="0"/>
              </a:rPr>
              <a:t>?</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baseline="30000" dirty="0">
                <a:effectLst/>
                <a:latin typeface="Comic Sans MS" panose="030F0702030302020204" pitchFamily="66" charset="0"/>
                <a:ea typeface="Times New Roman" panose="02020603050405020304" pitchFamily="18" charset="0"/>
                <a:cs typeface="Times New Roman" panose="02020603050405020304" pitchFamily="18" charset="0"/>
              </a:rPr>
              <a:t> </a:t>
            </a:r>
            <a:endParaRPr lang="en-US" sz="2800" dirty="0">
              <a:effectLst/>
              <a:latin typeface="VG2 Main" panose="020B7200000000000000" pitchFamily="34" charset="0"/>
              <a:ea typeface="Times New Roman" panose="02020603050405020304" pitchFamily="18" charset="0"/>
              <a:cs typeface="Times New Roman" panose="02020603050405020304" pitchFamily="18" charset="0"/>
            </a:endParaRPr>
          </a:p>
          <a:p>
            <a:pPr marL="182880" marR="0" indent="-182880" algn="ctr">
              <a:lnSpc>
                <a:spcPct val="150000"/>
              </a:lnSpc>
              <a:buNone/>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l-GR" sz="2800" dirty="0">
                <a:effectLst/>
                <a:latin typeface="Times New Roman" panose="02020603050405020304" pitchFamily="18" charset="0"/>
                <a:ea typeface="Times New Roman" panose="02020603050405020304" pitchFamily="18" charset="0"/>
                <a:cs typeface="Times New Roman" panose="02020603050405020304" pitchFamily="18" charset="0"/>
              </a:rPr>
              <a:t>λέγει αὐτῷ ὁ Ἰησοῦς</a:t>
            </a:r>
            <a:r>
              <a:rPr lang="en-GB"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l-GR" sz="2800" dirty="0">
                <a:effectLst/>
                <a:latin typeface="Times New Roman" panose="02020603050405020304" pitchFamily="18" charset="0"/>
                <a:ea typeface="Times New Roman" panose="02020603050405020304" pitchFamily="18" charset="0"/>
                <a:cs typeface="Times New Roman" panose="02020603050405020304" pitchFamily="18" charset="0"/>
              </a:rPr>
              <a:t>τοσούτῳ χρόνῳ μεθ</a:t>
            </a:r>
            <a:r>
              <a:rPr lang="en-GB" sz="2800" dirty="0">
                <a:effectLst/>
                <a:latin typeface="Times New Roman" panose="02020603050405020304" pitchFamily="18" charset="0"/>
                <a:ea typeface="Times New Roman" panose="02020603050405020304" pitchFamily="18" charset="0"/>
                <a:cs typeface="Times New Roman" panose="02020603050405020304" pitchFamily="18" charset="0"/>
              </a:rPr>
              <a:t>ʼ </a:t>
            </a:r>
            <a:r>
              <a:rPr lang="el-GR" sz="2800" dirty="0">
                <a:effectLst/>
                <a:latin typeface="Times New Roman" panose="02020603050405020304" pitchFamily="18" charset="0"/>
                <a:ea typeface="Times New Roman" panose="02020603050405020304" pitchFamily="18" charset="0"/>
                <a:cs typeface="Times New Roman" panose="02020603050405020304" pitchFamily="18" charset="0"/>
              </a:rPr>
              <a:t>ὑμῶν εἰμι καὶ οὐκ ἔγνωκάς με</a:t>
            </a:r>
            <a:r>
              <a:rPr lang="en-GB"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l-GR" sz="2800" dirty="0">
                <a:effectLst/>
                <a:latin typeface="Times New Roman" panose="02020603050405020304" pitchFamily="18" charset="0"/>
                <a:ea typeface="Times New Roman" panose="02020603050405020304" pitchFamily="18" charset="0"/>
                <a:cs typeface="Times New Roman" panose="02020603050405020304" pitchFamily="18" charset="0"/>
              </a:rPr>
              <a:t>Φίλιππε</a:t>
            </a:r>
            <a:r>
              <a:rPr lang="en-GB"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l-GR" sz="2800" dirty="0">
                <a:effectLst/>
                <a:latin typeface="Times New Roman" panose="02020603050405020304" pitchFamily="18" charset="0"/>
                <a:ea typeface="Times New Roman" panose="02020603050405020304" pitchFamily="18" charset="0"/>
                <a:cs typeface="Times New Roman" panose="02020603050405020304" pitchFamily="18" charset="0"/>
              </a:rPr>
              <a:t>ὁ ἑωρακὼς ἐμὲ ἑώρακεν τὸν πατέρα</a:t>
            </a:r>
            <a:r>
              <a:rPr lang="en-GB"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l-GR" sz="2800" dirty="0">
                <a:effectLst/>
                <a:latin typeface="Times New Roman" panose="02020603050405020304" pitchFamily="18" charset="0"/>
                <a:ea typeface="Times New Roman" panose="02020603050405020304" pitchFamily="18" charset="0"/>
                <a:cs typeface="Times New Roman" panose="02020603050405020304" pitchFamily="18" charset="0"/>
              </a:rPr>
              <a:t>πῶς σὺ λέγεις</a:t>
            </a:r>
            <a:r>
              <a:rPr lang="en-GB"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l-GR" sz="2800" dirty="0">
                <a:effectLst/>
                <a:latin typeface="Times New Roman" panose="02020603050405020304" pitchFamily="18" charset="0"/>
                <a:ea typeface="Times New Roman" panose="02020603050405020304" pitchFamily="18" charset="0"/>
                <a:cs typeface="Times New Roman" panose="02020603050405020304" pitchFamily="18" charset="0"/>
              </a:rPr>
              <a:t>δεῖξον ἡμῖν τὸν πατέρα</a:t>
            </a:r>
            <a:r>
              <a:rPr lang="en-GB" sz="2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40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DE2C9E3-A761-5559-923A-6C1AB9215700}"/>
              </a:ext>
            </a:extLst>
          </p:cNvPr>
          <p:cNvSpPr txBox="1"/>
          <p:nvPr/>
        </p:nvSpPr>
        <p:spPr>
          <a:xfrm>
            <a:off x="3039534" y="4683667"/>
            <a:ext cx="6112932" cy="523220"/>
          </a:xfrm>
          <a:prstGeom prst="rect">
            <a:avLst/>
          </a:prstGeom>
          <a:noFill/>
        </p:spPr>
        <p:txBody>
          <a:bodyPr wrap="square">
            <a:spAutoFit/>
          </a:bodyPr>
          <a:lstStyle/>
          <a:p>
            <a:pPr algn="ctr"/>
            <a:r>
              <a:rPr lang="en-US" sz="2800" dirty="0" err="1">
                <a:latin typeface="Ethiopic Yebse" panose="02000500000000000000" pitchFamily="2" charset="0"/>
                <a:cs typeface="Times New Roman" panose="02020603050405020304" pitchFamily="18" charset="0"/>
              </a:rPr>
              <a:t>ዮ</a:t>
            </a:r>
            <a:r>
              <a:rPr lang="en-US" sz="2800" dirty="0" err="1">
                <a:effectLst/>
                <a:latin typeface="Ethiopic Yebse" panose="02000500000000000000" pitchFamily="2" charset="0"/>
                <a:ea typeface="Times New Roman" panose="02020603050405020304" pitchFamily="18" charset="0"/>
                <a:cs typeface="Times New Roman" panose="02020603050405020304" pitchFamily="18" charset="0"/>
              </a:rPr>
              <a:t>ሐንስ</a:t>
            </a:r>
            <a:r>
              <a:rPr lang="en-US" sz="2800" dirty="0">
                <a:effectLst/>
                <a:latin typeface="Ethiopic Yebse" panose="02000500000000000000" pitchFamily="2" charset="0"/>
                <a:ea typeface="Times New Roman" panose="02020603050405020304" pitchFamily="18" charset="0"/>
                <a:cs typeface="Times New Roman" panose="02020603050405020304" pitchFamily="18" charset="0"/>
              </a:rPr>
              <a:t> 14፥9</a:t>
            </a:r>
            <a:endParaRPr lang="en-US" sz="2800" dirty="0"/>
          </a:p>
        </p:txBody>
      </p:sp>
    </p:spTree>
    <p:extLst>
      <p:ext uri="{BB962C8B-B14F-4D97-AF65-F5344CB8AC3E}">
        <p14:creationId xmlns:p14="http://schemas.microsoft.com/office/powerpoint/2010/main" val="25912578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7D85360-1823-0ADD-2535-1790937DEF61}"/>
              </a:ext>
            </a:extLst>
          </p:cNvPr>
          <p:cNvSpPr txBox="1"/>
          <p:nvPr/>
        </p:nvSpPr>
        <p:spPr>
          <a:xfrm>
            <a:off x="550331" y="980069"/>
            <a:ext cx="11057467" cy="1286121"/>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ክፍሉ</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ዮሐንስ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10÷30</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ካለው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ክፍል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ጋር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በአንድ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ዐውድ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ውስጥ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ይገኝ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ይመስል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እነዚህን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ሁለት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ክፍሎች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አያይዘው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መጥቀሳቸው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ብዙዎች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ተሳሳተ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ድምዳሜ</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እንዲሄዱ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አድርጓል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ክፍል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ሆኑ</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የሚያስተምር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አይደለም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ለዚህ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ዐውደ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ምንባቡን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በተከተለ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መንገድ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በርካታ</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ማስረጃዎችን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ማቅረብ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ይቻላል</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DA9A545-60D5-5685-9AC4-68A5AB93DD79}"/>
              </a:ext>
            </a:extLst>
          </p:cNvPr>
          <p:cNvSpPr txBox="1"/>
          <p:nvPr/>
        </p:nvSpPr>
        <p:spPr>
          <a:xfrm>
            <a:off x="626534" y="2655657"/>
            <a:ext cx="10905063" cy="2948115"/>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አንደኛ</a:t>
            </a:r>
            <a:r>
              <a:rPr lang="en-GB" sz="1800" b="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እኔን</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ያየ</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አብን</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አየ</a:t>
            </a:r>
            <a:r>
              <a:rPr lang="en-US" sz="1800" dirty="0">
                <a:effectLst/>
                <a:latin typeface="Times New Roman" panose="02020603050405020304" pitchFamily="18" charset="0"/>
                <a:ea typeface="Times New Roman" panose="02020603050405020304" pitchFamily="18" charset="0"/>
              </a:rPr>
              <a:t>”</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dirty="0">
                <a:effectLst/>
                <a:latin typeface="Times New Roman" panose="02020603050405020304" pitchFamily="18" charset="0"/>
                <a:ea typeface="Times New Roman" panose="02020603050405020304" pitchFamily="18" charset="0"/>
              </a:rPr>
              <a:t>(Ὁ </a:t>
            </a:r>
            <a:r>
              <a:rPr lang="en-US" sz="1800" dirty="0" err="1">
                <a:effectLst/>
                <a:latin typeface="Times New Roman" panose="02020603050405020304" pitchFamily="18" charset="0"/>
                <a:ea typeface="Times New Roman" panose="02020603050405020304" pitchFamily="18" charset="0"/>
              </a:rPr>
              <a:t>ἑωρ</a:t>
            </a:r>
            <a:r>
              <a:rPr lang="en-US" sz="1800" dirty="0">
                <a:effectLst/>
                <a:latin typeface="Times New Roman" panose="02020603050405020304" pitchFamily="18" charset="0"/>
                <a:ea typeface="Times New Roman" panose="02020603050405020304" pitchFamily="18" charset="0"/>
              </a:rPr>
              <a:t>ακὼς ἐμὲ ἑώρακεν τὸν Πατέρα) </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በሚለው ዐረፍተ ነገር ውስጥ ቊልፍ ቃል </a:t>
            </a:r>
            <a:r>
              <a:rPr lang="en-US" sz="1800" dirty="0">
                <a:effectLst/>
                <a:latin typeface="Times New Roman" panose="02020603050405020304" pitchFamily="18" charset="0"/>
                <a:ea typeface="Times New Roman" panose="02020603050405020304" pitchFamily="18" charset="0"/>
              </a:rPr>
              <a:t>“</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ማየት</a:t>
            </a:r>
            <a:r>
              <a:rPr lang="en-US" sz="1800" dirty="0">
                <a:effectLst/>
                <a:latin typeface="Times New Roman" panose="02020603050405020304" pitchFamily="18" charset="0"/>
                <a:ea typeface="Times New Roman" panose="02020603050405020304" pitchFamily="18" charset="0"/>
              </a:rPr>
              <a:t>” (“</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ሂሆራኮስ</a:t>
            </a:r>
            <a:r>
              <a:rPr lang="en-US" sz="1800" dirty="0">
                <a:effectLst/>
                <a:latin typeface="Times New Roman" panose="02020603050405020304" pitchFamily="18" charset="0"/>
                <a:ea typeface="Times New Roman" panose="02020603050405020304" pitchFamily="18" charset="0"/>
              </a:rPr>
              <a:t>”</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dirty="0">
                <a:effectLst/>
                <a:latin typeface="Times New Roman" panose="02020603050405020304" pitchFamily="18" charset="0"/>
                <a:ea typeface="Times New Roman" panose="02020603050405020304" pitchFamily="18" charset="0"/>
              </a:rPr>
              <a:t>ἑωρακὼς)</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የሚለው ግሥ ነው፡፡ በዚህ ዐውድ ማየት የሚለው ግሥ ቊማዊ አይደለም ስለዚም በዐይነ ሥጋ ኢየሱስን ማየት አብን ማየት ነው ብለን ልንተረጒምምው አንችልም፡፡ አብ ቊሳዊ አካል የሌለው መንፈስ ነውና፡፡ ስለዚህ ተምሳሌታዊ ትርጒም ያለው ነው፡፡ ይኸውም ኢየሱስን የተረዳ፣ ያወቀ፣ የተገነዘበ ሰው አባቴን ይረዳዋል፣ ያውቀዋል፣ ይገነዘበዋል፡፡ ይህ ኢየሱስ ከአብ ጋር አካላዊ አንድነትን አለው ማለት ሳይሆን፣ ኢየሱስ የአባቱ ወኪል </a:t>
            </a:r>
            <a:r>
              <a:rPr lang="en-US" sz="1800" kern="100" dirty="0">
                <a:effectLst/>
                <a:latin typeface="Times New Roman" panose="02020603050405020304" pitchFamily="18" charset="0"/>
                <a:ea typeface="Aptos" panose="020B0004020202020204" pitchFamily="34" charset="0"/>
              </a:rPr>
              <a:t>(</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እንደ ራሴ</a:t>
            </a:r>
            <a:r>
              <a:rPr lang="en-US" sz="1800" kern="100" dirty="0">
                <a:effectLst/>
                <a:latin typeface="Times New Roman" panose="02020603050405020304" pitchFamily="18" charset="0"/>
                <a:ea typeface="Aptos" panose="020B0004020202020204" pitchFamily="34" charset="0"/>
              </a:rPr>
              <a:t>)</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እንደ ሆነ አስተማሪ ነው፡፡ አካላዊ አንድነትን አመልካች ነው ካልን ግን፣ ከክፍሉ ዐውደ ምንባብ ጋር እንጋጫለን፡፡</a:t>
            </a:r>
            <a:endParaRPr lang="en-US" sz="14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22910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330A16-AF7A-01A3-A8F5-5F80D50191F8}"/>
              </a:ext>
            </a:extLst>
          </p:cNvPr>
          <p:cNvSpPr txBox="1"/>
          <p:nvPr/>
        </p:nvSpPr>
        <p:spPr>
          <a:xfrm>
            <a:off x="753533" y="1119970"/>
            <a:ext cx="10684934" cy="4618059"/>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ይኸውም</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b="1" kern="100" dirty="0">
                <a:effectLst/>
                <a:latin typeface="Garamond" panose="02020404030301010803" pitchFamily="18" charset="0"/>
                <a:ea typeface="Aptos" panose="020B0004020202020204" pitchFamily="34" charset="0"/>
                <a:cs typeface="Times New Roman" panose="02020603050405020304" pitchFamily="18" charset="0"/>
              </a:rPr>
              <a:t>(1)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እግዚአብሔር</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መንፈስ</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ነው</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a:effectLst/>
                <a:latin typeface="Garamond" panose="02020404030301010803" pitchFamily="18" charset="0"/>
                <a:ea typeface="Aptos" panose="020B0004020202020204" pitchFamily="34" charset="0"/>
                <a:cs typeface="Segoe UI" panose="020B0502040204020203" pitchFamily="34" charset="0"/>
              </a:rPr>
              <a:t>(</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ዮሐ</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a:effectLst/>
                <a:latin typeface="Garamond" panose="02020404030301010803" pitchFamily="18" charset="0"/>
                <a:ea typeface="Aptos" panose="020B0004020202020204" pitchFamily="34" charset="0"/>
                <a:cs typeface="Segoe UI" panose="020B0502040204020203" pitchFamily="34" charset="0"/>
              </a:rPr>
              <a:t>4 ÷24</a:t>
            </a:r>
            <a:r>
              <a:rPr lang="en-US" sz="1800" kern="100" dirty="0">
                <a:effectLst/>
                <a:latin typeface="Garamond" panose="02020404030301010803" pitchFamily="18" charset="0"/>
                <a:ea typeface="Aptos" panose="020B0004020202020204" pitchFamily="34" charset="0"/>
                <a:cs typeface="Times New Roman" panose="02020603050405020304" pitchFamily="18" charset="0"/>
              </a:rPr>
              <a:t>)</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ስለዚህም</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ማንም</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አይቶት</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አያውቅም</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a:effectLst/>
                <a:latin typeface="Garamond" panose="02020404030301010803" pitchFamily="18" charset="0"/>
                <a:ea typeface="Aptos" panose="020B0004020202020204" pitchFamily="34" charset="0"/>
                <a:cs typeface="Segoe UI" panose="020B0502040204020203" pitchFamily="34" charset="0"/>
              </a:rPr>
              <a:t>(</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ዮሐ</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a:effectLst/>
                <a:latin typeface="Garamond" panose="02020404030301010803" pitchFamily="18" charset="0"/>
                <a:ea typeface="Aptos" panose="020B0004020202020204" pitchFamily="34" charset="0"/>
                <a:cs typeface="Segoe UI" panose="020B0502040204020203" pitchFamily="34" charset="0"/>
              </a:rPr>
              <a:t>1÷18)</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ያየ</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አይቶአል</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ሲል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በዐይነ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ሥጋ</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ያየኝ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በአካለ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ሥጋ</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ያየዋል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አይደለም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ምክንያቱም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የሚታይ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የሚዳሰስ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የሌለው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መንፈስ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ስለዚህ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ያየ</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አይቶአል</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አነጋገሩ</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ተምሳሌታዊ</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(figurative)</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እንጂ</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በቃል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(literal)</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በአካለ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ሥጋ</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ማየት</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አይደለም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ምክንያቱም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መቼም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ቢሆን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እግዚአብሔርን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ያየው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ስንኳ</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የለም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በአባቱ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ዕቅፍ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ልጁ</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እርሱ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ተረከው</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ዮሐንስ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1÷1)</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ይላልና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ስለዚህ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ይህን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ክፍል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በመጥቀስ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በአካል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ናቸው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ስሕተት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a:p>
            <a:pPr marL="285750" marR="0" indent="-285750" algn="just">
              <a:lnSpc>
                <a:spcPct val="150000"/>
              </a:lnSpc>
              <a:buFont typeface="Wingdings" panose="05000000000000000000" pitchFamily="2" charset="2"/>
              <a:buChar char="q"/>
            </a:pPr>
            <a:r>
              <a:rPr lang="en-US" sz="1800" b="1" kern="100" dirty="0">
                <a:effectLst/>
                <a:latin typeface="Garamond" panose="02020404030301010803" pitchFamily="18" charset="0"/>
                <a:ea typeface="Aptos" panose="020B0004020202020204" pitchFamily="34" charset="0"/>
                <a:cs typeface="Times New Roman" panose="02020603050405020304" pitchFamily="18" charset="0"/>
              </a:rPr>
              <a:t>(2)</a:t>
            </a:r>
            <a:r>
              <a:rPr lang="en-US" sz="1800" kern="100" dirty="0">
                <a:effectLst/>
                <a:latin typeface="Garamond" panose="02020404030301010803" pitchFamily="18"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እግዚአብሔርን</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የምናየው</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የምናውቀው</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በትረካ</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ብቻ</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ነው</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a:effectLst/>
                <a:latin typeface="Garamond" panose="02020404030301010803" pitchFamily="18" charset="0"/>
                <a:ea typeface="Aptos" panose="020B0004020202020204" pitchFamily="34" charset="0"/>
                <a:cs typeface="Segoe UI" panose="020B0502040204020203" pitchFamily="34" charset="0"/>
              </a:rPr>
              <a:t>(</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ዮሐ</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a:effectLst/>
                <a:latin typeface="Garamond" panose="02020404030301010803" pitchFamily="18" charset="0"/>
                <a:ea typeface="Aptos" panose="020B0004020202020204" pitchFamily="34" charset="0"/>
                <a:cs typeface="Segoe UI" panose="020B0502040204020203" pitchFamily="34" charset="0"/>
              </a:rPr>
              <a:t>1÷18</a:t>
            </a:r>
            <a:r>
              <a:rPr lang="en-US" sz="1800" kern="100" dirty="0">
                <a:effectLst/>
                <a:latin typeface="Garamond" panose="02020404030301010803" pitchFamily="18" charset="0"/>
                <a:ea typeface="Aptos" panose="020B0004020202020204" pitchFamily="34" charset="0"/>
                <a:cs typeface="Times New Roman" panose="02020603050405020304" pitchFamily="18" charset="0"/>
              </a:rPr>
              <a:t>)</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b="1" kern="100" dirty="0">
                <a:effectLst/>
                <a:latin typeface="Garamond" panose="02020404030301010803" pitchFamily="18" charset="0"/>
                <a:ea typeface="Aptos" panose="020B0004020202020204" pitchFamily="34" charset="0"/>
                <a:cs typeface="Times New Roman" panose="02020603050405020304" pitchFamily="18" charset="0"/>
              </a:rPr>
              <a:t>(3)</a:t>
            </a:r>
            <a:r>
              <a:rPr lang="en-US" sz="1800" kern="100" dirty="0">
                <a:effectLst/>
                <a:latin typeface="Garamond" panose="02020404030301010803" pitchFamily="18" charset="0"/>
                <a:ea typeface="Aptos" panose="020B0004020202020204" pitchFamily="34" charset="0"/>
                <a:cs typeface="Times New Roman" panose="02020603050405020304" pitchFamily="18"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ኢየሱስ</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ወደ</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አብ</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የሚወስደው</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መንገድ</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ነው</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ይህ</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ማለት</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ደግሞ</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ኢየሱስ</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መንገድ</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አብ</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ደግሞ</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መድረሻ</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መዳረሻ</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መሆኑ</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የተለያዩ</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አካላት</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መሆናቸውን</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አመልካች</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ነው</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b="1" kern="100" dirty="0">
                <a:effectLst/>
                <a:latin typeface="Garamond" panose="02020404030301010803" pitchFamily="18" charset="0"/>
                <a:ea typeface="Aptos" panose="020B0004020202020204" pitchFamily="34" charset="0"/>
                <a:cs typeface="Times New Roman" panose="02020603050405020304" pitchFamily="18" charset="0"/>
              </a:rPr>
              <a:t>(4)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ፊልጶስ</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አብን</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አሳየን</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ማለቱ</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እንደ</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ሙሴ</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በዐይነ</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ሥጋ</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ማየትን</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ታሳቢ</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ያደረገ</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ይመስላል</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a:effectLst/>
                <a:latin typeface="Garamond" panose="02020404030301010803" pitchFamily="18" charset="0"/>
                <a:ea typeface="Aptos" panose="020B0004020202020204" pitchFamily="34" charset="0"/>
                <a:cs typeface="Times New Roman" panose="02020603050405020304" pitchFamily="18" charset="0"/>
              </a:rPr>
              <a:t>(</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ዘፀ</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a:effectLst/>
                <a:latin typeface="Garamond" panose="02020404030301010803" pitchFamily="18" charset="0"/>
                <a:ea typeface="Aptos" panose="020B0004020202020204" pitchFamily="34" charset="0"/>
                <a:cs typeface="Times New Roman" panose="02020603050405020304" pitchFamily="18" charset="0"/>
              </a:rPr>
              <a:t>33÷18-23)</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ኢየሱስ</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ግን</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በተግሣጽ</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እኔ</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የአባቴ</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ገላጭ</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ነኝ</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r>
              <a:rPr lang="en-US" sz="1800" kern="100" dirty="0" err="1">
                <a:effectLst/>
                <a:latin typeface="Power Geez Unicode1" panose="00000400000000000000" pitchFamily="2" charset="0"/>
                <a:ea typeface="Aptos" panose="020B0004020202020204" pitchFamily="34" charset="0"/>
                <a:cs typeface="Segoe UI" panose="020B0502040204020203" pitchFamily="34" charset="0"/>
              </a:rPr>
              <a:t>አለው</a:t>
            </a:r>
            <a:r>
              <a:rPr lang="en-US" sz="1800" kern="100" dirty="0">
                <a:effectLst/>
                <a:latin typeface="Power Geez Unicode1" panose="00000400000000000000" pitchFamily="2" charset="0"/>
                <a:ea typeface="Aptos" panose="020B0004020202020204" pitchFamily="34" charset="0"/>
                <a:cs typeface="Segoe UI" panose="020B0502040204020203" pitchFamily="34" charset="0"/>
              </a:rPr>
              <a:t>፡፡ </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55387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8ECB31-4FF1-A3D0-A1A7-2D37AA971B70}"/>
              </a:ext>
            </a:extLst>
          </p:cNvPr>
          <p:cNvSpPr txBox="1"/>
          <p:nvPr/>
        </p:nvSpPr>
        <p:spPr>
          <a:xfrm>
            <a:off x="558800" y="584538"/>
            <a:ext cx="10752666" cy="1712392"/>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ሁለተኛ</a:t>
            </a:r>
            <a:r>
              <a:rPr lang="en-GB" sz="1800" b="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በቍጥር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6</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ላይ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መንገዱ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እውነትና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ሕይወትም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ነኝ</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ጒዳይ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ለደቀ</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መዛሙርቱ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በቍጥር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7</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ሲያብራራ</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እርሱን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ማወቅ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ማወቅ</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እንዲሁም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ማየት</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Nyala" panose="02000504070300020003" pitchFamily="2"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መንገዱ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እርሱ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ይህን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ጒዳይ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በውል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ያላስተዋለው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ፊልጶስ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አሳየን</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ቍጥር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8)</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ጥያቄ</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ሲያቀርብ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እንመለከታለን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a:t>
            </a:r>
            <a:endParaRPr lang="en-US" dirty="0"/>
          </a:p>
        </p:txBody>
      </p:sp>
      <p:sp>
        <p:nvSpPr>
          <p:cNvPr id="5" name="TextBox 4">
            <a:extLst>
              <a:ext uri="{FF2B5EF4-FFF2-40B4-BE49-F238E27FC236}">
                <a16:creationId xmlns:a16="http://schemas.microsoft.com/office/drawing/2014/main" id="{C053D799-4175-0535-5D9F-F794DFD6267A}"/>
              </a:ext>
            </a:extLst>
          </p:cNvPr>
          <p:cNvSpPr txBox="1"/>
          <p:nvPr/>
        </p:nvSpPr>
        <p:spPr>
          <a:xfrm>
            <a:off x="745066" y="2543638"/>
            <a:ext cx="10566400" cy="2531206"/>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የዐማርኛ</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ቅጆች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ገለጠው</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ወይም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ተረከው</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በማለት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የተረጐሙትን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ግሪኩ</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ኤግዚጂኦማይ</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l-GR" sz="1800" dirty="0">
                <a:effectLst/>
                <a:latin typeface="Times New Roman" panose="02020603050405020304" pitchFamily="18" charset="0"/>
                <a:ea typeface="Times New Roman" panose="02020603050405020304" pitchFamily="18" charset="0"/>
                <a:cs typeface="Times New Roman" panose="02020603050405020304" pitchFamily="18" charset="0"/>
              </a:rPr>
              <a:t>ἐξηγέομαι</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ይለዋል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ቃሉ</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በጽሑፍ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ወይም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በቃል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አንድን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ነገር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መተንተን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ማሳወቅ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መተረክ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ወዘተ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ትርጒም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የሚጐዳኝ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እውነታው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ያየ</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እንዲሁም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ያወቀ</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ያያል</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እንዲሁም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ያውቃል</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ሳይሆን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እርሱ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ተራኪ</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ኤግዚጂኦማይ</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l-GR" sz="1800" dirty="0">
                <a:effectLst/>
                <a:latin typeface="Times New Roman" panose="02020603050405020304" pitchFamily="18" charset="0"/>
                <a:ea typeface="Times New Roman" panose="02020603050405020304" pitchFamily="18" charset="0"/>
                <a:cs typeface="Times New Roman" panose="02020603050405020304" pitchFamily="18" charset="0"/>
              </a:rPr>
              <a:t>ἐξηγέομαι</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ስለሆነ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እርሱን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ማወቅ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እንዲሁም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እርሱን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ማየት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ማወቅ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እንዲሁም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ማየት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64685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4B8D07-847A-2573-41CB-BB11B337D0AF}"/>
              </a:ext>
            </a:extLst>
          </p:cNvPr>
          <p:cNvSpPr txBox="1"/>
          <p:nvPr/>
        </p:nvSpPr>
        <p:spPr>
          <a:xfrm>
            <a:off x="575733" y="620647"/>
            <a:ext cx="10701867" cy="1294072"/>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ሦስተኛ</a:t>
            </a:r>
            <a:r>
              <a:rPr lang="en-GB" sz="1800" b="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የእግዚአብሔር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አንድያ</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ልጅ</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የሆነው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ዓለማት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ከመፈጠራቸው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በፊት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አምላክ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ሆነው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ሁሉ</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ዮሐንስ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1÷1)</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ትስብእት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ሆኖ</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ለመተረክ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ለመተንተን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l-GR" sz="1800" dirty="0">
                <a:effectLst/>
                <a:latin typeface="Times New Roman" panose="02020603050405020304" pitchFamily="18" charset="0"/>
                <a:ea typeface="Times New Roman" panose="02020603050405020304" pitchFamily="18" charset="0"/>
                <a:cs typeface="Times New Roman" panose="02020603050405020304" pitchFamily="18" charset="0"/>
              </a:rPr>
              <a:t>ἐξηγέομαι</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በመጣበትም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ጊዜ</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አምላክ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መሆኑን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እንመለከታለን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ዮሐንስ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a:t>
            </a:r>
            <a:r>
              <a:rPr lang="en-GB" sz="18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18)</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D40E8B8-5C62-DE47-D3EB-352DF7E14634}"/>
              </a:ext>
            </a:extLst>
          </p:cNvPr>
          <p:cNvSpPr txBox="1"/>
          <p:nvPr/>
        </p:nvSpPr>
        <p:spPr>
          <a:xfrm>
            <a:off x="575733" y="2054176"/>
            <a:ext cx="10854267" cy="3777701"/>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እግዚአብሔርን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ያየ</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አንድም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ሰው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ከሌለ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እንዲሁም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እግዚአብሔር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መንፈስ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እግዚአብሔርን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ማየት</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ገለጻ</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በዐይነ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ሥጋ</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አምላክን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መመልከት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እንዳልሆነ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ልብ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ሊባል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ይገባዋል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በዐይነ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ሥጋ</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ማየት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ማየት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ሰዎች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የሚያዩት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ቍሳዊ</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ክፍል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ሥጋ</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ይሆናል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ደግሞ</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ከራሱ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ከድርጅቱ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ትምህርት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ጋር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በቀጥታ</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የሚጋጭ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ስለዚህ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ያየ</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አይቶአል</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ወይም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ናቸው</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ሳይሆን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የአባቴ</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ተራኪ</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ተራኪውን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ማወቅ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ተተራኪውን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ማወቅ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እርሱ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የእግዚአብሔር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ክብር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ነጸብራቅ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እርሱ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በባሕርዩ</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ከእግዚአብሔር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ጋር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ፍጹም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ትክክል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ዕብራውያን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1÷3</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1980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ትርጒም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ክርስቶስ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የእግዚአብሔር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ነጸብራቅ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እንዲሁም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በባሕርዩ</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ከእግዚአብሔር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ጋር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ፍጹም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ትክክል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መሆኑ</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እርሱን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ማየት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ማየት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ግልጽ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ያደርገዋል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02045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AF8349-A670-8BB6-D4D5-2AC39196016D}"/>
              </a:ext>
            </a:extLst>
          </p:cNvPr>
          <p:cNvSpPr txBox="1"/>
          <p:nvPr/>
        </p:nvSpPr>
        <p:spPr>
          <a:xfrm>
            <a:off x="626533" y="677039"/>
            <a:ext cx="10634133" cy="2956066"/>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ሦስተኛ</a:t>
            </a:r>
            <a:r>
              <a:rPr lang="en-GB" sz="1800" b="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በምዕራፍ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14</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ራሱን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ለመለየት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ወይም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የእኔ</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ግሪክ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l-GR" sz="1800" dirty="0">
                <a:effectLst/>
                <a:latin typeface="BibliaLS"/>
                <a:ea typeface="Times New Roman" panose="02020603050405020304" pitchFamily="18" charset="0"/>
                <a:cs typeface="Times New Roman" panose="02020603050405020304" pitchFamily="18" charset="0"/>
              </a:rPr>
              <a:t>εἰμι</a:t>
            </a:r>
            <a:r>
              <a:rPr lang="en-GB" sz="1800" dirty="0">
                <a:effectLst/>
                <a:latin typeface="BibliaLS"/>
                <a:ea typeface="Times New Roman" panose="02020603050405020304" pitchFamily="18" charset="0"/>
                <a:cs typeface="Times New Roman" panose="02020603050405020304" pitchFamily="18" charset="0"/>
              </a:rPr>
              <a:t>,</a:t>
            </a:r>
            <a:r>
              <a:rPr lang="en-GB" sz="1800" dirty="0">
                <a:effectLst/>
                <a:latin typeface="VG2 Main" panose="020B7200000000000000" pitchFamily="34" charset="0"/>
                <a:ea typeface="Times New Roman" panose="02020603050405020304" pitchFamily="18" charset="0"/>
                <a:cs typeface="Times New Roman" panose="02020603050405020304" pitchFamily="18" charset="0"/>
              </a:rPr>
              <a:t> </a:t>
            </a:r>
            <a:r>
              <a:rPr lang="el-GR" sz="1800" dirty="0">
                <a:effectLst/>
                <a:latin typeface="BibliaLS"/>
                <a:ea typeface="Times New Roman" panose="02020603050405020304" pitchFamily="18" charset="0"/>
                <a:cs typeface="Times New Roman" panose="02020603050405020304" pitchFamily="18" charset="0"/>
              </a:rPr>
              <a:t>με</a:t>
            </a:r>
            <a:r>
              <a:rPr lang="en-GB" sz="1800" dirty="0">
                <a:effectLst/>
                <a:latin typeface="BibliaLS"/>
                <a:ea typeface="Times New Roman" panose="02020603050405020304" pitchFamily="18" charset="0"/>
                <a:cs typeface="Times New Roman" panose="02020603050405020304" pitchFamily="18" charset="0"/>
              </a:rPr>
              <a:t>, </a:t>
            </a:r>
            <a:r>
              <a:rPr lang="el-GR" sz="1800" dirty="0">
                <a:effectLst/>
                <a:latin typeface="BibliaLS"/>
                <a:ea typeface="Times New Roman" panose="02020603050405020304" pitchFamily="18" charset="0"/>
                <a:cs typeface="Times New Roman" panose="02020603050405020304" pitchFamily="18" charset="0"/>
              </a:rPr>
              <a:t>ἐμὲ</a:t>
            </a:r>
            <a:r>
              <a:rPr lang="en-GB" sz="1800" dirty="0">
                <a:effectLst/>
                <a:latin typeface="BibliaLS"/>
                <a:ea typeface="Times New Roman" panose="02020603050405020304" pitchFamily="18" charset="0"/>
                <a:cs typeface="Times New Roman" panose="02020603050405020304" pitchFamily="18" charset="0"/>
              </a:rPr>
              <a:t>, </a:t>
            </a:r>
            <a:r>
              <a:rPr lang="el-GR" sz="1800" dirty="0">
                <a:effectLst/>
                <a:latin typeface="BibliaLS"/>
                <a:ea typeface="Times New Roman" panose="02020603050405020304" pitchFamily="18" charset="0"/>
                <a:cs typeface="Times New Roman" panose="02020603050405020304" pitchFamily="18" charset="0"/>
              </a:rPr>
              <a:t>ἐγὼ</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የሚሉትን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የመጀመሪያ</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መደብ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ተውላጠ</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ስሞችን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ሲጠቀም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ለማሳየት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ደግሞ</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ሦስተኛ</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መደብ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ተውላጠ</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ስሞችን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እርሱ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የእርሱ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l-GR" sz="1800" dirty="0">
                <a:effectLst/>
                <a:latin typeface="BibliaLS"/>
                <a:ea typeface="Times New Roman" panose="02020603050405020304" pitchFamily="18" charset="0"/>
                <a:cs typeface="Times New Roman" panose="02020603050405020304" pitchFamily="18" charset="0"/>
              </a:rPr>
              <a:t>αὐτο</a:t>
            </a:r>
            <a:r>
              <a:rPr lang="en-GB" sz="1800" dirty="0">
                <a:effectLst/>
                <a:latin typeface="BibliaLS"/>
                <a:ea typeface="Times New Roman" panose="02020603050405020304" pitchFamily="18" charset="0"/>
                <a:cs typeface="Times New Roman" panose="02020603050405020304" pitchFamily="18" charset="0"/>
              </a:rPr>
              <a:t>v, </a:t>
            </a:r>
            <a:r>
              <a:rPr lang="el-GR" sz="1800" dirty="0">
                <a:effectLst/>
                <a:latin typeface="BibliaLS"/>
                <a:ea typeface="Times New Roman" panose="02020603050405020304" pitchFamily="18" charset="0"/>
                <a:cs typeface="Times New Roman" panose="02020603050405020304" pitchFamily="18" charset="0"/>
              </a:rPr>
              <a:t>αὐτου</a:t>
            </a:r>
            <a:r>
              <a:rPr lang="en-GB" sz="1800" dirty="0">
                <a:effectLst/>
                <a:latin typeface="BibliaLS"/>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ተጠቅሞአል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ሁኔታ</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የተለያዩ</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መሆናቸውን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በግልጽ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የሚያሳይ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ልክ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እንደዚሁ</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ሁሉ</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ራሱን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ከመንፈስ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ቅዱስ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የተለየ</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አድርጎ</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ያቀረበውም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እነዚህን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ተውላጠ</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ስሞች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በመጠቀም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b="1" i="1" dirty="0" err="1">
                <a:effectLst/>
                <a:latin typeface="Power Geez Unicode1" panose="00000400000000000000" pitchFamily="2" charset="0"/>
                <a:ea typeface="Times New Roman" panose="02020603050405020304" pitchFamily="18" charset="0"/>
                <a:cs typeface="Times New Roman" panose="02020603050405020304" pitchFamily="18" charset="0"/>
              </a:rPr>
              <a:t>እኔ</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Palatino Linotype" panose="02040502050505030304" pitchFamily="18" charset="0"/>
                <a:ea typeface="Times New Roman" panose="02020603050405020304" pitchFamily="18" charset="0"/>
                <a:cs typeface="Times New Roman" panose="02020603050405020304" pitchFamily="18" charset="0"/>
              </a:rPr>
              <a:t>[</a:t>
            </a:r>
            <a:r>
              <a:rPr lang="el-GR" sz="1800" dirty="0">
                <a:effectLst/>
                <a:latin typeface="BibliaLS"/>
                <a:ea typeface="Times New Roman" panose="02020603050405020304" pitchFamily="18" charset="0"/>
                <a:cs typeface="Times New Roman" panose="02020603050405020304" pitchFamily="18" charset="0"/>
              </a:rPr>
              <a:t>κἀγὼ</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and I]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እለምናለሁ</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b="1" i="1" dirty="0" err="1">
                <a:effectLst/>
                <a:latin typeface="Power Geez Unicode1" panose="00000400000000000000" pitchFamily="2" charset="0"/>
                <a:ea typeface="Times New Roman" panose="02020603050405020304" pitchFamily="18" charset="0"/>
                <a:cs typeface="Times New Roman" panose="02020603050405020304" pitchFamily="18" charset="0"/>
              </a:rPr>
              <a:t>እርሱም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l-GR" sz="1800" dirty="0">
                <a:effectLst/>
                <a:latin typeface="Times New Roman" panose="02020603050405020304" pitchFamily="18" charset="0"/>
                <a:ea typeface="Times New Roman" panose="02020603050405020304" pitchFamily="18" charset="0"/>
                <a:cs typeface="Times New Roman" panose="02020603050405020304" pitchFamily="18" charset="0"/>
              </a:rPr>
              <a:t>δώσει</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he will give]</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ከእናንተ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ጋር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ለዘለዓለም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የሚኖር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b="1" i="1" dirty="0" err="1">
                <a:effectLst/>
                <a:latin typeface="Power Geez Unicode1" panose="00000400000000000000" pitchFamily="2" charset="0"/>
                <a:ea typeface="Times New Roman" panose="02020603050405020304" pitchFamily="18" charset="0"/>
                <a:cs typeface="Times New Roman" panose="02020603050405020304" pitchFamily="18" charset="0"/>
              </a:rPr>
              <a:t>ሌላ</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l-GR" sz="1800" dirty="0">
                <a:effectLst/>
                <a:latin typeface="Times New Roman" panose="02020603050405020304" pitchFamily="18" charset="0"/>
                <a:ea typeface="Times New Roman" panose="02020603050405020304" pitchFamily="18" charset="0"/>
                <a:cs typeface="Times New Roman" panose="02020603050405020304" pitchFamily="18" charset="0"/>
              </a:rPr>
              <a:t>ἄλλον</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alatino Linotype" panose="02040502050505030304" pitchFamily="18"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አጽናኝ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ይሰጣችኋል</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ዮሐንስ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14</a:t>
            </a:r>
            <a:r>
              <a:rPr lang="en-GB" sz="18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16</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እንዲሁም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ቍጥር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7:10:26</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ይመለከቷል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76AEE65-FCEB-F47C-4065-1057C431D1B0}"/>
              </a:ext>
            </a:extLst>
          </p:cNvPr>
          <p:cNvSpPr txBox="1"/>
          <p:nvPr/>
        </p:nvSpPr>
        <p:spPr>
          <a:xfrm>
            <a:off x="651933" y="3889627"/>
            <a:ext cx="10888134" cy="1709571"/>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አራተኛ</a:t>
            </a:r>
            <a:r>
              <a:rPr lang="en-GB" sz="1800" b="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በምዕራፍ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14</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እንዲሁም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ምዕራፍ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15</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16)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ራሱን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የተለየ</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መሆኑን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ያሳየው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የተለያዩ</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መስተዋድዶችን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በመጠቀም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ለምሳሌ</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የሚከተሉትን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ክፍሎች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ይመለከቷል</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በእኔ</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በኩል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l-GR" sz="1800" dirty="0">
                <a:effectLst/>
                <a:latin typeface="Times New Roman" panose="02020603050405020304" pitchFamily="18" charset="0"/>
                <a:ea typeface="Times New Roman" panose="02020603050405020304" pitchFamily="18" charset="0"/>
                <a:cs typeface="Times New Roman" panose="02020603050405020304" pitchFamily="18" charset="0"/>
              </a:rPr>
              <a:t>δι</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ʼ </a:t>
            </a:r>
            <a:r>
              <a:rPr lang="el-GR" sz="1800" dirty="0">
                <a:effectLst/>
                <a:latin typeface="Times New Roman" panose="02020603050405020304" pitchFamily="18" charset="0"/>
                <a:ea typeface="Times New Roman" panose="02020603050405020304" pitchFamily="18" charset="0"/>
                <a:cs typeface="Times New Roman" panose="02020603050405020304" pitchFamily="18" charset="0"/>
              </a:rPr>
              <a:t>ἐμου</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ካልሆነ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በቀር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ወደ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ዘንድ</a:t>
            </a:r>
            <a:r>
              <a:rPr lang="en-GB" sz="1800" b="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የሚመጣ</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l-GR" sz="1800" dirty="0">
                <a:effectLst/>
                <a:latin typeface="Times New Roman" panose="02020603050405020304" pitchFamily="18" charset="0"/>
                <a:ea typeface="Times New Roman" panose="02020603050405020304" pitchFamily="18" charset="0"/>
                <a:cs typeface="Times New Roman" panose="02020603050405020304" pitchFamily="18" charset="0"/>
              </a:rPr>
              <a:t>πρὸς τὸν πατέρα</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የለም</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ቍጥር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6)</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በእኔ</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Palatino Linotype" panose="02040502050505030304" pitchFamily="18" charset="0"/>
                <a:ea typeface="Times New Roman" panose="02020603050405020304" pitchFamily="18" charset="0"/>
                <a:cs typeface="Times New Roman" panose="02020603050405020304" pitchFamily="18" charset="0"/>
              </a:rPr>
              <a:t>[</a:t>
            </a:r>
            <a:r>
              <a:rPr lang="el-GR" sz="1800" dirty="0">
                <a:effectLst/>
                <a:latin typeface="BibliaLS"/>
                <a:ea typeface="Times New Roman" panose="02020603050405020304" pitchFamily="18" charset="0"/>
                <a:cs typeface="Times New Roman" panose="02020603050405020304" pitchFamily="18" charset="0"/>
              </a:rPr>
              <a:t>εἰς ἐμὲ</a:t>
            </a:r>
            <a:r>
              <a:rPr lang="en-GB" sz="1800" dirty="0">
                <a:effectLst/>
                <a:latin typeface="Palatino Linotype" panose="02040502050505030304" pitchFamily="18" charset="0"/>
                <a:ea typeface="Times New Roman" panose="02020603050405020304" pitchFamily="18" charset="0"/>
                <a:cs typeface="Times New Roman" panose="02020603050405020304" pitchFamily="18" charset="0"/>
              </a:rPr>
              <a:t>]</a:t>
            </a:r>
            <a:r>
              <a:rPr lang="en-GB" sz="1800" dirty="0">
                <a:solidFill>
                  <a:srgbClr val="4472C4"/>
                </a:solidFill>
                <a:effectLst/>
                <a:latin typeface="Palatino Linotype" panose="02040502050505030304" pitchFamily="18"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የሚያምን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ስለምሄድ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Palatino Linotype" panose="02040502050505030304" pitchFamily="18" charset="0"/>
                <a:ea typeface="Times New Roman" panose="02020603050405020304" pitchFamily="18" charset="0"/>
                <a:cs typeface="Times New Roman" panose="02020603050405020304" pitchFamily="18" charset="0"/>
              </a:rPr>
              <a:t>[</a:t>
            </a:r>
            <a:r>
              <a:rPr lang="el-GR" sz="1800" dirty="0">
                <a:effectLst/>
                <a:latin typeface="BibliaLS"/>
                <a:ea typeface="Times New Roman" panose="02020603050405020304" pitchFamily="18" charset="0"/>
                <a:cs typeface="Times New Roman" panose="02020603050405020304" pitchFamily="18" charset="0"/>
              </a:rPr>
              <a:t>ἐγὼ πρὸς τὸν πατέρα πορεύομαι</a:t>
            </a:r>
            <a:r>
              <a:rPr lang="en-GB" sz="1800" dirty="0">
                <a:effectLst/>
                <a:latin typeface="Palatino Linotype" panose="02040502050505030304" pitchFamily="18"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ቍጥር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12)</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0871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33D8BA-A479-60C4-0242-5A3D6CD4FB6A}"/>
              </a:ext>
            </a:extLst>
          </p:cNvPr>
          <p:cNvSpPr txBox="1"/>
          <p:nvPr/>
        </p:nvSpPr>
        <p:spPr>
          <a:xfrm>
            <a:off x="728133" y="821699"/>
            <a:ext cx="10752667" cy="2897396"/>
          </a:xfrm>
          <a:prstGeom prst="rect">
            <a:avLst/>
          </a:prstGeom>
          <a:noFill/>
        </p:spPr>
        <p:txBody>
          <a:bodyPr wrap="square">
            <a:spAutoFit/>
          </a:bodyPr>
          <a:lstStyle/>
          <a:p>
            <a:pPr marL="342900" marR="0" indent="-342900" algn="just">
              <a:lnSpc>
                <a:spcPct val="150000"/>
              </a:lnSpc>
              <a:buFont typeface="Wingdings" panose="05000000000000000000" pitchFamily="2" charset="2"/>
              <a:buChar char="q"/>
            </a:pPr>
            <a:r>
              <a:rPr lang="en-GB" sz="2400" b="1" dirty="0" err="1">
                <a:effectLst/>
                <a:latin typeface="Power Geez Unicode1" panose="00000400000000000000" pitchFamily="2" charset="0"/>
                <a:ea typeface="Times New Roman" panose="02020603050405020304" pitchFamily="18" charset="0"/>
                <a:cs typeface="Times New Roman" panose="02020603050405020304" pitchFamily="18" charset="0"/>
              </a:rPr>
              <a:t>አምስተኛ</a:t>
            </a:r>
            <a:r>
              <a:rPr lang="en-GB" sz="2400" b="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የክፍሉ</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ዐውድ</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አብና</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የተለያዩ</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አካላት</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መሆናቸውን</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በማያሻማ</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መንገድ</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ይገልጻል</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ከላይ</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ካየናቸው</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ማስረጃዎች</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በተጨማሪ</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የተወሰኑ</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ማስረጃዎችን</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ዐለፍ</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ዐለፍ</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እያልን</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እንመልከት</a:t>
            </a:r>
            <a:r>
              <a:rPr lang="en-GB" sz="24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800" dirty="0">
              <a:effectLst/>
              <a:latin typeface="VG2 Main" panose="020B7200000000000000" pitchFamily="34" charset="0"/>
              <a:ea typeface="Times New Roman" panose="02020603050405020304" pitchFamily="18" charset="0"/>
              <a:cs typeface="Times New Roman" panose="02020603050405020304" pitchFamily="18" charset="0"/>
            </a:endParaRPr>
          </a:p>
          <a:p>
            <a:pPr marL="457200" marR="0" indent="-457200" algn="just">
              <a:lnSpc>
                <a:spcPct val="150000"/>
              </a:lnSpc>
              <a:buFont typeface="Wingdings" panose="05000000000000000000" pitchFamily="2" charset="2"/>
              <a:buChar char="q"/>
            </a:pPr>
            <a:r>
              <a:rPr lang="en-GB" sz="2800" dirty="0" err="1">
                <a:effectLst/>
                <a:latin typeface="Ethiopic Yebse" panose="02000500000000000000" pitchFamily="2" charset="0"/>
                <a:ea typeface="Times New Roman" panose="02020603050405020304" pitchFamily="18" charset="0"/>
                <a:cs typeface="Times New Roman" panose="02020603050405020304" pitchFamily="18" charset="0"/>
              </a:rPr>
              <a:t>ቍጥር</a:t>
            </a:r>
            <a:r>
              <a:rPr lang="en-GB" sz="2800" dirty="0">
                <a:effectLst/>
                <a:latin typeface="Ethiopic Yebse" panose="02000500000000000000" pitchFamily="2" charset="0"/>
                <a:ea typeface="Times New Roman" panose="02020603050405020304" pitchFamily="18" charset="0"/>
                <a:cs typeface="Times New Roman" panose="02020603050405020304" pitchFamily="18" charset="0"/>
              </a:rPr>
              <a:t> 1.</a:t>
            </a:r>
            <a:r>
              <a:rPr lang="en-GB" sz="2400" b="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a:effectLst/>
                <a:latin typeface="Garamond" panose="02020404030301010803" pitchFamily="18" charset="0"/>
                <a:ea typeface="Times New Roman" panose="02020603050405020304" pitchFamily="18" charset="0"/>
                <a:cs typeface="Times New Roman" panose="02020603050405020304" pitchFamily="18" charset="0"/>
              </a:rPr>
              <a:t>“</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በእግዚአብሔር</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እመኑ</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በእኔም</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ደግሞ</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እመኑ</a:t>
            </a:r>
            <a:r>
              <a:rPr lang="en-GB" sz="2400" dirty="0">
                <a:effectLst/>
                <a:latin typeface="Garamond" panose="02020404030301010803" pitchFamily="18" charset="0"/>
                <a:ea typeface="Times New Roman" panose="02020603050405020304" pitchFamily="18" charset="0"/>
                <a:cs typeface="Times New Roman" panose="02020603050405020304" pitchFamily="18" charset="0"/>
              </a:rPr>
              <a:t>”</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a:effectLst/>
                <a:latin typeface="Garamond" panose="02020404030301010803" pitchFamily="18" charset="0"/>
                <a:ea typeface="Times New Roman" panose="02020603050405020304" pitchFamily="18" charset="0"/>
                <a:cs typeface="Times New Roman" panose="02020603050405020304" pitchFamily="18" charset="0"/>
              </a:rPr>
              <a:t>(</a:t>
            </a:r>
            <a:r>
              <a:rPr lang="en-US" sz="2400" dirty="0">
                <a:effectLst/>
                <a:latin typeface="Times New Roman" panose="02020603050405020304" pitchFamily="18" charset="0"/>
                <a:ea typeface="Times New Roman" panose="02020603050405020304" pitchFamily="18" charset="0"/>
              </a:rPr>
              <a:t>“</a:t>
            </a:r>
            <a:r>
              <a:rPr lang="el-GR" sz="2400" dirty="0">
                <a:effectLst/>
                <a:latin typeface="Gentium" panose="02000503060000020004" pitchFamily="2" charset="0"/>
                <a:ea typeface="Times New Roman" panose="02020603050405020304" pitchFamily="18" charset="0"/>
                <a:cs typeface="Times New Roman" panose="02020603050405020304" pitchFamily="18" charset="0"/>
              </a:rPr>
              <a:t>πιστεύετε εἰς τὸν θεὸν καὶ εἰς ἐμὲ πιστεύετε</a:t>
            </a:r>
            <a:r>
              <a:rPr lang="en-GB" sz="2400" dirty="0">
                <a:effectLst/>
                <a:latin typeface="Gentium" panose="02000503060000020004" pitchFamily="2" charset="0"/>
                <a:ea typeface="Times New Roman" panose="02020603050405020304" pitchFamily="18" charset="0"/>
                <a:cs typeface="Times New Roman" panose="02020603050405020304" pitchFamily="18" charset="0"/>
              </a:rPr>
              <a:t>.</a:t>
            </a:r>
            <a:r>
              <a:rPr lang="en-US" sz="2400" dirty="0">
                <a:effectLst/>
                <a:latin typeface="Times New Roman" panose="02020603050405020304" pitchFamily="18" charset="0"/>
                <a:ea typeface="Times New Roman" panose="02020603050405020304" pitchFamily="18" charset="0"/>
              </a:rPr>
              <a:t>”</a:t>
            </a:r>
            <a:r>
              <a:rPr lang="en-GB" sz="2400" dirty="0">
                <a:effectLst/>
                <a:latin typeface="Garamond" panose="02020404030301010803" pitchFamily="18" charset="0"/>
                <a:ea typeface="Times New Roman" panose="02020603050405020304" pitchFamily="18" charset="0"/>
                <a:cs typeface="Times New Roman" panose="02020603050405020304" pitchFamily="18" charset="0"/>
              </a:rPr>
              <a:t>)</a:t>
            </a:r>
            <a:endParaRPr lang="en-US" sz="18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1271D89-D5AA-9803-B23B-C6037D2D1159}"/>
              </a:ext>
            </a:extLst>
          </p:cNvPr>
          <p:cNvSpPr txBox="1"/>
          <p:nvPr/>
        </p:nvSpPr>
        <p:spPr>
          <a:xfrm>
            <a:off x="677333" y="3719095"/>
            <a:ext cx="10447867" cy="581185"/>
          </a:xfrm>
          <a:prstGeom prst="rect">
            <a:avLst/>
          </a:prstGeom>
          <a:noFill/>
        </p:spPr>
        <p:txBody>
          <a:bodyPr wrap="square">
            <a:spAutoFit/>
          </a:bodyPr>
          <a:lstStyle/>
          <a:p>
            <a:pPr marL="342900" indent="-342900">
              <a:lnSpc>
                <a:spcPct val="150000"/>
              </a:lnSpc>
              <a:buFont typeface="Wingdings" panose="05000000000000000000" pitchFamily="2" charset="2"/>
              <a:buChar char="q"/>
            </a:pPr>
            <a:r>
              <a:rPr lang="en-GB" sz="2400" dirty="0" err="1">
                <a:effectLst/>
                <a:latin typeface="Ethiopic Yebse" panose="02000500000000000000" pitchFamily="2" charset="0"/>
                <a:ea typeface="Times New Roman" panose="02020603050405020304" pitchFamily="18" charset="0"/>
                <a:cs typeface="Times New Roman" panose="02020603050405020304" pitchFamily="18" charset="0"/>
              </a:rPr>
              <a:t>ቍጥር</a:t>
            </a:r>
            <a:r>
              <a:rPr lang="en-GB" sz="2400" dirty="0">
                <a:effectLst/>
                <a:latin typeface="Ethiopic Yebse" panose="02000500000000000000" pitchFamily="2" charset="0"/>
                <a:ea typeface="Times New Roman" panose="02020603050405020304" pitchFamily="18" charset="0"/>
                <a:cs typeface="Times New Roman" panose="02020603050405020304" pitchFamily="18" charset="0"/>
              </a:rPr>
              <a:t> 2.</a:t>
            </a:r>
            <a:r>
              <a:rPr lang="en-GB" sz="2000" b="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a:effectLst/>
                <a:latin typeface="Times New Roman" panose="02020603050405020304" pitchFamily="18" charset="0"/>
                <a:ea typeface="Times New Roman" panose="02020603050405020304" pitchFamily="18" charset="0"/>
              </a:rPr>
              <a:t>“</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በአባቴ</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ቤት</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ብዙ</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መኖሪያ</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000" dirty="0" err="1">
                <a:effectLst/>
                <a:latin typeface="Power Geez Unicode1" panose="00000400000000000000" pitchFamily="2" charset="0"/>
                <a:ea typeface="Times New Roman" panose="02020603050405020304" pitchFamily="18" charset="0"/>
                <a:cs typeface="Times New Roman" panose="02020603050405020304" pitchFamily="18" charset="0"/>
              </a:rPr>
              <a:t>አለ</a:t>
            </a:r>
            <a:r>
              <a:rPr lang="en-GB" sz="2000" dirty="0">
                <a:effectLst/>
                <a:latin typeface="Times New Roman" panose="02020603050405020304" pitchFamily="18" charset="0"/>
                <a:ea typeface="Times New Roman" panose="02020603050405020304" pitchFamily="18" charset="0"/>
              </a:rPr>
              <a:t>”</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a:t>
            </a:r>
            <a:r>
              <a:rPr lang="el-GR" sz="2000" dirty="0">
                <a:effectLst/>
                <a:latin typeface="Gentium" panose="02000503060000020004" pitchFamily="2" charset="0"/>
                <a:ea typeface="Times New Roman" panose="02020603050405020304" pitchFamily="18" charset="0"/>
                <a:cs typeface="Times New Roman" panose="02020603050405020304" pitchFamily="18" charset="0"/>
              </a:rPr>
              <a:t>τοῦ πατρός μου μοναὶ πολλαί εἰσιν</a:t>
            </a:r>
            <a:r>
              <a:rPr lang="en-US" sz="2000" dirty="0">
                <a:effectLst/>
                <a:latin typeface="Times New Roman" panose="02020603050405020304" pitchFamily="18" charset="0"/>
                <a:ea typeface="Times New Roman" panose="02020603050405020304" pitchFamily="18" charset="0"/>
              </a:rPr>
              <a:t>”</a:t>
            </a:r>
            <a:r>
              <a:rPr lang="en-GB" sz="20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sz="2000" dirty="0"/>
          </a:p>
        </p:txBody>
      </p:sp>
      <p:sp>
        <p:nvSpPr>
          <p:cNvPr id="7" name="TextBox 6">
            <a:extLst>
              <a:ext uri="{FF2B5EF4-FFF2-40B4-BE49-F238E27FC236}">
                <a16:creationId xmlns:a16="http://schemas.microsoft.com/office/drawing/2014/main" id="{19B3CB55-6E11-CAF0-931D-0726C4E77DD2}"/>
              </a:ext>
            </a:extLst>
          </p:cNvPr>
          <p:cNvSpPr txBox="1"/>
          <p:nvPr/>
        </p:nvSpPr>
        <p:spPr>
          <a:xfrm>
            <a:off x="728133" y="4300280"/>
            <a:ext cx="10752666" cy="369332"/>
          </a:xfrm>
          <a:prstGeom prst="rect">
            <a:avLst/>
          </a:prstGeom>
          <a:noFill/>
        </p:spPr>
        <p:txBody>
          <a:bodyPr wrap="square">
            <a:spAutoFit/>
          </a:bodyPr>
          <a:lstStyle/>
          <a:p>
            <a:pPr algn="just"/>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አካላዊ</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አንድነት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ቢኖራቸው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ኖሮ</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የአባቴ</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ቤት</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ከማለት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ይልቅ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የእኔ</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ቤት</a:t>
            </a:r>
            <a:r>
              <a:rPr lang="en-GB" sz="1800" dirty="0">
                <a:effectLst/>
                <a:latin typeface="Times New Roman" panose="02020603050405020304" pitchFamily="18" charset="0"/>
                <a:ea typeface="Times New Roman" panose="02020603050405020304" pitchFamily="18" charset="0"/>
              </a:rPr>
              <a:t>” </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ነበረበት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dirty="0"/>
          </a:p>
        </p:txBody>
      </p:sp>
      <p:sp>
        <p:nvSpPr>
          <p:cNvPr id="9" name="TextBox 8">
            <a:extLst>
              <a:ext uri="{FF2B5EF4-FFF2-40B4-BE49-F238E27FC236}">
                <a16:creationId xmlns:a16="http://schemas.microsoft.com/office/drawing/2014/main" id="{BDF4023F-3DEC-BA29-FCE1-3FFA842367B8}"/>
              </a:ext>
            </a:extLst>
          </p:cNvPr>
          <p:cNvSpPr txBox="1"/>
          <p:nvPr/>
        </p:nvSpPr>
        <p:spPr>
          <a:xfrm>
            <a:off x="728133" y="4669612"/>
            <a:ext cx="10752666" cy="1436740"/>
          </a:xfrm>
          <a:prstGeom prst="rect">
            <a:avLst/>
          </a:prstGeom>
          <a:noFill/>
        </p:spPr>
        <p:txBody>
          <a:bodyPr wrap="square">
            <a:spAutoFit/>
          </a:bodyPr>
          <a:lstStyle/>
          <a:p>
            <a:pPr marL="342900" indent="-342900">
              <a:lnSpc>
                <a:spcPct val="150000"/>
              </a:lnSpc>
              <a:buFont typeface="Wingdings" panose="05000000000000000000" pitchFamily="2" charset="2"/>
              <a:buChar char="q"/>
            </a:pPr>
            <a:r>
              <a:rPr lang="en-GB" sz="2000" dirty="0" err="1">
                <a:effectLst/>
                <a:latin typeface="Ethiopic Yebse" panose="02000500000000000000" pitchFamily="2" charset="0"/>
                <a:ea typeface="Times New Roman" panose="02020603050405020304" pitchFamily="18" charset="0"/>
                <a:cs typeface="Times New Roman" panose="02020603050405020304" pitchFamily="18" charset="0"/>
              </a:rPr>
              <a:t>ቍጥር</a:t>
            </a:r>
            <a:r>
              <a:rPr lang="en-GB" sz="2000" dirty="0">
                <a:effectLst/>
                <a:latin typeface="Ethiopic Yebse" panose="02000500000000000000" pitchFamily="2" charset="0"/>
                <a:ea typeface="Times New Roman" panose="02020603050405020304" pitchFamily="18" charset="0"/>
                <a:cs typeface="Times New Roman" panose="02020603050405020304" pitchFamily="18" charset="0"/>
              </a:rPr>
              <a:t> 7-11</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ክርስቶስ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እንደሚለይ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የሚገልጹ</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መስተዋድዶችን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በንግግሩ</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ውስጥ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ተጠቅሞአል</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i="1" dirty="0" err="1">
                <a:effectLst/>
                <a:latin typeface="Power Geez Unicode1" panose="00000400000000000000" pitchFamily="2" charset="0"/>
                <a:ea typeface="Times New Roman" panose="02020603050405020304" pitchFamily="18" charset="0"/>
                <a:cs typeface="Times New Roman" panose="02020603050405020304" pitchFamily="18" charset="0"/>
              </a:rPr>
              <a:t>በእኔ</a:t>
            </a:r>
            <a:r>
              <a:rPr lang="en-GB" sz="1800" i="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a:t>
            </a:r>
            <a:r>
              <a:rPr lang="el-GR" sz="1800" dirty="0">
                <a:effectLst/>
                <a:latin typeface="Gentium" panose="02000503060000020004" pitchFamily="2" charset="0"/>
                <a:ea typeface="Times New Roman" panose="02020603050405020304" pitchFamily="18" charset="0"/>
                <a:cs typeface="Times New Roman" panose="02020603050405020304" pitchFamily="18" charset="0"/>
              </a:rPr>
              <a:t>πρὸς</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a:t>
            </a:r>
            <a:r>
              <a:rPr lang="en-GB" sz="1800" i="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በቀር</a:t>
            </a:r>
            <a:r>
              <a:rPr lang="en-GB" sz="1800" i="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l-GR" sz="1800" dirty="0">
                <a:effectLst/>
                <a:latin typeface="Gentium" panose="02000503060000020004" pitchFamily="2" charset="0"/>
                <a:ea typeface="Times New Roman" panose="02020603050405020304" pitchFamily="18" charset="0"/>
                <a:cs typeface="Times New Roman" panose="02020603050405020304" pitchFamily="18" charset="0"/>
              </a:rPr>
              <a:t>δι</a:t>
            </a:r>
            <a:r>
              <a:rPr lang="en-GB" sz="1800" dirty="0">
                <a:effectLst/>
                <a:latin typeface="Gentium" panose="02000503060000020004" pitchFamily="2" charset="0"/>
                <a:ea typeface="Times New Roman" panose="02020603050405020304" pitchFamily="18" charset="0"/>
                <a:cs typeface="Times New Roman" panose="02020603050405020304" pitchFamily="18" charset="0"/>
              </a:rPr>
              <a:t>ʼ</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የሚመጣ</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የለም</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(ቍ.</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6)</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l-GR" sz="2000" dirty="0">
                <a:effectLst/>
                <a:latin typeface="Gentium" panose="02000503060000020004" pitchFamily="2" charset="0"/>
                <a:ea typeface="Times New Roman" panose="02020603050405020304" pitchFamily="18" charset="0"/>
                <a:cs typeface="Times New Roman" panose="02020603050405020304" pitchFamily="18" charset="0"/>
              </a:rPr>
              <a:t>ἐν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እንዳለሁ</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በእኔ</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l-GR" sz="2000" dirty="0">
                <a:effectLst/>
                <a:latin typeface="Gentium" panose="02000503060000020004" pitchFamily="2" charset="0"/>
                <a:ea typeface="Times New Roman" panose="02020603050405020304" pitchFamily="18" charset="0"/>
                <a:cs typeface="Times New Roman" panose="02020603050405020304" pitchFamily="18" charset="0"/>
              </a:rPr>
              <a:t>ἐν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እንዳለ</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(ቍ.</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10)</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በእኔ</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l-GR" sz="2000" dirty="0">
                <a:effectLst/>
                <a:latin typeface="Gentium" panose="02000503060000020004" pitchFamily="2" charset="0"/>
                <a:ea typeface="Times New Roman" panose="02020603050405020304" pitchFamily="18" charset="0"/>
                <a:cs typeface="Times New Roman" panose="02020603050405020304" pitchFamily="18" charset="0"/>
              </a:rPr>
              <a:t>ἐν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የሚኖረው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(ቍ.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10)</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dirty="0"/>
          </a:p>
        </p:txBody>
      </p:sp>
    </p:spTree>
    <p:extLst>
      <p:ext uri="{BB962C8B-B14F-4D97-AF65-F5344CB8AC3E}">
        <p14:creationId xmlns:p14="http://schemas.microsoft.com/office/powerpoint/2010/main" val="41117013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38F69B-37FD-DA35-E7EF-A4FC401D928E}"/>
              </a:ext>
            </a:extLst>
          </p:cNvPr>
          <p:cNvSpPr txBox="1"/>
          <p:nvPr/>
        </p:nvSpPr>
        <p:spPr>
          <a:xfrm>
            <a:off x="723900" y="2310905"/>
            <a:ext cx="10570633" cy="2236190"/>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በአጠቃላይ</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ከዮሐንስ</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a:effectLst/>
                <a:latin typeface="Garamond" panose="02020404030301010803" pitchFamily="18" charset="0"/>
                <a:ea typeface="Times New Roman" panose="02020603050405020304" pitchFamily="18" charset="0"/>
                <a:cs typeface="Times New Roman" panose="02020603050405020304" pitchFamily="18" charset="0"/>
              </a:rPr>
              <a:t>14÷9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በመጥቀስ</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አብና</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አካል</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ናቸው</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የሚል</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አንዳችም</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ዐሳብ</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የለውም</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እንዲያውም</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የክፍሉ</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ሰዋስዋዊ</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አወቃቀር</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ዐውደ</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ምንባብ</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የዐሳብ</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ፍሰት</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ወዘተ</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አብና</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አካል</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ናቸው</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የሚለውን</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ዐሳብ</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በጽኑ</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የሚቃረን</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24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2400" dirty="0">
                <a:effectLst/>
                <a:latin typeface="Power Geez Unicode1" panose="00000400000000000000" pitchFamily="2" charset="0"/>
                <a:ea typeface="Times New Roman" panose="02020603050405020304" pitchFamily="18" charset="0"/>
                <a:cs typeface="Times New Roman" panose="02020603050405020304" pitchFamily="18" charset="0"/>
              </a:rPr>
              <a:t>፡፡</a:t>
            </a:r>
            <a:endParaRPr lang="en-US" sz="28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47085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3062CFC-6A8F-6BC8-EA8E-3A33F6415749}"/>
              </a:ext>
            </a:extLst>
          </p:cNvPr>
          <p:cNvSpPr txBox="1"/>
          <p:nvPr/>
        </p:nvSpPr>
        <p:spPr>
          <a:xfrm>
            <a:off x="795866" y="1248191"/>
            <a:ext cx="10600267" cy="4745338"/>
          </a:xfrm>
          <a:prstGeom prst="rect">
            <a:avLst/>
          </a:prstGeom>
          <a:noFill/>
        </p:spPr>
        <p:txBody>
          <a:bodyPr wrap="square">
            <a:spAutoFit/>
          </a:bodyPr>
          <a:lstStyle/>
          <a:p>
            <a:pPr marL="0" marR="0" algn="ctr">
              <a:lnSpc>
                <a:spcPct val="150000"/>
              </a:lnSpc>
              <a:buNone/>
            </a:pPr>
            <a:r>
              <a:rPr lang="en-US" sz="40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3600" dirty="0" err="1">
                <a:effectLst/>
                <a:latin typeface="Ethiopic Sadiss Light" pitchFamily="2" charset="0"/>
                <a:ea typeface="Times New Roman" panose="02020603050405020304" pitchFamily="18" charset="0"/>
                <a:cs typeface="Times New Roman" panose="02020603050405020304" pitchFamily="18" charset="0"/>
              </a:rPr>
              <a:t>የመለኮት</a:t>
            </a:r>
            <a:r>
              <a:rPr lang="en-US" sz="3600" dirty="0">
                <a:effectLst/>
                <a:latin typeface="Ethiopic Sadiss Light" pitchFamily="2" charset="0"/>
                <a:ea typeface="Times New Roman" panose="02020603050405020304" pitchFamily="18" charset="0"/>
                <a:cs typeface="Times New Roman" panose="02020603050405020304" pitchFamily="18" charset="0"/>
              </a:rPr>
              <a:t> </a:t>
            </a:r>
            <a:r>
              <a:rPr lang="en-US" sz="3600" dirty="0" err="1">
                <a:effectLst/>
                <a:latin typeface="Ethiopic Sadiss Light" pitchFamily="2" charset="0"/>
                <a:ea typeface="Times New Roman" panose="02020603050405020304" pitchFamily="18" charset="0"/>
                <a:cs typeface="Times New Roman" panose="02020603050405020304" pitchFamily="18" charset="0"/>
              </a:rPr>
              <a:t>ሙላት</a:t>
            </a:r>
            <a:r>
              <a:rPr lang="en-US" sz="3600" dirty="0">
                <a:effectLst/>
                <a:latin typeface="Ethiopic Sadiss Light" pitchFamily="2" charset="0"/>
                <a:ea typeface="Times New Roman" panose="02020603050405020304" pitchFamily="18" charset="0"/>
                <a:cs typeface="Times New Roman" panose="02020603050405020304" pitchFamily="18" charset="0"/>
              </a:rPr>
              <a:t> </a:t>
            </a:r>
            <a:r>
              <a:rPr lang="en-US" sz="3600" dirty="0" err="1">
                <a:effectLst/>
                <a:latin typeface="Ethiopic Sadiss Light" pitchFamily="2" charset="0"/>
                <a:ea typeface="Times New Roman" panose="02020603050405020304" pitchFamily="18" charset="0"/>
                <a:cs typeface="Times New Roman" panose="02020603050405020304" pitchFamily="18" charset="0"/>
              </a:rPr>
              <a:t>ሁሉ</a:t>
            </a:r>
            <a:r>
              <a:rPr lang="en-US" sz="3600" dirty="0">
                <a:effectLst/>
                <a:latin typeface="Ethiopic Sadiss Light" pitchFamily="2" charset="0"/>
                <a:ea typeface="Times New Roman" panose="02020603050405020304" pitchFamily="18" charset="0"/>
                <a:cs typeface="Times New Roman" panose="02020603050405020304" pitchFamily="18" charset="0"/>
              </a:rPr>
              <a:t> </a:t>
            </a:r>
            <a:r>
              <a:rPr lang="en-US" sz="3600" dirty="0" err="1">
                <a:effectLst/>
                <a:latin typeface="Ethiopic Sadiss Light" pitchFamily="2" charset="0"/>
                <a:ea typeface="Times New Roman" panose="02020603050405020304" pitchFamily="18" charset="0"/>
                <a:cs typeface="Times New Roman" panose="02020603050405020304" pitchFamily="18" charset="0"/>
              </a:rPr>
              <a:t>በአካል</a:t>
            </a:r>
            <a:r>
              <a:rPr lang="en-US" sz="3600" dirty="0">
                <a:effectLst/>
                <a:latin typeface="Ethiopic Sadiss Light" pitchFamily="2" charset="0"/>
                <a:ea typeface="Times New Roman" panose="02020603050405020304" pitchFamily="18" charset="0"/>
                <a:cs typeface="Times New Roman" panose="02020603050405020304" pitchFamily="18" charset="0"/>
              </a:rPr>
              <a:t> </a:t>
            </a:r>
            <a:r>
              <a:rPr lang="en-US" sz="3600" dirty="0" err="1">
                <a:effectLst/>
                <a:latin typeface="Ethiopic Sadiss Light" pitchFamily="2" charset="0"/>
                <a:ea typeface="Times New Roman" panose="02020603050405020304" pitchFamily="18" charset="0"/>
                <a:cs typeface="Times New Roman" panose="02020603050405020304" pitchFamily="18" charset="0"/>
              </a:rPr>
              <a:t>በእርሱ</a:t>
            </a:r>
            <a:r>
              <a:rPr lang="en-US" sz="3600" dirty="0">
                <a:effectLst/>
                <a:latin typeface="Ethiopic Sadiss Light" pitchFamily="2" charset="0"/>
                <a:ea typeface="Times New Roman" panose="02020603050405020304" pitchFamily="18" charset="0"/>
                <a:cs typeface="Times New Roman" panose="02020603050405020304" pitchFamily="18" charset="0"/>
              </a:rPr>
              <a:t> </a:t>
            </a:r>
            <a:r>
              <a:rPr lang="en-US" sz="3600" dirty="0" err="1">
                <a:effectLst/>
                <a:latin typeface="Ethiopic Sadiss Light" pitchFamily="2" charset="0"/>
                <a:ea typeface="Times New Roman" panose="02020603050405020304" pitchFamily="18" charset="0"/>
                <a:cs typeface="Times New Roman" panose="02020603050405020304" pitchFamily="18" charset="0"/>
              </a:rPr>
              <a:t>ይኖራልና</a:t>
            </a:r>
            <a:r>
              <a:rPr lang="en-US" sz="40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3600" dirty="0">
              <a:effectLst/>
              <a:latin typeface="VG2 Main" panose="020B7200000000000000" pitchFamily="34" charset="0"/>
              <a:ea typeface="Times New Roman" panose="02020603050405020304" pitchFamily="18" charset="0"/>
              <a:cs typeface="Times New Roman" panose="02020603050405020304" pitchFamily="18" charset="0"/>
            </a:endParaRPr>
          </a:p>
          <a:p>
            <a:pPr marL="182880" marR="0" indent="-182880" algn="ctr">
              <a:lnSpc>
                <a:spcPct val="150000"/>
              </a:lnSpc>
              <a:buNone/>
            </a:pP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182880" marR="0" indent="-182880" algn="ctr">
              <a:lnSpc>
                <a:spcPct val="150000"/>
              </a:lnSpc>
              <a:buNone/>
            </a:pPr>
            <a:r>
              <a:rPr lang="el-GR" sz="2800" dirty="0">
                <a:effectLst/>
                <a:latin typeface="Times New Roman" panose="02020603050405020304" pitchFamily="18" charset="0"/>
                <a:ea typeface="Times New Roman" panose="02020603050405020304" pitchFamily="18" charset="0"/>
                <a:cs typeface="Times New Roman" panose="02020603050405020304" pitchFamily="18" charset="0"/>
              </a:rPr>
              <a:t>ὅτι</a:t>
            </a:r>
            <a:r>
              <a:rPr lang="el-GR" sz="2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l-GR" sz="2800" dirty="0">
                <a:effectLst/>
                <a:latin typeface="Times New Roman" panose="02020603050405020304" pitchFamily="18" charset="0"/>
                <a:ea typeface="Times New Roman" panose="02020603050405020304" pitchFamily="18" charset="0"/>
                <a:cs typeface="Times New Roman" panose="02020603050405020304" pitchFamily="18" charset="0"/>
              </a:rPr>
              <a:t>ἐν</a:t>
            </a:r>
            <a:r>
              <a:rPr lang="el-GR" sz="2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l-GR" sz="2800" dirty="0">
                <a:effectLst/>
                <a:latin typeface="Cambria" panose="02040503050406030204" pitchFamily="18" charset="0"/>
                <a:ea typeface="Times New Roman" panose="02020603050405020304" pitchFamily="18" charset="0"/>
                <a:cs typeface="Cambria" panose="02040503050406030204" pitchFamily="18" charset="0"/>
              </a:rPr>
              <a:t>αὐτῷ</a:t>
            </a:r>
            <a:r>
              <a:rPr lang="el-GR" sz="2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l-GR" sz="2800" dirty="0">
                <a:effectLst/>
                <a:latin typeface="Cambria" panose="02040503050406030204" pitchFamily="18" charset="0"/>
                <a:ea typeface="Times New Roman" panose="02020603050405020304" pitchFamily="18" charset="0"/>
                <a:cs typeface="Cambria" panose="02040503050406030204" pitchFamily="18" charset="0"/>
              </a:rPr>
              <a:t>κατοικεῖ</a:t>
            </a:r>
            <a:r>
              <a:rPr lang="el-GR" sz="2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l-GR" sz="2800" dirty="0">
                <a:effectLst/>
                <a:latin typeface="Cambria" panose="02040503050406030204" pitchFamily="18" charset="0"/>
                <a:ea typeface="Times New Roman" panose="02020603050405020304" pitchFamily="18" charset="0"/>
                <a:cs typeface="Cambria" panose="02040503050406030204" pitchFamily="18" charset="0"/>
              </a:rPr>
              <a:t>πᾶν</a:t>
            </a:r>
            <a:r>
              <a:rPr lang="el-GR" sz="2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l-GR" sz="2800" dirty="0">
                <a:effectLst/>
                <a:latin typeface="Cambria" panose="02040503050406030204" pitchFamily="18" charset="0"/>
                <a:ea typeface="Times New Roman" panose="02020603050405020304" pitchFamily="18" charset="0"/>
                <a:cs typeface="Cambria" panose="02040503050406030204" pitchFamily="18" charset="0"/>
              </a:rPr>
              <a:t>τὸ</a:t>
            </a:r>
            <a:r>
              <a:rPr lang="el-GR" sz="2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l-GR" sz="2800" dirty="0">
                <a:effectLst/>
                <a:latin typeface="Cambria" panose="02040503050406030204" pitchFamily="18" charset="0"/>
                <a:ea typeface="Times New Roman" panose="02020603050405020304" pitchFamily="18" charset="0"/>
                <a:cs typeface="Cambria" panose="02040503050406030204" pitchFamily="18" charset="0"/>
              </a:rPr>
              <a:t>πλήρω</a:t>
            </a:r>
            <a:r>
              <a:rPr lang="el-GR" sz="2800" dirty="0">
                <a:effectLst/>
                <a:latin typeface="Power Geez Unicode1" panose="00000400000000000000" pitchFamily="2" charset="0"/>
                <a:ea typeface="Times New Roman" panose="02020603050405020304" pitchFamily="18" charset="0"/>
                <a:cs typeface="Power Geez Unicode1" panose="00000400000000000000" pitchFamily="2" charset="0"/>
              </a:rPr>
              <a:t>μ</a:t>
            </a:r>
            <a:r>
              <a:rPr lang="el-GR" sz="2800" dirty="0">
                <a:effectLst/>
                <a:latin typeface="Cambria" panose="02040503050406030204" pitchFamily="18" charset="0"/>
                <a:ea typeface="Times New Roman" panose="02020603050405020304" pitchFamily="18" charset="0"/>
                <a:cs typeface="Cambria" panose="02040503050406030204" pitchFamily="18" charset="0"/>
              </a:rPr>
              <a:t>α</a:t>
            </a:r>
            <a:r>
              <a:rPr lang="el-GR" sz="2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l-GR" sz="2800" dirty="0">
                <a:effectLst/>
                <a:latin typeface="Cambria" panose="02040503050406030204" pitchFamily="18" charset="0"/>
                <a:ea typeface="Times New Roman" panose="02020603050405020304" pitchFamily="18" charset="0"/>
                <a:cs typeface="Cambria" panose="02040503050406030204" pitchFamily="18" charset="0"/>
              </a:rPr>
              <a:t>τῆς</a:t>
            </a:r>
            <a:r>
              <a:rPr lang="el-GR" sz="2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l-GR" sz="2800" dirty="0">
                <a:effectLst/>
                <a:latin typeface="Cambria" panose="02040503050406030204" pitchFamily="18" charset="0"/>
                <a:ea typeface="Times New Roman" panose="02020603050405020304" pitchFamily="18" charset="0"/>
                <a:cs typeface="Cambria" panose="02040503050406030204" pitchFamily="18" charset="0"/>
              </a:rPr>
              <a:t>θεότητος</a:t>
            </a:r>
            <a:r>
              <a:rPr lang="el-GR" sz="2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l-GR" sz="2800" dirty="0">
                <a:effectLst/>
                <a:latin typeface="Cambria" panose="02040503050406030204" pitchFamily="18" charset="0"/>
                <a:ea typeface="Times New Roman" panose="02020603050405020304" pitchFamily="18" charset="0"/>
                <a:cs typeface="Cambria" panose="02040503050406030204" pitchFamily="18" charset="0"/>
              </a:rPr>
              <a:t>σω</a:t>
            </a:r>
            <a:r>
              <a:rPr lang="el-GR" sz="2800" dirty="0">
                <a:effectLst/>
                <a:latin typeface="Power Geez Unicode1" panose="00000400000000000000" pitchFamily="2" charset="0"/>
                <a:ea typeface="Times New Roman" panose="02020603050405020304" pitchFamily="18" charset="0"/>
                <a:cs typeface="Power Geez Unicode1" panose="00000400000000000000" pitchFamily="2" charset="0"/>
              </a:rPr>
              <a:t>μ</a:t>
            </a:r>
            <a:r>
              <a:rPr lang="el-GR" sz="2800" dirty="0">
                <a:effectLst/>
                <a:latin typeface="Cambria" panose="02040503050406030204" pitchFamily="18" charset="0"/>
                <a:ea typeface="Times New Roman" panose="02020603050405020304" pitchFamily="18" charset="0"/>
                <a:cs typeface="Cambria" panose="02040503050406030204" pitchFamily="18" charset="0"/>
              </a:rPr>
              <a:t>ατικῶς</a:t>
            </a:r>
            <a:r>
              <a:rPr lang="en-GB" sz="28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sz="4000" dirty="0">
              <a:effectLst/>
              <a:latin typeface="VG2 Main" panose="020B7200000000000000" pitchFamily="34" charset="0"/>
              <a:ea typeface="Times New Roman" panose="02020603050405020304" pitchFamily="18" charset="0"/>
              <a:cs typeface="Times New Roman" panose="02020603050405020304" pitchFamily="18" charset="0"/>
            </a:endParaRPr>
          </a:p>
          <a:p>
            <a:pPr marL="114300" marR="0" indent="-114300" algn="just">
              <a:lnSpc>
                <a:spcPct val="150000"/>
              </a:lnSpc>
              <a:buNone/>
            </a:pP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    </a:t>
            </a:r>
          </a:p>
          <a:p>
            <a:pPr marL="114300" indent="-114300" algn="ctr">
              <a:lnSpc>
                <a:spcPct val="150000"/>
              </a:lnSpc>
            </a:pPr>
            <a:r>
              <a:rPr lang="en-US" sz="2800" dirty="0" err="1">
                <a:latin typeface="Ethiopic Yebse" panose="02000500000000000000" pitchFamily="2" charset="0"/>
                <a:ea typeface="Times New Roman" panose="02020603050405020304" pitchFamily="18" charset="0"/>
                <a:cs typeface="Times New Roman" panose="02020603050405020304" pitchFamily="18" charset="0"/>
              </a:rPr>
              <a:t>ቈላስይስ</a:t>
            </a:r>
            <a:r>
              <a:rPr lang="en-US" sz="2800" dirty="0">
                <a:latin typeface="Ethiopic Yebse" panose="02000500000000000000" pitchFamily="2" charset="0"/>
                <a:ea typeface="Times New Roman" panose="02020603050405020304" pitchFamily="18" charset="0"/>
                <a:cs typeface="Times New Roman" panose="02020603050405020304" pitchFamily="18" charset="0"/>
              </a:rPr>
              <a:t> 2፥9</a:t>
            </a:r>
            <a:endParaRPr lang="en-US" sz="2400" dirty="0">
              <a:latin typeface="VG2 Main" panose="020B7200000000000000" pitchFamily="34" charset="0"/>
              <a:ea typeface="Times New Roman" panose="02020603050405020304" pitchFamily="18" charset="0"/>
              <a:cs typeface="Times New Roman" panose="02020603050405020304" pitchFamily="18" charset="0"/>
            </a:endParaRPr>
          </a:p>
          <a:p>
            <a:pPr marL="114300" marR="0" indent="-114300" algn="just">
              <a:lnSpc>
                <a:spcPct val="150000"/>
              </a:lnSpc>
              <a:buNone/>
            </a:pPr>
            <a:endParaRPr lang="en-GB" dirty="0">
              <a:latin typeface="Garamond" panose="02020404030301010803" pitchFamily="18" charset="0"/>
              <a:ea typeface="Times New Roman" panose="02020603050405020304" pitchFamily="18" charset="0"/>
              <a:cs typeface="Times New Roman" panose="02020603050405020304" pitchFamily="18" charset="0"/>
            </a:endParaRPr>
          </a:p>
          <a:p>
            <a:pPr marL="114300" marR="0" indent="-114300" algn="just">
              <a:lnSpc>
                <a:spcPct val="150000"/>
              </a:lnSpc>
              <a:buNone/>
            </a:pPr>
            <a:endParaRPr lang="en-US" sz="28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70372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B5A02EF-94C9-DF5A-EE41-DC59B794AD83}"/>
              </a:ext>
            </a:extLst>
          </p:cNvPr>
          <p:cNvSpPr txBox="1"/>
          <p:nvPr/>
        </p:nvSpPr>
        <p:spPr>
          <a:xfrm>
            <a:off x="558800" y="779902"/>
            <a:ext cx="10617199" cy="1296893"/>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ክፍሉ</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የሐዋርያት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ቤተ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ክርስቲያን</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መምህራን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እንደሚሉት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በአንድ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መዋሐዳቸውን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ስለዚህም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ውስጥ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መኖሩንና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ክርስቶስ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የለበሰው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አንዳችም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ትምህርት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የለውም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a:t>
            </a:r>
            <a:endParaRPr lang="en-US" dirty="0"/>
          </a:p>
        </p:txBody>
      </p:sp>
      <p:sp>
        <p:nvSpPr>
          <p:cNvPr id="5" name="TextBox 4">
            <a:extLst>
              <a:ext uri="{FF2B5EF4-FFF2-40B4-BE49-F238E27FC236}">
                <a16:creationId xmlns:a16="http://schemas.microsoft.com/office/drawing/2014/main" id="{5790810F-7D0E-F072-13D7-85DA0452D76E}"/>
              </a:ext>
            </a:extLst>
          </p:cNvPr>
          <p:cNvSpPr txBox="1"/>
          <p:nvPr/>
        </p:nvSpPr>
        <p:spPr>
          <a:xfrm>
            <a:off x="745067" y="2019990"/>
            <a:ext cx="10617199" cy="2956066"/>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b="1" i="1" dirty="0" err="1">
                <a:effectLst/>
                <a:latin typeface="Power Geez Unicode1" panose="00000400000000000000" pitchFamily="2" charset="0"/>
                <a:ea typeface="Times New Roman" panose="02020603050405020304" pitchFamily="18" charset="0"/>
                <a:cs typeface="Times New Roman" panose="02020603050405020304" pitchFamily="18" charset="0"/>
              </a:rPr>
              <a:t>አንደኛ</a:t>
            </a:r>
            <a:r>
              <a:rPr lang="en-GB" sz="1800" b="1" i="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የግእዙን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የመጽሐፍ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ቅዱስ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ቅጅ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ጨምሮ</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ሁሉም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የዐማርኛ</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የመጽሐፍ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ቅዱስ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ትርጒሞች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መለኮት</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ሲሉ</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የተረጐሙት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ቴዎቴቶስ</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l-GR" sz="1800" dirty="0">
                <a:effectLst/>
                <a:latin typeface="BibliaLS"/>
                <a:ea typeface="Times New Roman" panose="02020603050405020304" pitchFamily="18" charset="0"/>
              </a:rPr>
              <a:t>θεότητος</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የግሪክ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የኪንግ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ጀምስ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ትርጒም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ቴዎቴቶስ</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የግሪክ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ግጻዌ</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መለኮት</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(“Godhead”)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ብሎ</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ተርጒሞታል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ጥንታዊ</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በሆነው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ሼክስፒራዊ</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እንግሊዝኛ</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head</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በዘመነኛው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እንግሊዝኛ</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hood</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ጋር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ተመሳሳይ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ትርጒም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እንዳለው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የመስኩ</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ምሁራን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ያስረዳሉ</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ለምሳሌ</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bachelorhood</a:t>
            </a:r>
            <a:r>
              <a:rPr lang="en-GB" sz="1800" dirty="0">
                <a:effectLst/>
                <a:latin typeface="Times New Roman" panose="02020603050405020304" pitchFamily="18" charset="0"/>
                <a:ea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womanhood</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የወንደላጤነት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ባሕርይ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የሴትነት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ባሕርይ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ወዘተ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ስለዚህ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በዚያን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ጊዜ</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“Godhead”</a:t>
            </a:r>
            <a:r>
              <a:rPr lang="en-GB" sz="1800" dirty="0">
                <a:effectLst/>
                <a:latin typeface="Aegyptus" panose="020405020508060A0203" pitchFamily="18"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በዘመነኛው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የእንግሊዝኛ</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ቋንቋ</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“Godhood”</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ጋር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ዐይነት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ትርጒም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a:t>
            </a:r>
            <a:endParaRPr lang="en-US" sz="14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65942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B3CA7F6-0D61-B19F-9E49-78E5005B2A1C}"/>
              </a:ext>
            </a:extLst>
          </p:cNvPr>
          <p:cNvSpPr txBox="1"/>
          <p:nvPr/>
        </p:nvSpPr>
        <p:spPr>
          <a:xfrm>
            <a:off x="753533" y="1566250"/>
            <a:ext cx="10684933" cy="3362202"/>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b="1" i="1" dirty="0" err="1">
                <a:effectLst/>
                <a:latin typeface="Power Geez Unicode1" panose="00000400000000000000" pitchFamily="2" charset="0"/>
                <a:ea typeface="Times New Roman" panose="02020603050405020304" pitchFamily="18" charset="0"/>
                <a:cs typeface="Times New Roman" panose="02020603050405020304" pitchFamily="18" charset="0"/>
              </a:rPr>
              <a:t>ሁለተኛ</a:t>
            </a:r>
            <a:r>
              <a:rPr lang="en-GB" sz="1800" b="1" i="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ከቈላስይስ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2</a:t>
            </a:r>
            <a:r>
              <a:rPr lang="en-GB" sz="18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9</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ጋር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ተመሳሳይነት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የቈላስይስ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a:t>
            </a:r>
            <a:r>
              <a:rPr lang="en-GB" sz="18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19</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ክፍል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እግዚአብሔር</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l-GR" sz="1800" dirty="0">
                <a:effectLst/>
                <a:latin typeface="Times New Roman" panose="02020603050405020304" pitchFamily="18" charset="0"/>
                <a:ea typeface="Times New Roman" panose="02020603050405020304" pitchFamily="18" charset="0"/>
              </a:rPr>
              <a:t>θεός</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ስለሚያመለክት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ቈላስይስ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2</a:t>
            </a:r>
            <a:r>
              <a:rPr lang="en-GB" sz="18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9</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ቴዎቴቶስ</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l-GR" sz="1800" dirty="0">
                <a:effectLst/>
                <a:latin typeface="Times New Roman" panose="02020603050405020304" pitchFamily="18" charset="0"/>
                <a:ea typeface="Times New Roman" panose="02020603050405020304" pitchFamily="18" charset="0"/>
              </a:rPr>
              <a:t>θεότητος</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ባሕርይን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ሳይሆን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የሚያመለክት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የሙግት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ነጥብ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ከሐዋርያት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ቤተ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ክርስቲያን</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መምህራን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ዘንድ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ሊነሣ</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ይችል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ይሆናል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ነገር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ሁለቱ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ክፍሎች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የሚያመሳስላቸው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የጋራ</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ቃላት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ቢኖሩም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በቈላስይስ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a:t>
            </a:r>
            <a:r>
              <a:rPr lang="en-GB" sz="18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19</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ላይ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እግዚአብሔር</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l-GR" sz="1800" dirty="0">
                <a:effectLst/>
                <a:latin typeface="Times New Roman" panose="02020603050405020304" pitchFamily="18" charset="0"/>
                <a:ea typeface="Times New Roman" panose="02020603050405020304" pitchFamily="18" charset="0"/>
              </a:rPr>
              <a:t>θεός</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የለም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ስለዚህ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የሌለውን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ነገር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ብሎ</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ሙግትን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ማዋቀር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ስሕተት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በቈላስይስ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2</a:t>
            </a:r>
            <a:r>
              <a:rPr lang="en-GB" sz="18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9</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ላይ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ቴዎቴቶስ</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l-GR" sz="1800" dirty="0">
                <a:effectLst/>
                <a:latin typeface="Times New Roman" panose="02020603050405020304" pitchFamily="18" charset="0"/>
                <a:ea typeface="Times New Roman" panose="02020603050405020304" pitchFamily="18" charset="0"/>
              </a:rPr>
              <a:t>θεότητος</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ቈላስይስ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a:t>
            </a:r>
            <a:r>
              <a:rPr lang="en-GB" sz="18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19</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ላይ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እግዚአብሔር</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l-GR" sz="1800" dirty="0">
                <a:effectLst/>
                <a:latin typeface="Times New Roman" panose="02020603050405020304" pitchFamily="18" charset="0"/>
                <a:ea typeface="Times New Roman" panose="02020603050405020304" pitchFamily="18" charset="0"/>
              </a:rPr>
              <a:t>θεός</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ጋር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ዐይነት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ለማለት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በእነዚህ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ክፍሎች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ላይ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እነዚህ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ሁለት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ቃላት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መገኘት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ይኖርባቸዋል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a:t>
            </a:r>
            <a:endParaRPr lang="en-US" sz="14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43205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6E29F45-C252-86F9-8BAB-FEFFFD0DCB19}"/>
              </a:ext>
            </a:extLst>
          </p:cNvPr>
          <p:cNvSpPr txBox="1"/>
          <p:nvPr/>
        </p:nvSpPr>
        <p:spPr>
          <a:xfrm>
            <a:off x="736600" y="1136327"/>
            <a:ext cx="10718800" cy="4193199"/>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b="1" i="1" dirty="0" err="1">
                <a:effectLst/>
                <a:latin typeface="Power Geez Unicode1" panose="00000400000000000000" pitchFamily="2" charset="0"/>
                <a:ea typeface="Times New Roman" panose="02020603050405020304" pitchFamily="18" charset="0"/>
                <a:cs typeface="Times New Roman" panose="02020603050405020304" pitchFamily="18" charset="0"/>
              </a:rPr>
              <a:t>ሦስተኛ</a:t>
            </a:r>
            <a:r>
              <a:rPr lang="en-GB" sz="1800" b="1" i="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ቈላስይስ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2</a:t>
            </a:r>
            <a:r>
              <a:rPr lang="en-GB" sz="18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9</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ቴዎቴቶስ</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l-GR" sz="1800" dirty="0">
                <a:effectLst/>
                <a:latin typeface="BibliaLS"/>
                <a:ea typeface="Times New Roman" panose="02020603050405020304" pitchFamily="18" charset="0"/>
                <a:cs typeface="Times New Roman" panose="02020603050405020304" pitchFamily="18" charset="0"/>
              </a:rPr>
              <a:t>θεότητος</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ክርስቶስ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መሆኑን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የሚያመለክት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ወይም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መሆናቸውን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የሚያስተምር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ሳይሆን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አምላክ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መሆኑን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የሚገልጽ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ነገር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ክፍሉ</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ውስጥ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እንዳለ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የሚያሳይ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ቢባል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እንኳ</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ውስጥ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መኖሩ</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አያደርገውም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ቃሉ</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ሳይሆን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አምላካዊ</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ባሕርይን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የሚያሳይ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መሆኑ</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ከላይ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በስፋት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ለመመልከት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ሞክረናል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በመለኮት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መሞላቱ</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ፓን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ቶ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ፕሌሮማ</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l-GR" sz="1800" dirty="0">
                <a:effectLst/>
                <a:latin typeface="Times New Roman" panose="02020603050405020304" pitchFamily="18" charset="0"/>
                <a:ea typeface="Times New Roman" panose="02020603050405020304" pitchFamily="18" charset="0"/>
                <a:cs typeface="Times New Roman" panose="02020603050405020304" pitchFamily="18" charset="0"/>
              </a:rPr>
              <a:t>πᾶν τὸ πλήρωμα</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መሆኑን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የሚያሳይ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ከተባለ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በቈላስይስ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2</a:t>
            </a:r>
            <a:r>
              <a:rPr lang="en-GB" sz="18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10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ላይ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ክርስቲያኖች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ለአለቅነትና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ለሥልጣንም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ሁሉ</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ራስ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በእርሱ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ሆናችሁ</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ተሞልታችኋል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l-GR" sz="1800" dirty="0">
                <a:effectLst/>
                <a:latin typeface="Times New Roman" panose="02020603050405020304" pitchFamily="18" charset="0"/>
                <a:ea typeface="Times New Roman" panose="02020603050405020304" pitchFamily="18" charset="0"/>
                <a:cs typeface="Times New Roman" panose="02020603050405020304" pitchFamily="18" charset="0"/>
              </a:rPr>
              <a:t>πεπληρωμένοι</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መባላቸው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ክርስቲያኖች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እንዲሆኑ</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ያደርጋቸዋል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ውስጥ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መኖሩ</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የሚያደርገው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ሐዋርያው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ጳውሎስ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ክርስቶስ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በእኔ</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ይኖራል</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ገላትያ</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2</a:t>
            </a:r>
            <a:r>
              <a:rPr lang="en-GB" sz="18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20</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አነጋገሩ</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ሐዋርያው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ጳውሎስ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ክርስቶስ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መሆኑን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ያሳያል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43703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2B329FE-64B1-C37E-E9B8-6493CFD9A84E}"/>
              </a:ext>
            </a:extLst>
          </p:cNvPr>
          <p:cNvSpPr txBox="1"/>
          <p:nvPr/>
        </p:nvSpPr>
        <p:spPr>
          <a:xfrm>
            <a:off x="609600" y="623618"/>
            <a:ext cx="10668000" cy="2531206"/>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b="1" i="1" dirty="0" err="1">
                <a:effectLst/>
                <a:latin typeface="Power Geez Unicode1" panose="00000400000000000000" pitchFamily="2" charset="0"/>
                <a:ea typeface="Times New Roman" panose="02020603050405020304" pitchFamily="18" charset="0"/>
                <a:cs typeface="Times New Roman" panose="02020603050405020304" pitchFamily="18" charset="0"/>
              </a:rPr>
              <a:t>አራተኛ</a:t>
            </a:r>
            <a:r>
              <a:rPr lang="en-GB" sz="1800" b="1" i="1" dirty="0">
                <a:effectLst/>
                <a:latin typeface="Power Geez Unicode1" panose="00000400000000000000" pitchFamily="2"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የክፍሉ</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የቅርብ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ዐውድ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የቈላስይስ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ምዕራፍ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የተለያዩ</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አካላት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መሆናቸውን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በግልጽ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ያስተምራል</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ቈላስይስ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Nyala" panose="02000504070300020003" pitchFamily="2" charset="0"/>
              </a:rPr>
              <a:t>1÷15-17</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ምሳሌ</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እንጂ</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አይደለም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ቈላስይስ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Nyala" panose="02000504070300020003" pitchFamily="2" charset="0"/>
              </a:rPr>
              <a:t>1÷3</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በኲል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ማመስገናችን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እንዳልሆነ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አስተማሪ</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ንግግር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ትርጒም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የለሽ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ቈላስይስ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Nyala" panose="02000504070300020003" pitchFamily="2" charset="0"/>
              </a:rPr>
              <a:t>1÷13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ልጁ</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መንግሥት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ካፈለሰን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ሊሆኑ</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አይችሉም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ቈላስይስ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Nyala" panose="02000504070300020003" pitchFamily="2" charset="0"/>
              </a:rPr>
              <a:t>3÷1</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ራሱ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ቀኝ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ይኖራል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ንግግር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ትርጒም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የለሽ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ይሆን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ነበር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D7F1DDF-A922-E1DA-AD70-E76A3D80FE48}"/>
              </a:ext>
            </a:extLst>
          </p:cNvPr>
          <p:cNvSpPr txBox="1"/>
          <p:nvPr/>
        </p:nvSpPr>
        <p:spPr>
          <a:xfrm>
            <a:off x="745067" y="3429000"/>
            <a:ext cx="10668000" cy="1700209"/>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በአጠቃላይ</a:t>
            </a:r>
            <a:r>
              <a:rPr lang="en-GB" sz="1800" b="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ቈላስይስ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Nyala" panose="02000504070300020003" pitchFamily="2" charset="0"/>
              </a:rPr>
              <a:t>2÷9</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ቴዎቴቶስ</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l-GR" sz="1800" dirty="0">
                <a:effectLst/>
                <a:latin typeface="Times New Roman" panose="02020603050405020304" pitchFamily="18" charset="0"/>
                <a:ea typeface="Times New Roman" panose="02020603050405020304" pitchFamily="18" charset="0"/>
                <a:cs typeface="Times New Roman" panose="02020603050405020304" pitchFamily="18" charset="0"/>
              </a:rPr>
              <a:t>θεότητος</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የግሪክ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አምላካዊ</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ባሕርይ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እንዳለው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የሚያስተምር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እንጂ</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መሆኑን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የሚያመለክት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አይደለም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ቃሉ</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መሆንን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ቢያመለክት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እንኳ</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ውስጥ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እርሱ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አይደለም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ሆነዋል</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ምንባብ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ወይም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ይህን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መሰል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ገለጻ</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ካልቀረበ</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በቀር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44570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E025C0D-6733-3D2A-CE59-C479EBF6D22D}"/>
              </a:ext>
            </a:extLst>
          </p:cNvPr>
          <p:cNvSpPr txBox="1"/>
          <p:nvPr/>
        </p:nvSpPr>
        <p:spPr>
          <a:xfrm>
            <a:off x="2032000" y="1918394"/>
            <a:ext cx="8128000" cy="1865382"/>
          </a:xfrm>
          <a:prstGeom prst="rect">
            <a:avLst/>
          </a:prstGeom>
          <a:noFill/>
        </p:spPr>
        <p:txBody>
          <a:bodyPr wrap="square">
            <a:spAutoFit/>
          </a:bodyPr>
          <a:lstStyle/>
          <a:p>
            <a:pPr marL="0" marR="0" algn="ctr">
              <a:lnSpc>
                <a:spcPct val="150000"/>
              </a:lnSpc>
              <a:buNone/>
            </a:pP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40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3600" dirty="0" err="1">
                <a:effectLst/>
                <a:latin typeface="Ethiopic Sadiss Light" pitchFamily="2" charset="0"/>
                <a:ea typeface="Times New Roman" panose="02020603050405020304" pitchFamily="18" charset="0"/>
                <a:cs typeface="Times New Roman" panose="02020603050405020304" pitchFamily="18" charset="0"/>
              </a:rPr>
              <a:t>እኔንም</a:t>
            </a:r>
            <a:r>
              <a:rPr lang="en-GB" sz="3600" dirty="0">
                <a:effectLst/>
                <a:latin typeface="Ethiopic Sadiss Light" pitchFamily="2" charset="0"/>
                <a:ea typeface="Times New Roman" panose="02020603050405020304" pitchFamily="18" charset="0"/>
                <a:cs typeface="Times New Roman" panose="02020603050405020304" pitchFamily="18" charset="0"/>
              </a:rPr>
              <a:t> </a:t>
            </a:r>
            <a:r>
              <a:rPr lang="en-GB" sz="3600" dirty="0" err="1">
                <a:effectLst/>
                <a:latin typeface="Ethiopic Sadiss Light" pitchFamily="2" charset="0"/>
                <a:ea typeface="Times New Roman" panose="02020603050405020304" pitchFamily="18" charset="0"/>
                <a:cs typeface="Times New Roman" panose="02020603050405020304" pitchFamily="18" charset="0"/>
              </a:rPr>
              <a:t>የሚያይ</a:t>
            </a:r>
            <a:r>
              <a:rPr lang="en-GB" sz="3600" dirty="0">
                <a:effectLst/>
                <a:latin typeface="Ethiopic Sadiss Light" pitchFamily="2" charset="0"/>
                <a:ea typeface="Times New Roman" panose="02020603050405020304" pitchFamily="18" charset="0"/>
                <a:cs typeface="Times New Roman" panose="02020603050405020304" pitchFamily="18" charset="0"/>
              </a:rPr>
              <a:t> </a:t>
            </a:r>
            <a:r>
              <a:rPr lang="en-GB" sz="3600" dirty="0" err="1">
                <a:effectLst/>
                <a:latin typeface="Ethiopic Sadiss Light" pitchFamily="2" charset="0"/>
                <a:ea typeface="Times New Roman" panose="02020603050405020304" pitchFamily="18" charset="0"/>
                <a:cs typeface="Times New Roman" panose="02020603050405020304" pitchFamily="18" charset="0"/>
              </a:rPr>
              <a:t>የላከኝን</a:t>
            </a:r>
            <a:r>
              <a:rPr lang="en-GB" sz="3600" dirty="0">
                <a:effectLst/>
                <a:latin typeface="Ethiopic Sadiss Light" pitchFamily="2" charset="0"/>
                <a:ea typeface="Times New Roman" panose="02020603050405020304" pitchFamily="18" charset="0"/>
                <a:cs typeface="Times New Roman" panose="02020603050405020304" pitchFamily="18" charset="0"/>
              </a:rPr>
              <a:t> </a:t>
            </a:r>
            <a:r>
              <a:rPr lang="en-GB" sz="3600" dirty="0" err="1">
                <a:effectLst/>
                <a:latin typeface="Ethiopic Sadiss Light" pitchFamily="2" charset="0"/>
                <a:ea typeface="Times New Roman" panose="02020603050405020304" pitchFamily="18" charset="0"/>
                <a:cs typeface="Times New Roman" panose="02020603050405020304" pitchFamily="18" charset="0"/>
              </a:rPr>
              <a:t>ያያል</a:t>
            </a:r>
            <a:r>
              <a:rPr lang="en-GB" sz="4000" dirty="0">
                <a:effectLst/>
                <a:latin typeface="Times New Roman" panose="02020603050405020304" pitchFamily="18" charset="0"/>
                <a:ea typeface="Times New Roman" panose="02020603050405020304" pitchFamily="18" charset="0"/>
                <a:cs typeface="Times New Roman" panose="02020603050405020304" pitchFamily="18" charset="0"/>
              </a:rPr>
              <a:t>”</a:t>
            </a:r>
          </a:p>
          <a:p>
            <a:pPr marL="0" marR="0" algn="ctr">
              <a:lnSpc>
                <a:spcPct val="150000"/>
              </a:lnSpc>
              <a:buNone/>
            </a:pPr>
            <a:r>
              <a:rPr lang="el-GR" sz="2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l-GR" sz="2800" dirty="0">
                <a:effectLst/>
                <a:latin typeface="Gentium" panose="02000503060000020004" pitchFamily="2" charset="0"/>
                <a:ea typeface="Times New Roman" panose="02020603050405020304" pitchFamily="18" charset="0"/>
                <a:cs typeface="Times New Roman" panose="02020603050405020304" pitchFamily="18" charset="0"/>
              </a:rPr>
              <a:t>καὶ ὁ θεωρῶν ἐμὲ θεωρεῖ τὸν πέμψαντά με.</a:t>
            </a:r>
            <a:r>
              <a:rPr lang="el-GR" sz="28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4000" dirty="0">
              <a:effectLst/>
              <a:latin typeface="VG2 Main" panose="020B7200000000000000" pitchFamily="34" charset="0"/>
              <a:ea typeface="Times New Roman" panose="02020603050405020304" pitchFamily="18" charset="0"/>
              <a:cs typeface="Times New Roman" panose="02020603050405020304" pitchFamily="18" charset="0"/>
            </a:endParaRPr>
          </a:p>
          <a:p>
            <a:pPr marL="182880" marR="0" indent="-182880" algn="just">
              <a:lnSpc>
                <a:spcPts val="1500"/>
              </a:lnSpc>
              <a:buNone/>
            </a:pPr>
            <a:r>
              <a:rPr lang="el-GR" sz="1800" kern="100" dirty="0">
                <a:effectLst/>
                <a:latin typeface="Garamond" panose="02020404030301010803" pitchFamily="18" charset="0"/>
                <a:ea typeface="Aptos" panose="020B0004020202020204" pitchFamily="34" charset="0"/>
                <a:cs typeface="Times New Roman" panose="02020603050405020304" pitchFamily="18" charset="0"/>
              </a:rPr>
              <a:t>       </a:t>
            </a:r>
            <a:endParaRPr lang="en-US" sz="18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9CD05CC-974B-5840-1FD6-9ACE48BB7151}"/>
              </a:ext>
            </a:extLst>
          </p:cNvPr>
          <p:cNvSpPr txBox="1"/>
          <p:nvPr/>
        </p:nvSpPr>
        <p:spPr>
          <a:xfrm>
            <a:off x="3039534" y="4853001"/>
            <a:ext cx="6112932" cy="646331"/>
          </a:xfrm>
          <a:prstGeom prst="rect">
            <a:avLst/>
          </a:prstGeom>
          <a:noFill/>
        </p:spPr>
        <p:txBody>
          <a:bodyPr wrap="square">
            <a:spAutoFit/>
          </a:bodyPr>
          <a:lstStyle/>
          <a:p>
            <a:pPr algn="ctr"/>
            <a:r>
              <a:rPr lang="en-GB" sz="3600" b="1" dirty="0" err="1">
                <a:effectLst/>
                <a:latin typeface="Ethiopic Yebse" panose="02000500000000000000" pitchFamily="2" charset="0"/>
                <a:ea typeface="Times New Roman" panose="02020603050405020304" pitchFamily="18" charset="0"/>
                <a:cs typeface="Times New Roman" panose="02020603050405020304" pitchFamily="18" charset="0"/>
              </a:rPr>
              <a:t>ዮሐንስ</a:t>
            </a:r>
            <a:r>
              <a:rPr lang="en-GB" sz="3600" b="1" dirty="0">
                <a:effectLst/>
                <a:latin typeface="Ethiopic Yebse" panose="02000500000000000000" pitchFamily="2" charset="0"/>
                <a:ea typeface="Times New Roman" panose="02020603050405020304" pitchFamily="18" charset="0"/>
                <a:cs typeface="Times New Roman" panose="02020603050405020304" pitchFamily="18" charset="0"/>
              </a:rPr>
              <a:t> 12፥45</a:t>
            </a:r>
            <a:endParaRPr lang="en-US" sz="3600" dirty="0"/>
          </a:p>
        </p:txBody>
      </p:sp>
    </p:spTree>
    <p:extLst>
      <p:ext uri="{BB962C8B-B14F-4D97-AF65-F5344CB8AC3E}">
        <p14:creationId xmlns:p14="http://schemas.microsoft.com/office/powerpoint/2010/main" val="12202083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2E32D7C-D347-6B81-4929-B954AF641841}"/>
              </a:ext>
            </a:extLst>
          </p:cNvPr>
          <p:cNvSpPr txBox="1"/>
          <p:nvPr/>
        </p:nvSpPr>
        <p:spPr>
          <a:xfrm>
            <a:off x="795866" y="796706"/>
            <a:ext cx="7823200" cy="4202561"/>
          </a:xfrm>
          <a:prstGeom prst="rect">
            <a:avLst/>
          </a:prstGeom>
          <a:noFill/>
        </p:spPr>
        <p:txBody>
          <a:bodyPr wrap="square">
            <a:spAutoFit/>
          </a:bodyPr>
          <a:lstStyle/>
          <a:p>
            <a:pPr marL="0" marR="0" algn="just">
              <a:lnSpc>
                <a:spcPct val="150000"/>
              </a:lnSpc>
              <a:buNone/>
            </a:pP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በዓለም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ዐቀፍ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ደረጃ</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የድርጅቱ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የበላይ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ጠባቂ</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የሆኑት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ዴቪድ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ኬ.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በርናርድ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ይህን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ክፍል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በተመለከተ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ሰው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አምላኩ</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የሚመለከተው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እየተመለከተ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አስተያየት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አላቸው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ልክ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እንደዚሁ</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ቢሾፕ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ተክለ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ማርያምም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ክፍል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መሆናቸውን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ያስተምራል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ይሉናል</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a:p>
            <a:pPr marL="342900" marR="0" lvl="0" indent="-342900" algn="just">
              <a:lnSpc>
                <a:spcPct val="150000"/>
              </a:lnSpc>
              <a:buSzPts val="1200"/>
              <a:buFont typeface="Courier New" panose="02070309020205020404" pitchFamily="49" charset="0"/>
              <a:buChar char="□"/>
            </a:pPr>
            <a:r>
              <a:rPr lang="en-GB" sz="14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በዮሐ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12÷44-45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ጮኸ</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እንዲህም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በእኔ</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የሚያምን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በላከኝ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ማመኑ</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እንጂ</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በእኔ</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አይደለም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እኔንም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የላከኝን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ያያል</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በማለት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በአንድ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የተዋሐዱ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መሆናቸውን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ያረጋግጣል</a:t>
            </a:r>
            <a:r>
              <a:rPr lang="en-GB" sz="14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a:p>
            <a:pPr marL="342900" marR="0" lvl="0" indent="-342900" algn="just">
              <a:lnSpc>
                <a:spcPct val="150000"/>
              </a:lnSpc>
              <a:buSzPts val="1200"/>
              <a:buFont typeface="Courier New" panose="02070309020205020404" pitchFamily="49" charset="0"/>
              <a:buChar char="□"/>
            </a:pP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ቅዱስ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ቃሉን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በማስተዋል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ብንመረምር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ጌታ</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ራሱን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ስለመለኮትነቱም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ውሕደት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በጩኸት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የመሰከረው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ይበቃናል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ዮሐ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12</a:t>
            </a:r>
            <a:r>
              <a:rPr lang="en-GB" sz="18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44-45</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p:txBody>
      </p:sp>
      <p:pic>
        <p:nvPicPr>
          <p:cNvPr id="5" name="Picture 4" descr="A book cover with a building and a tall white tower&#10;&#10;AI-generated content may be incorrect.">
            <a:extLst>
              <a:ext uri="{FF2B5EF4-FFF2-40B4-BE49-F238E27FC236}">
                <a16:creationId xmlns:a16="http://schemas.microsoft.com/office/drawing/2014/main" id="{DB4C9F17-65A3-D63E-99C0-D273189E5E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75223" y="908917"/>
            <a:ext cx="1575955" cy="2398568"/>
          </a:xfrm>
          <a:prstGeom prst="rect">
            <a:avLst/>
          </a:prstGeom>
        </p:spPr>
      </p:pic>
      <p:pic>
        <p:nvPicPr>
          <p:cNvPr id="6" name="Picture 5" descr="A person standing in front of a person&#10;&#10;AI-generated content may be incorrect.">
            <a:extLst>
              <a:ext uri="{FF2B5EF4-FFF2-40B4-BE49-F238E27FC236}">
                <a16:creationId xmlns:a16="http://schemas.microsoft.com/office/drawing/2014/main" id="{28B826B8-D4F5-FA2B-6BBE-1E7F5EDA80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22390" y="3550516"/>
            <a:ext cx="1728788" cy="2305050"/>
          </a:xfrm>
          <a:prstGeom prst="rect">
            <a:avLst/>
          </a:prstGeom>
        </p:spPr>
      </p:pic>
    </p:spTree>
    <p:extLst>
      <p:ext uri="{BB962C8B-B14F-4D97-AF65-F5344CB8AC3E}">
        <p14:creationId xmlns:p14="http://schemas.microsoft.com/office/powerpoint/2010/main" val="22701933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125204-9E90-8D45-720D-D314D0B104BF}"/>
              </a:ext>
            </a:extLst>
          </p:cNvPr>
          <p:cNvSpPr txBox="1"/>
          <p:nvPr/>
        </p:nvSpPr>
        <p:spPr>
          <a:xfrm>
            <a:off x="592667" y="570637"/>
            <a:ext cx="10820400" cy="1296893"/>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GB" sz="1800" b="1" dirty="0" err="1">
                <a:effectLst/>
                <a:latin typeface="Power Geez Unicode1" panose="00000400000000000000" pitchFamily="2" charset="0"/>
                <a:ea typeface="Malgun Gothic" panose="020B0503020000020004" pitchFamily="34" charset="-127"/>
                <a:cs typeface="Malgun Gothic" panose="020B0503020000020004" pitchFamily="34" charset="-127"/>
              </a:rPr>
              <a:t>አንደኛ</a:t>
            </a:r>
            <a:r>
              <a:rPr lang="en-GB" sz="1800" b="1" dirty="0">
                <a:effectLst/>
                <a:latin typeface="Power Geez Unicode1" panose="00000400000000000000" pitchFamily="2" charset="0"/>
                <a:ea typeface="Malgun Gothic" panose="020B0503020000020004" pitchFamily="34" charset="-127"/>
                <a:cs typeface="Malgun Gothic" panose="020B0503020000020004" pitchFamily="34" charset="-127"/>
              </a:rPr>
              <a:t>፤</a:t>
            </a:r>
            <a:r>
              <a:rPr lang="en-GB" sz="1800" b="1" i="1"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በዐውዱ</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ውስጥ</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ኢየሱስ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ከላከው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አብ</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ራሱን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ለይቶ</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አቅርቦአል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ይኸውም</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ራሱን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እንደ</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መልእክተኛ</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አባቱን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ደግሞ</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እንደ</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ላኪ</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Times New Roman" panose="02020603050405020304" pitchFamily="18" charset="0"/>
                <a:ea typeface="Malgun Gothic" panose="020B0503020000020004" pitchFamily="34" charset="-127"/>
              </a:rPr>
              <a:t>“</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ማንም</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በእኔ</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ቢያምን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በእኔ</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ብቻ</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ሳይሆን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በላከኝም</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ማመኑ</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ነው</a:t>
            </a:r>
            <a:r>
              <a:rPr lang="en-GB" sz="1800" dirty="0">
                <a:effectLst/>
                <a:latin typeface="Times New Roman" panose="02020603050405020304" pitchFamily="18" charset="0"/>
                <a:ea typeface="Malgun Gothic" panose="020B0503020000020004" pitchFamily="34" charset="-127"/>
              </a:rPr>
              <a:t>”</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Garamond" panose="02020404030301010803" pitchFamily="18" charset="0"/>
                <a:ea typeface="Malgun Gothic" panose="020B0503020000020004" pitchFamily="34" charset="-127"/>
                <a:cs typeface="Malgun Gothic" panose="020B0503020000020004" pitchFamily="34" charset="-127"/>
              </a:rPr>
              <a:t>(</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ቍጥር</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Garamond" panose="02020404030301010803" pitchFamily="18" charset="0"/>
                <a:ea typeface="Malgun Gothic" panose="020B0503020000020004" pitchFamily="34" charset="-127"/>
                <a:cs typeface="Malgun Gothic" panose="020B0503020000020004" pitchFamily="34" charset="-127"/>
              </a:rPr>
              <a:t>44)</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Times New Roman" panose="02020603050405020304" pitchFamily="18" charset="0"/>
                <a:ea typeface="Malgun Gothic" panose="020B0503020000020004" pitchFamily="34" charset="-127"/>
              </a:rPr>
              <a:t>“</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በእኔ</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ብቻ</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ሳይሆን</a:t>
            </a:r>
            <a:r>
              <a:rPr lang="en-GB" sz="1800" dirty="0">
                <a:effectLst/>
                <a:latin typeface="Times New Roman" panose="02020603050405020304" pitchFamily="18" charset="0"/>
                <a:ea typeface="Malgun Gothic" panose="020B0503020000020004" pitchFamily="34" charset="-127"/>
              </a:rPr>
              <a:t>”</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የሚለው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ሐረግ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አብና</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ወልድ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የተለያዩ</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አካላት</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መሆናቸውን</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የሚገልጽ</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ነው</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a:t>
            </a:r>
            <a:endParaRPr lang="en-US" dirty="0"/>
          </a:p>
        </p:txBody>
      </p:sp>
      <p:sp>
        <p:nvSpPr>
          <p:cNvPr id="5" name="TextBox 4">
            <a:extLst>
              <a:ext uri="{FF2B5EF4-FFF2-40B4-BE49-F238E27FC236}">
                <a16:creationId xmlns:a16="http://schemas.microsoft.com/office/drawing/2014/main" id="{7B17CBAC-34A3-0925-317D-057BB6F28A3C}"/>
              </a:ext>
            </a:extLst>
          </p:cNvPr>
          <p:cNvSpPr txBox="1"/>
          <p:nvPr/>
        </p:nvSpPr>
        <p:spPr>
          <a:xfrm>
            <a:off x="592667" y="2145411"/>
            <a:ext cx="10820400" cy="1712392"/>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GB" sz="1800" b="1" dirty="0" err="1">
                <a:effectLst/>
                <a:latin typeface="Power Geez Unicode1" panose="00000400000000000000" pitchFamily="2" charset="0"/>
                <a:ea typeface="Malgun Gothic" panose="020B0503020000020004" pitchFamily="34" charset="-127"/>
                <a:cs typeface="Malgun Gothic" panose="020B0503020000020004" pitchFamily="34" charset="-127"/>
              </a:rPr>
              <a:t>ሁለተኛ</a:t>
            </a:r>
            <a:r>
              <a:rPr lang="en-GB" sz="1800" b="1" dirty="0">
                <a:effectLst/>
                <a:latin typeface="Power Geez Unicode1" panose="00000400000000000000" pitchFamily="2" charset="0"/>
                <a:ea typeface="Malgun Gothic" panose="020B0503020000020004" pitchFamily="34" charset="-127"/>
                <a:cs typeface="Malgun Gothic" panose="020B0503020000020004" pitchFamily="34" charset="-127"/>
              </a:rPr>
              <a:t>፤</a:t>
            </a:r>
            <a:r>
              <a:rPr lang="en-GB" sz="1800" b="1" i="1"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በዐውዱ</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ውስጥ</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Times New Roman" panose="02020603050405020304" pitchFamily="18" charset="0"/>
                <a:ea typeface="Malgun Gothic" panose="020B0503020000020004" pitchFamily="34" charset="-127"/>
              </a:rPr>
              <a:t>“</a:t>
            </a:r>
            <a:r>
              <a:rPr lang="en-GB" sz="1800" dirty="0" err="1">
                <a:effectLst/>
                <a:latin typeface="Power Geez Unicode1" panose="00000400000000000000" pitchFamily="2" charset="0"/>
                <a:ea typeface="Malgun Gothic" panose="020B0503020000020004" pitchFamily="34" charset="-127"/>
                <a:cs typeface="Malgun Gothic" panose="020B0503020000020004" pitchFamily="34" charset="-127"/>
              </a:rPr>
              <a:t>እኔ</a:t>
            </a:r>
            <a:r>
              <a:rPr lang="en-GB" sz="1800" dirty="0">
                <a:effectLst/>
                <a:latin typeface="Times New Roman" panose="02020603050405020304" pitchFamily="18" charset="0"/>
                <a:ea typeface="Malgun Gothic" panose="020B0503020000020004" pitchFamily="34" charset="-127"/>
              </a:rPr>
              <a:t>”</a:t>
            </a:r>
            <a:r>
              <a:rPr lang="en-GB" sz="1800" dirty="0">
                <a:effectLst/>
                <a:latin typeface="Power Geez Unicode1" panose="00000400000000000000" pitchFamily="2" charset="0"/>
                <a:ea typeface="Malgun Gothic" panose="020B0503020000020004" pitchFamily="34" charset="-127"/>
                <a:cs typeface="Malgun Gothic" panose="020B0503020000020004" pitchFamily="34" charset="-127"/>
              </a:rPr>
              <a:t> </a:t>
            </a:r>
            <a:r>
              <a:rPr lang="en-GB" sz="1800" dirty="0">
                <a:effectLst/>
                <a:latin typeface="Times New Roman" panose="02020603050405020304" pitchFamily="18" charset="0"/>
                <a:ea typeface="Times New Roman" panose="02020603050405020304" pitchFamily="18" charset="0"/>
              </a:rPr>
              <a:t>(</a:t>
            </a:r>
            <a:r>
              <a:rPr lang="el-GR" sz="1800" dirty="0">
                <a:effectLst/>
                <a:latin typeface="Times New Roman" panose="02020603050405020304" pitchFamily="18" charset="0"/>
                <a:ea typeface="Times New Roman" panose="02020603050405020304" pitchFamily="18" charset="0"/>
              </a:rPr>
              <a:t>ἐμὲ</a:t>
            </a:r>
            <a:r>
              <a:rPr lang="en-GB" sz="1800" dirty="0">
                <a:effectLst/>
                <a:latin typeface="Times New Roman" panose="02020603050405020304" pitchFamily="18" charset="0"/>
                <a:ea typeface="Times New Roman" panose="02020603050405020304" pitchFamily="18" charset="0"/>
              </a:rPr>
              <a:t>, </a:t>
            </a:r>
            <a:r>
              <a:rPr lang="el-GR" sz="1800" dirty="0">
                <a:effectLst/>
                <a:latin typeface="Times New Roman" panose="02020603050405020304" pitchFamily="18" charset="0"/>
                <a:ea typeface="Times New Roman" panose="02020603050405020304" pitchFamily="18" charset="0"/>
              </a:rPr>
              <a:t>ἐγὼ</a:t>
            </a:r>
            <a:r>
              <a:rPr lang="en-GB" sz="1800" dirty="0">
                <a:effectLst/>
                <a:latin typeface="Times New Roman" panose="02020603050405020304" pitchFamily="18" charset="0"/>
                <a:ea typeface="Times New Roman" panose="02020603050405020304" pitchFamily="18" charset="0"/>
              </a:rPr>
              <a:t>, </a:t>
            </a:r>
            <a:r>
              <a:rPr lang="el-GR" sz="1800" dirty="0">
                <a:effectLst/>
                <a:latin typeface="Times New Roman" panose="02020603050405020304" pitchFamily="18" charset="0"/>
                <a:ea typeface="Times New Roman" panose="02020603050405020304" pitchFamily="18" charset="0"/>
              </a:rPr>
              <a:t>μου</a:t>
            </a:r>
            <a:r>
              <a:rPr lang="en-GB" sz="1800" dirty="0">
                <a:effectLst/>
                <a:latin typeface="Times New Roman" panose="02020603050405020304" pitchFamily="18" charset="0"/>
                <a:ea typeface="Times New Roman" panose="02020603050405020304" pitchFamily="18" charset="0"/>
              </a:rPr>
              <a:t>)</a:t>
            </a:r>
            <a:r>
              <a:rPr lang="en-GB" sz="1800" dirty="0">
                <a:effectLst/>
                <a:latin typeface="Nyala" panose="02000504070300020003"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Malgun Gothic" panose="020B0503020000020004" pitchFamily="34" charset="-127"/>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የላከኝ</a:t>
            </a:r>
            <a:r>
              <a:rPr lang="en-GB" sz="1800" dirty="0">
                <a:effectLst/>
                <a:latin typeface="Times New Roman" panose="02020603050405020304" pitchFamily="18" charset="0"/>
                <a:ea typeface="Malgun Gothic" panose="020B0503020000020004" pitchFamily="34" charset="-127"/>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Palatino Linotype" panose="02040502050505030304" pitchFamily="18" charset="0"/>
                <a:ea typeface="Times New Roman" panose="02020603050405020304" pitchFamily="18" charset="0"/>
                <a:cs typeface="Times New Roman" panose="02020603050405020304" pitchFamily="18" charset="0"/>
              </a:rPr>
              <a:t>(</a:t>
            </a:r>
            <a:r>
              <a:rPr lang="el-GR" sz="1800" dirty="0">
                <a:effectLst/>
                <a:latin typeface="BibliaLS"/>
                <a:ea typeface="Times New Roman" panose="02020603050405020304" pitchFamily="18" charset="0"/>
              </a:rPr>
              <a:t>πέμψαντά</a:t>
            </a:r>
            <a:r>
              <a:rPr lang="en-GB" sz="1800" dirty="0">
                <a:effectLst/>
                <a:latin typeface="Palatino Linotype" panose="02040502050505030304" pitchFamily="18" charset="0"/>
                <a:ea typeface="Times New Roman" panose="02020603050405020304" pitchFamily="18" charset="0"/>
                <a:cs typeface="Times New Roman" panose="02020603050405020304" pitchFamily="18" charset="0"/>
              </a:rPr>
              <a:t>)</a:t>
            </a:r>
            <a:r>
              <a:rPr lang="en-GB" sz="1800" dirty="0">
                <a:effectLst/>
                <a:latin typeface="VG2 Main" panose="020B7200000000000000" pitchFamily="34" charset="0"/>
                <a:ea typeface="Times New Roman" panose="02020603050405020304" pitchFamily="18" charset="0"/>
                <a:cs typeface="Times New Roman" panose="02020603050405020304" pitchFamily="18" charset="0"/>
              </a:rPr>
              <a:t>½ </a:t>
            </a:r>
            <a:r>
              <a:rPr lang="en-GB" sz="1800" dirty="0">
                <a:effectLst/>
                <a:latin typeface="Times New Roman" panose="02020603050405020304" pitchFamily="18" charset="0"/>
                <a:ea typeface="Malgun Gothic" panose="020B0503020000020004" pitchFamily="34" charset="-127"/>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ከራሴ</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አልተናገርሁም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ነገር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የላከኝ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a:t>
            </a:r>
            <a:r>
              <a:rPr lang="el-GR" sz="1800" dirty="0">
                <a:effectLst/>
                <a:latin typeface="Times New Roman" panose="02020603050405020304" pitchFamily="18" charset="0"/>
                <a:ea typeface="Times New Roman" panose="02020603050405020304" pitchFamily="18" charset="0"/>
              </a:rPr>
              <a:t>ὁ πέμψας με πατὴρ</a:t>
            </a:r>
            <a:r>
              <a:rPr lang="en-GB" sz="1800" dirty="0">
                <a:effectLst/>
                <a:latin typeface="Times New Roman" panose="02020603050405020304" pitchFamily="18" charset="0"/>
                <a:ea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እንደምናገርና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እንዴት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እንደምናገር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አዘዘኝ</a:t>
            </a:r>
            <a:r>
              <a:rPr lang="en-GB" sz="1800" dirty="0">
                <a:effectLst/>
                <a:latin typeface="Times New Roman" panose="02020603050405020304" pitchFamily="18" charset="0"/>
                <a:ea typeface="Malgun Gothic" panose="020B0503020000020004" pitchFamily="34" charset="-127"/>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ወዘተ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የሚሉት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ገለጻዎች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መሆናቸውን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ሳይሆን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የተለያዩ</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አካላት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መሆናቸውን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በግልጽ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የሚያስተምር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dirty="0"/>
          </a:p>
        </p:txBody>
      </p:sp>
      <p:sp>
        <p:nvSpPr>
          <p:cNvPr id="7" name="TextBox 6">
            <a:extLst>
              <a:ext uri="{FF2B5EF4-FFF2-40B4-BE49-F238E27FC236}">
                <a16:creationId xmlns:a16="http://schemas.microsoft.com/office/drawing/2014/main" id="{A2699144-4894-E05C-90A1-433201992447}"/>
              </a:ext>
            </a:extLst>
          </p:cNvPr>
          <p:cNvSpPr txBox="1"/>
          <p:nvPr/>
        </p:nvSpPr>
        <p:spPr>
          <a:xfrm>
            <a:off x="592668" y="4135685"/>
            <a:ext cx="11006666" cy="1709571"/>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ሦስተኛ</a:t>
            </a:r>
            <a:r>
              <a:rPr lang="en-GB" sz="1800" b="1"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ድርጅቱ</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ትምህርት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በኢየሱስ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ውስጥ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መለኮት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እንዲሁም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መንፈስ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መሆኑ</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ተቀባይነት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ካለው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የላከኝን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ያያል</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ገለጻ</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ማየት</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ቃል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በአካለ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ሥጋ</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ማየትን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ሊያመለክት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አይችልም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ምክንያቱም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እግዚአብሔር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የማይታይ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የማይዳሰስ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መንፈስ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Malgun Gothic" panose="020B0503020000020004" pitchFamily="34" charset="-127"/>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ዮሐንስ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4</a:t>
            </a:r>
            <a:r>
              <a:rPr lang="en-GB" sz="18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24)</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ሰዎችም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እግዚአብሔርን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በአካለ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ሥጋ</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አይተውት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አያውቁም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ዮሐንስ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a:t>
            </a:r>
            <a:r>
              <a:rPr lang="en-GB" sz="18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18)</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37307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C56D0B-7323-C357-A40F-3909F7CABEFC}"/>
              </a:ext>
            </a:extLst>
          </p:cNvPr>
          <p:cNvSpPr txBox="1"/>
          <p:nvPr/>
        </p:nvSpPr>
        <p:spPr>
          <a:xfrm>
            <a:off x="575732" y="3182854"/>
            <a:ext cx="11040535" cy="2532616"/>
          </a:xfrm>
          <a:prstGeom prst="rect">
            <a:avLst/>
          </a:prstGeom>
          <a:noFill/>
        </p:spPr>
        <p:txBody>
          <a:bodyPr wrap="square">
            <a:spAutoFit/>
          </a:bodyPr>
          <a:lstStyle/>
          <a:p>
            <a:pPr marL="285750" marR="0" indent="-285750" algn="just">
              <a:lnSpc>
                <a:spcPct val="150000"/>
              </a:lnSpc>
              <a:buFont typeface="Wingdings" panose="05000000000000000000" pitchFamily="2" charset="2"/>
              <a:buChar char="q"/>
            </a:pPr>
            <a:r>
              <a:rPr lang="en-GB" sz="1800" b="1" dirty="0" err="1">
                <a:effectLst/>
                <a:latin typeface="Power Geez Unicode1" panose="00000400000000000000" pitchFamily="2" charset="0"/>
                <a:ea typeface="Times New Roman" panose="02020603050405020304" pitchFamily="18" charset="0"/>
                <a:cs typeface="Times New Roman" panose="02020603050405020304" pitchFamily="18" charset="0"/>
              </a:rPr>
              <a:t>አራተኛ</a:t>
            </a:r>
            <a:r>
              <a:rPr lang="en-GB" sz="1800" b="1" dirty="0">
                <a:effectLst/>
                <a:latin typeface="Power Geez Unicode1" panose="00000400000000000000" pitchFamily="2"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ይህን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ክፍል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ከሚከተሉት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የቅርብና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የሩቅ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ዐውደ</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ምንባባት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ጋር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ያነጻጽሩ</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Malgun Gothic" panose="020B0503020000020004" pitchFamily="34" charset="-127"/>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ዮሐንስ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12</a:t>
            </a:r>
            <a:r>
              <a:rPr lang="en-GB" sz="18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41:49:50</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a:t>
            </a:r>
            <a:r>
              <a:rPr lang="en-GB" sz="18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1-2</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Nyala" panose="02000504070300020003" pitchFamily="2" charset="0"/>
              </a:rPr>
              <a:t>5÷</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19</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8</a:t>
            </a:r>
            <a:r>
              <a:rPr lang="en-GB" sz="1800" dirty="0">
                <a:effectLst/>
                <a:latin typeface="Garamond" panose="02020404030301010803" pitchFamily="18" charset="0"/>
                <a:ea typeface="Times New Roman" panose="02020603050405020304" pitchFamily="18" charset="0"/>
                <a:cs typeface="Nyala" panose="02000504070300020003" pitchFamily="2" charset="0"/>
              </a:rPr>
              <a:t>÷</a:t>
            </a:r>
            <a:r>
              <a:rPr lang="en-GB" sz="1800" dirty="0">
                <a:effectLst/>
                <a:latin typeface="Garamond" panose="02020404030301010803" pitchFamily="18" charset="0"/>
                <a:ea typeface="Times New Roman" panose="02020603050405020304" pitchFamily="18" charset="0"/>
                <a:cs typeface="Times New Roman" panose="02020603050405020304" pitchFamily="18" charset="0"/>
              </a:rPr>
              <a:t>16-18)</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a:p>
            <a:pPr marL="285750" marR="0" indent="-285750" algn="just">
              <a:lnSpc>
                <a:spcPct val="150000"/>
              </a:lnSpc>
              <a:buFont typeface="Wingdings" panose="05000000000000000000" pitchFamily="2" charset="2"/>
              <a:buChar char="q"/>
            </a:pP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በአጠቃላይ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ክፍሉም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ክፍሉ</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የሚገኝበት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ዐውድ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የተለያዩ</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አካላት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መሆናቸውን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እንጂ</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ኢየሱስና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ናቸው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አንዳችም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ትምህርት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የለውም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ከዚህ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የምንማረው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የአብና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አንድነት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አኃዛዊ</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አንድነት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ሳይሆን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ባሕርያዊ</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አንድነት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መሆኑን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ምክንያቱም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በላኪውም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በተላኪውም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እንድናምን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መጋበዛችን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ባሕርያዊ</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አንድነት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አምላካዊ</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አንድነት</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እንዳላቸው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አስተማሪ</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a:t>
            </a:r>
            <a:endParaRPr lang="en-US" sz="2000" dirty="0">
              <a:effectLst/>
              <a:latin typeface="VG2 Main" panose="020B7200000000000000" pitchFamily="34" charset="0"/>
              <a:ea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3485DD1-944E-21AB-E992-E38E6DBB6530}"/>
              </a:ext>
            </a:extLst>
          </p:cNvPr>
          <p:cNvSpPr txBox="1"/>
          <p:nvPr/>
        </p:nvSpPr>
        <p:spPr>
          <a:xfrm>
            <a:off x="575732" y="1142530"/>
            <a:ext cx="11040535" cy="1712392"/>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ይህ</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እውነት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ደግሞ</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ያየ</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ያያል</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አነጋገር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አብና</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ወልድ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አንድ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ናቸው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ትርጒም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ሊወክል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በጭራሽ</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አይችልም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ገለጻው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ተምሳሌታዊ</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ገለጻ</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እንጂ</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ቍማዊ</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ገለጻ</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አይደለም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እኔን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ያየ</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ያያል</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የሚለው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አነጋገር</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በቊሙ</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ይተርጐም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ከተባለ</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አብ</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ሥጋ</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ማለት</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ነው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ምክንያቱም</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ዐይን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የሚያየው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ቊሳዊውን</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አካል</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 </a:t>
            </a:r>
            <a:r>
              <a:rPr lang="en-GB" sz="1800" dirty="0" err="1">
                <a:effectLst/>
                <a:latin typeface="Power Geez Unicode1" panose="00000400000000000000" pitchFamily="2" charset="0"/>
                <a:ea typeface="Times New Roman" panose="02020603050405020304" pitchFamily="18" charset="0"/>
                <a:cs typeface="Times New Roman" panose="02020603050405020304" pitchFamily="18" charset="0"/>
              </a:rPr>
              <a:t>ስለሆነ</a:t>
            </a:r>
            <a:r>
              <a:rPr lang="en-GB" sz="1800" dirty="0">
                <a:effectLst/>
                <a:latin typeface="Power Geez Unicode1" panose="00000400000000000000" pitchFamily="2" charset="0"/>
                <a:ea typeface="Times New Roman" panose="02020603050405020304" pitchFamily="18" charset="0"/>
                <a:cs typeface="Times New Roman" panose="02020603050405020304" pitchFamily="18" charset="0"/>
              </a:rPr>
              <a:t>፡፡</a:t>
            </a:r>
            <a:endParaRPr lang="en-US" dirty="0"/>
          </a:p>
        </p:txBody>
      </p:sp>
    </p:spTree>
    <p:extLst>
      <p:ext uri="{BB962C8B-B14F-4D97-AF65-F5344CB8AC3E}">
        <p14:creationId xmlns:p14="http://schemas.microsoft.com/office/powerpoint/2010/main" val="8000000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81BED0-601D-73A1-643F-8408062FCB23}"/>
              </a:ext>
            </a:extLst>
          </p:cNvPr>
          <p:cNvSpPr txBox="1"/>
          <p:nvPr/>
        </p:nvSpPr>
        <p:spPr>
          <a:xfrm>
            <a:off x="787400" y="767855"/>
            <a:ext cx="10557933" cy="4930132"/>
          </a:xfrm>
          <a:prstGeom prst="rect">
            <a:avLst/>
          </a:prstGeom>
          <a:noFill/>
        </p:spPr>
        <p:txBody>
          <a:bodyPr wrap="square">
            <a:spAutoFit/>
          </a:bodyPr>
          <a:lstStyle/>
          <a:p>
            <a:pPr marL="0" marR="0" algn="ctr">
              <a:lnSpc>
                <a:spcPct val="150000"/>
              </a:lnSpc>
              <a:buNone/>
            </a:pPr>
            <a:r>
              <a:rPr lang="en-US" sz="4400" b="1" dirty="0" err="1">
                <a:effectLst/>
                <a:latin typeface="Ethiopic Sadiss Light" pitchFamily="2" charset="0"/>
                <a:ea typeface="Times New Roman" panose="02020603050405020304" pitchFamily="18" charset="0"/>
                <a:cs typeface="Nyala" panose="02000504070300020003" pitchFamily="2" charset="0"/>
              </a:rPr>
              <a:t>ማጠቃለያ</a:t>
            </a:r>
            <a:r>
              <a:rPr lang="en-US" sz="2800" b="1" dirty="0">
                <a:effectLst/>
                <a:latin typeface="Ethiopic Sadiss Light" pitchFamily="2" charset="0"/>
                <a:ea typeface="Times New Roman" panose="02020603050405020304" pitchFamily="18" charset="0"/>
                <a:cs typeface="Nyala" panose="02000504070300020003" pitchFamily="2" charset="0"/>
              </a:rPr>
              <a:t> </a:t>
            </a:r>
            <a:endParaRPr lang="en-US" sz="4400" dirty="0">
              <a:effectLst/>
              <a:latin typeface="Ethiopic Sadiss Light" pitchFamily="2" charset="0"/>
              <a:ea typeface="Times New Roman" panose="02020603050405020304" pitchFamily="18" charset="0"/>
            </a:endParaRPr>
          </a:p>
          <a:p>
            <a:pPr algn="just">
              <a:lnSpc>
                <a:spcPct val="150000"/>
              </a:lnSpc>
              <a:buNone/>
            </a:pP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እስካሁን</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በተመለከትናቸው</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የመጽሐፍ</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ቅዱስ</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ምንባባት</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በግልጽ</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መታዘብ</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የምንችለው</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የድርጅቱ</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ቀሳውስት</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አንድን</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ክፍል</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የሚያብራሩት</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ዐውዱን</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ተከትለው</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ሳይሆን</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በተለያየ</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ዐውድ</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ውስጥ</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የተነገሩ</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ዐረፍተ</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ነገሮችንና</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ዐረጐችን</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ከወዲህና</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ከወዲያ</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ሰብስቦ</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በአንድ</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በማቅረብ</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እየቀጣጠሉ</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ማንበብ</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ነው</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የቢሾፕ</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ተክሌን</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እንዲሁም</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የቢሾፕ</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ደጉ</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ከበደን</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መጻሕፍት</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ስንመለከት</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አንድ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ዐሳብ</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ለመናገር</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ይጠቅሙናል</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የሚሏቸውን</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እጅግ</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በርካታ</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ምንባባት</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ከዐውደ</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ምንባባቸው</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ገንጥለው</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በማቅረብ</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ያሻቸውን</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ነገር</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ለመናገር</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ድጋፍ</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ሰጪ</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ምንበብ</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r>
              <a:rPr lang="en-GB" sz="2400" dirty="0" err="1">
                <a:effectLst/>
                <a:latin typeface="Power Geez Unicode1" panose="00000400000000000000" pitchFamily="2" charset="0"/>
                <a:ea typeface="Times New Roman" panose="02020603050405020304" pitchFamily="18" charset="0"/>
                <a:cs typeface="Nyala" panose="02000504070300020003" pitchFamily="2" charset="0"/>
              </a:rPr>
              <a:t>ያደርጓቸዋል</a:t>
            </a:r>
            <a:r>
              <a:rPr lang="en-GB" sz="2400" dirty="0">
                <a:effectLst/>
                <a:latin typeface="Power Geez Unicode1" panose="00000400000000000000" pitchFamily="2" charset="0"/>
                <a:ea typeface="Times New Roman" panose="02020603050405020304" pitchFamily="18" charset="0"/>
                <a:cs typeface="Nyala" panose="02000504070300020003" pitchFamily="2" charset="0"/>
              </a:rPr>
              <a:t>፡፡ </a:t>
            </a:r>
            <a:endParaRPr lang="en-US" sz="2400" dirty="0"/>
          </a:p>
        </p:txBody>
      </p:sp>
    </p:spTree>
    <p:extLst>
      <p:ext uri="{BB962C8B-B14F-4D97-AF65-F5344CB8AC3E}">
        <p14:creationId xmlns:p14="http://schemas.microsoft.com/office/powerpoint/2010/main" val="37530785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2237</TotalTime>
  <Words>7067</Words>
  <Application>Microsoft Office PowerPoint</Application>
  <PresentationFormat>Widescreen</PresentationFormat>
  <Paragraphs>153</Paragraphs>
  <Slides>53</Slides>
  <Notes>0</Notes>
  <HiddenSlides>0</HiddenSlides>
  <MMClips>0</MMClips>
  <ScaleCrop>false</ScaleCrop>
  <HeadingPairs>
    <vt:vector size="6" baseType="variant">
      <vt:variant>
        <vt:lpstr>Fonts Used</vt:lpstr>
      </vt:variant>
      <vt:variant>
        <vt:i4>20</vt:i4>
      </vt:variant>
      <vt:variant>
        <vt:lpstr>Theme</vt:lpstr>
      </vt:variant>
      <vt:variant>
        <vt:i4>1</vt:i4>
      </vt:variant>
      <vt:variant>
        <vt:lpstr>Slide Titles</vt:lpstr>
      </vt:variant>
      <vt:variant>
        <vt:i4>53</vt:i4>
      </vt:variant>
    </vt:vector>
  </HeadingPairs>
  <TitlesOfParts>
    <vt:vector size="74" baseType="lpstr">
      <vt:lpstr>Aegyptus</vt:lpstr>
      <vt:lpstr>Arial</vt:lpstr>
      <vt:lpstr>BibliaLS</vt:lpstr>
      <vt:lpstr>Cambria</vt:lpstr>
      <vt:lpstr>Comic Sans MS</vt:lpstr>
      <vt:lpstr>Courier New</vt:lpstr>
      <vt:lpstr>Ethiopic Lessan Light</vt:lpstr>
      <vt:lpstr>Ethiopic Sadiss Light</vt:lpstr>
      <vt:lpstr>Ethiopic Yebse</vt:lpstr>
      <vt:lpstr>Garamond</vt:lpstr>
      <vt:lpstr>Gentium</vt:lpstr>
      <vt:lpstr>Georgia</vt:lpstr>
      <vt:lpstr>Kiros</vt:lpstr>
      <vt:lpstr>Nyala</vt:lpstr>
      <vt:lpstr>Palatino Linotype</vt:lpstr>
      <vt:lpstr>Power Geez Unicode1</vt:lpstr>
      <vt:lpstr>Tahoma</vt:lpstr>
      <vt:lpstr>Times New Roman</vt:lpstr>
      <vt:lpstr>VG2 Main</vt:lpstr>
      <vt:lpstr>Wingdings</vt:lpstr>
      <vt:lpstr>Organic</vt:lpstr>
      <vt:lpstr>  አብ፣ ወልድና መንፈስ ቅዱስ የተለያዩ አካላት አይደሉምን? </vt:lpstr>
      <vt:lpstr> ትልም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Tesfaye Tesfaye</dc:creator>
  <cp:lastModifiedBy>Tesfaye Tesfaye</cp:lastModifiedBy>
  <cp:revision>65</cp:revision>
  <dcterms:created xsi:type="dcterms:W3CDTF">2025-07-04T01:43:23Z</dcterms:created>
  <dcterms:modified xsi:type="dcterms:W3CDTF">2025-07-05T15:01:04Z</dcterms:modified>
</cp:coreProperties>
</file>