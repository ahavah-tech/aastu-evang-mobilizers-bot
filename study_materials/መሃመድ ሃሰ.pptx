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3"/>
    <p:sldId id="260" r:id="rId4"/>
    <p:sldId id="261" r:id="rId5"/>
    <p:sldId id="258" r:id="rId6"/>
    <p:sldId id="259" r:id="rId7"/>
    <p:sldId id="257" r:id="rId8"/>
    <p:sldId id="262" r:id="rId9"/>
    <p:sldId id="263" r:id="rId10"/>
    <p:sldId id="264" r:id="rId11"/>
    <p:sldId id="268" r:id="rId12"/>
    <p:sldId id="267" r:id="rId13"/>
    <p:sldId id="265" r:id="rId15"/>
    <p:sldId id="26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122680"/>
            <a:ext cx="11833225" cy="1730375"/>
          </a:xfrm>
        </p:spPr>
        <p:txBody>
          <a:bodyPr/>
          <a:lstStyle/>
          <a:p>
            <a:r>
              <a:rPr lang="en-US" altLang="en-US" sz="8000" i="1" dirty="0">
                <a:solidFill>
                  <a:srgbClr val="FFFF00"/>
                </a:solidFill>
                <a:latin typeface="Power Geez Unicode3" panose="00000400000000000000" charset="0"/>
                <a:cs typeface="Power Geez Unicode3" panose="00000400000000000000" charset="0"/>
              </a:rPr>
              <a:t>ሙሐመድ እውነተኛ ነብይ ነውን?</a:t>
            </a:r>
            <a:endParaRPr lang="en-US" altLang="en-US" sz="8000" i="1" dirty="0">
              <a:solidFill>
                <a:srgbClr val="FFFF00"/>
              </a:solidFill>
              <a:latin typeface="Power Geez Unicode3" panose="00000400000000000000" charset="0"/>
              <a:cs typeface="Power Geez Unicode3" panose="00000400000000000000"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27000" y="1114425"/>
            <a:ext cx="11938000" cy="5133975"/>
          </a:xfrm>
        </p:spPr>
        <p:txBody>
          <a:bodyPr/>
          <a:p>
            <a:r>
              <a:rPr lang="en-US" sz="6000">
                <a:solidFill>
                  <a:schemeClr val="bg1"/>
                </a:solidFill>
                <a:highlight>
                  <a:srgbClr val="0000FF"/>
                </a:highlight>
                <a:latin typeface="Power Geez Unicode3" panose="00000400000000000000" charset="0"/>
                <a:cs typeface="Power Geez Unicode3" panose="00000400000000000000" charset="0"/>
              </a:rPr>
              <a:t>አንደኛ ምስክር፡- ሰይጣናትና በሰይጣን ምሪት የሚተነብዩ የአረብ ጠንቋዮች፣ አስማተኞችና ኮከብ ቆጣሪዎች</a:t>
            </a:r>
            <a:r>
              <a:rPr lang="en-US"/>
              <a:t> </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0"/>
            <a:ext cx="12191365" cy="6858635"/>
          </a:xfrm>
        </p:spPr>
        <p:txBody>
          <a:bodyPr/>
          <a:p>
            <a:r>
              <a:rPr lang="en-US" sz="3600" b="1">
                <a:solidFill>
                  <a:schemeClr val="bg1"/>
                </a:solidFill>
                <a:highlight>
                  <a:srgbClr val="0000FF"/>
                </a:highlight>
                <a:latin typeface="Nyala" panose="02000504070300020003" charset="0"/>
                <a:cs typeface="Nyala" panose="02000504070300020003" charset="0"/>
              </a:rPr>
              <a:t>1/ ኢብን ኢስሐቅ፡-</a:t>
            </a:r>
            <a:r>
              <a:rPr lang="en-US" sz="3600">
                <a:solidFill>
                  <a:schemeClr val="bg1"/>
                </a:solidFill>
                <a:highlight>
                  <a:srgbClr val="0000FF"/>
                </a:highlight>
                <a:latin typeface="Nyala" panose="02000504070300020003" charset="0"/>
                <a:cs typeface="Nyala" panose="02000504070300020003" charset="0"/>
              </a:rPr>
              <a:t> </a:t>
            </a:r>
            <a:endParaRPr lang="en-US" sz="3600">
              <a:latin typeface="Nyala" panose="02000504070300020003" charset="0"/>
              <a:cs typeface="Nyala" panose="02000504070300020003" charset="0"/>
            </a:endParaRPr>
          </a:p>
          <a:p>
            <a:r>
              <a:rPr lang="en-US" sz="3600">
                <a:latin typeface="Nyala" panose="02000504070300020003" charset="0"/>
                <a:cs typeface="Nyala" panose="02000504070300020003" charset="0"/>
              </a:rPr>
              <a:t>“አይሁድ ረቢዎች፣ ክርስቲያን መነኮሳትና የአረብ ጠንቋዮች ስለ አላህ መልእክተኛ አገልግሎቱን ከመጀመሩ በፊት የሚገለጥበት ጊዜ እንደ ደረሰ ይናገሩ ነበር፡፡ ረቢዎችና መነኮሳቱ ስለ እርሱ መገለጫዎችና ስለሚገለጥበት ጊዜ ነቢያቶቻቸውም በእነርሱ ምን ትዕዛዝ እንደተላለፈ በመጽሐፍቶቻቸው አግኝተው ነበር፡፡ ከጅን ወገን በሆኑ ሰይጣናት የሚጎበኙ የአረብ ጠንቋዮች ኮከብ እየተወረወረ ወሬ መስማት ከመከልከሉ በፊት በሚስጢር ወሬ ከሰሙት ዜናው ደርሷቸው ነበር፡፡ ወንድና ሴት ጠንቋዮች ስለ እነዚህ ጉዳዮች መናገራቸውን ሲቀጥሉ አላህ እርሱን እስኪልከውና የተናገሩት እንኪሆንና እነርሱም እንከሚያስተውሉ ድረስ አረቦቹ ትኩረት አልሰጡትም ነበር፡፡”  A. Guillaume, The life of Muhammad, translation of Ibn Ishaq`s sirat Rasul Allah, Oxford University Press, 1967, page 90.</a:t>
            </a:r>
            <a:endParaRPr lang="en-US" sz="3600">
              <a:latin typeface="Nyala" panose="02000504070300020003" charset="0"/>
              <a:cs typeface="Nyala" panose="02000504070300020003"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97155" y="-635"/>
            <a:ext cx="11983085" cy="6761480"/>
          </a:xfrm>
        </p:spPr>
        <p:txBody>
          <a:bodyPr/>
          <a:p>
            <a:r>
              <a:rPr lang="en-US" sz="3600">
                <a:solidFill>
                  <a:schemeClr val="bg1"/>
                </a:solidFill>
                <a:highlight>
                  <a:srgbClr val="0000FF"/>
                </a:highlight>
                <a:latin typeface="Nyala" panose="02000504070300020003" charset="0"/>
                <a:cs typeface="Nyala" panose="02000504070300020003" charset="0"/>
              </a:rPr>
              <a:t>  3/ ኢብን ሳድ</a:t>
            </a:r>
            <a:endParaRPr lang="en-US" sz="3600">
              <a:solidFill>
                <a:schemeClr val="bg1"/>
              </a:solidFill>
              <a:highlight>
                <a:srgbClr val="0000FF"/>
              </a:highlight>
              <a:latin typeface="Nyala" panose="02000504070300020003" charset="0"/>
              <a:cs typeface="Nyala" panose="02000504070300020003" charset="0"/>
            </a:endParaRPr>
          </a:p>
          <a:p>
            <a:r>
              <a:rPr lang="en-US" sz="2400">
                <a:latin typeface="Nyala" panose="02000504070300020003" charset="0"/>
                <a:cs typeface="Nyala" panose="02000504070300020003" charset="0"/>
              </a:rPr>
              <a:t>ኢብን ሳድ በነቢዩ ሙሐመድ  ግለ ታሪክ መጽሐፋቸው የአላህ መልእክተኛ የነቢይነት ምልክቶች በተሰኘው ምዕራፍ የሚከተለውን ዘግበው ይገኛል፡-</a:t>
            </a:r>
            <a:endParaRPr lang="en-US" sz="2400">
              <a:latin typeface="Nyala" panose="02000504070300020003" charset="0"/>
              <a:cs typeface="Nyala" panose="02000504070300020003" charset="0"/>
            </a:endParaRPr>
          </a:p>
          <a:p>
            <a:r>
              <a:rPr lang="en-US" sz="2400">
                <a:latin typeface="Nyala" panose="02000504070300020003" charset="0"/>
                <a:cs typeface="Nyala" panose="02000504070300020003" charset="0"/>
              </a:rPr>
              <a:t>ሲራ ኢብን ሳድ ቅጽ 1 ክፍል 1.40.4-5 …የነቢዩ እናት ጠንቋይን ስለ እርሱ እንድጠይቅለት አዘዘችኝ አለች፡፡ ከዛም ወደ ቦታዋ ተመለሰች፡፡ የኡከዝ ትዕይንት እስከ ሚካሄድ ድረስ እዚያው ቆየች፡፡ ከዛም ሃሊማ ነቢዩን ሰዎች ስለ ልጆቻቼው ወደሚጠይቁት ሁዘይል ወደሚገኘው ጠንቋይ ወሰደችው፡፡ ጠንቋዩም ባየው ጊዜ እናንተ የሁዘይል ሰዎች ሆይ! እናንት የአረቢያ ሰዎች ሆይ እያለ መጮህ ጀመረ፤ ይህኔ ሰዎችም በዙሪያው ተሰባሰቡ፡፡ እርሱም ይህንን ሕፃን ግደሉ አላቸው፤ በመሃሉ ሃሊማ ልጁን ይዛ አምልጣ ነበር፡፡ ሕዝቡም የቱ ሕፃን ነው? ብለው ጠየቁት፡፡ እርሱም ይህ ሕፃን! አላቸው፤ ነገር ግን ሞግዚቷ ይዛው ሔዳ ስለ ነበር ማንንም አላዩም፡፡ ከዛም ማን ነበር ብሎ ጠየቀው፡፡ እርሱም አንድ ሕፃን አየሁ እናም የእርሱ አምላክ ምእመኖቻችሁን ይገድላል አማልክቶቻችሁንም ይሰባብራል፤ የእርሱም እምነት በእናንተ ላይ አሸናፊ ይሆናል፡፡ በኡካዝ አካባቢ አስፈለገው፤ ነገር ግን ሃሊማ ወደ ቦታዋ ወስዳው ስለ ነበር ሊያገኙት አልቻሉም፤ ከዛ በኋላ ለጠንቋይ ይሁን ለሌላ ሰው አላሳየችውም፡፡ Ibn Sa'd, Kitab Al-Tabaqat Al-Kabir, pdf, page 171. http://www.soebratie.nl/religie/hadith/IbnSad.htm</a:t>
            </a:r>
            <a:endParaRPr lang="en-US" sz="2400">
              <a:latin typeface="Nyala" panose="02000504070300020003" charset="0"/>
              <a:cs typeface="Nyala" panose="02000504070300020003" charset="0"/>
            </a:endParaRPr>
          </a:p>
          <a:p>
            <a:r>
              <a:rPr lang="en-US" sz="2400">
                <a:latin typeface="Nyala" panose="02000504070300020003" charset="0"/>
                <a:cs typeface="Nyala" panose="02000504070300020003" charset="0"/>
              </a:rPr>
              <a:t>	የሁዘይሉ ሽማግሌ ጠንቋይ አጥብቆ እየጮኸ "ሁዘይላውያን ሆይ! እርዱኝ! በእውነት ይህ ሕፃን ከሰማይ ትእዛዝ እየጠበቀ ነው፤ አለ፡፡ ኢሳም ጠንቋዩ በመጨረሻ ነፍሱን ስቶ ከሃዲ ሆኖ እስኪሞት ድረስ በነቢዩ ላይ ሕዝቡን አነሣሳ" ብሏል፡፡ Ibn Sa'd, Kitab Al-Tabaqat Al-Kabir, pdf, page 171. </a:t>
            </a:r>
            <a:endParaRPr lang="en-US" sz="2400">
              <a:latin typeface="Nyala" panose="02000504070300020003" charset="0"/>
              <a:cs typeface="Nyala" panose="02000504070300020003" charset="0"/>
            </a:endParaRPr>
          </a:p>
          <a:p>
            <a:r>
              <a:rPr lang="en-US"/>
              <a:t>  </a:t>
            </a:r>
            <a:r>
              <a:rPr lang="en-US">
                <a:sym typeface="+mn-ea"/>
              </a:rPr>
              <a:t> </a:t>
            </a:r>
            <a:r>
              <a:rPr lang="en-US"/>
              <a:t>          </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12395" y="0"/>
            <a:ext cx="12078970" cy="6746240"/>
          </a:xfrm>
        </p:spPr>
        <p:txBody>
          <a:bodyPr/>
          <a:p>
            <a:r>
              <a:rPr lang="en-US" sz="4400">
                <a:solidFill>
                  <a:schemeClr val="bg1"/>
                </a:solidFill>
                <a:highlight>
                  <a:srgbClr val="0000FF"/>
                </a:highlight>
              </a:rPr>
              <a:t>2</a:t>
            </a:r>
            <a:r>
              <a:rPr lang="en-US" sz="4400">
                <a:solidFill>
                  <a:schemeClr val="bg1"/>
                </a:solidFill>
                <a:highlight>
                  <a:srgbClr val="0000FF"/>
                </a:highlight>
                <a:latin typeface="Nyala" panose="02000504070300020003" charset="0"/>
                <a:cs typeface="Nyala" panose="02000504070300020003" charset="0"/>
              </a:rPr>
              <a:t>/ ኢብን ሒሻምም በተመሳሳይ የሚከተለውን አስፍረዋል፡- </a:t>
            </a:r>
            <a:endParaRPr lang="en-US" sz="4400">
              <a:solidFill>
                <a:schemeClr val="bg1"/>
              </a:solidFill>
              <a:highlight>
                <a:srgbClr val="0000FF"/>
              </a:highlight>
              <a:latin typeface="Nyala" panose="02000504070300020003" charset="0"/>
              <a:cs typeface="Nyala" panose="02000504070300020003" charset="0"/>
            </a:endParaRPr>
          </a:p>
          <a:p>
            <a:r>
              <a:rPr lang="en-US">
                <a:latin typeface="Nyala" panose="02000504070300020003" charset="0"/>
                <a:cs typeface="Nyala" panose="02000504070300020003" charset="0"/>
              </a:rPr>
              <a:t>	</a:t>
            </a:r>
            <a:r>
              <a:rPr lang="en-US" sz="4400">
                <a:latin typeface="Nyala" panose="02000504070300020003" charset="0"/>
                <a:cs typeface="Nyala" panose="02000504070300020003" charset="0"/>
              </a:rPr>
              <a:t>የአረብ ጠንቋዮች ስለ አላህ መልእክተኛ መምጣት ከገነት ኮከብ እየተወረወረ ወሬን መስማት ሳይከለከል ወሬ በሚስጥር ከሰማ ሰይጣን ሰምተው አውቀዋል፡፡ ወንድና ሴት ጠንቋዮች ጉዳዩን ማንሣት ቀጥለው እያለ አረቦቹ ግን አላህ እርሱን እስከሚልከው ድረስ ልብ አላሉትም ነበር፡፡ ጠንቋዮቹ የተናገሩት ሲከሰት ሕዝቡ ጠንቋዮቹ የተናገሩትን ትንቢት አስተዋሉ፡፡  Ibn Hisham, sirat Ibn Hisham, Biography of the prophet, Abridged by Abdus-salam M. Harun, Al-Falah Foundation, 2000, page 30.</a:t>
            </a:r>
            <a:endParaRPr lang="en-US" sz="4400">
              <a:latin typeface="Nyala" panose="02000504070300020003" charset="0"/>
              <a:cs typeface="Nyala" panose="02000504070300020003"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635"/>
            <a:ext cx="12192635" cy="6858000"/>
          </a:xfrm>
        </p:spPr>
        <p:txBody>
          <a:bodyPr/>
          <a:p>
            <a:r>
              <a:rPr lang="en-US" sz="4000">
                <a:solidFill>
                  <a:schemeClr val="bg1"/>
                </a:solidFill>
                <a:highlight>
                  <a:srgbClr val="0000FF"/>
                </a:highlight>
                <a:latin typeface="Nyala" panose="02000504070300020003" charset="0"/>
                <a:cs typeface="Nyala" panose="02000504070300020003" charset="0"/>
              </a:rPr>
              <a:t>5/ በጃህሊያ ዘመን የተተነበየውን የነቢይነት ትንቢት ተስፋ በማድረግ ሙሐመድ ተብለው ስለተጠሩ ሰዎች በሚያስረዳው ምዕራፍ እንዲህ ሲል ዘገባውን ያስነብባል፡- </a:t>
            </a:r>
            <a:endParaRPr lang="en-US" sz="4000">
              <a:solidFill>
                <a:schemeClr val="bg1"/>
              </a:solidFill>
              <a:highlight>
                <a:srgbClr val="0000FF"/>
              </a:highlight>
              <a:latin typeface="Nyala" panose="02000504070300020003" charset="0"/>
              <a:cs typeface="Nyala" panose="02000504070300020003" charset="0"/>
            </a:endParaRPr>
          </a:p>
          <a:p>
            <a:r>
              <a:rPr lang="en-US" sz="4000">
                <a:latin typeface="Nyala" panose="02000504070300020003" charset="0"/>
                <a:cs typeface="Nyala" panose="02000504070300020003" charset="0"/>
              </a:rPr>
              <a:t>ሲራ ኢብን ሳድ ቅጽ 1 ክፍል 1.41.1 </a:t>
            </a:r>
            <a:endParaRPr lang="en-US" sz="4000">
              <a:latin typeface="Nyala" panose="02000504070300020003" charset="0"/>
              <a:cs typeface="Nyala" panose="02000504070300020003" charset="0"/>
            </a:endParaRPr>
          </a:p>
          <a:p>
            <a:r>
              <a:rPr lang="en-US" sz="4000">
                <a:latin typeface="Nyala" panose="02000504070300020003" charset="0"/>
                <a:cs typeface="Nyala" panose="02000504070300020003" charset="0"/>
              </a:rPr>
              <a:t>አረቦች ስሙ ሙሐመድ ተብሎ የሚጠራ ነቢይ እንደሚነሣ ከመጽሐፉ ሰዎችና ከጠንቋዮች ሰምተው አውቀው ነበር፡፡ ታዲያ ከአረቦቹ እንደሚመጣ ያወቀ ማንኛውም ሰው ልጁ ነቢይነቱን እንዲቀበል ተስፋ በማድረግ ሙሐመድ በማለት ስም ያወጣለት ነበር፡፡Ibn Sa'd, Kitab Al-Tabaqat Al-Kabir, pdf, page 191. http://www.soebratie.nl/religie/hadith/IbnSad.htm</a:t>
            </a:r>
            <a:endParaRPr lang="en-US" sz="4000">
              <a:latin typeface="Nyala" panose="02000504070300020003" charset="0"/>
              <a:cs typeface="Nyala" panose="02000504070300020003"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94615"/>
            <a:ext cx="12094845" cy="6649720"/>
          </a:xfrm>
        </p:spPr>
        <p:txBody>
          <a:bodyPr/>
          <a:p>
            <a:r>
              <a:rPr lang="en-US" sz="4400">
                <a:solidFill>
                  <a:schemeClr val="bg1"/>
                </a:solidFill>
                <a:highlight>
                  <a:srgbClr val="0000FF"/>
                </a:highlight>
                <a:latin typeface="Nyala" panose="02000504070300020003" charset="0"/>
                <a:cs typeface="Nyala" panose="02000504070300020003" charset="0"/>
              </a:rPr>
              <a:t>4/ አሁንም ኢብን ሳድ በአሊ ኢብን ሙሐመድ የተላለፈውን፡-</a:t>
            </a:r>
            <a:endParaRPr lang="en-US" sz="4400">
              <a:solidFill>
                <a:schemeClr val="bg1"/>
              </a:solidFill>
              <a:highlight>
                <a:srgbClr val="0000FF"/>
              </a:highlight>
              <a:latin typeface="Nyala" panose="02000504070300020003" charset="0"/>
              <a:cs typeface="Nyala" panose="02000504070300020003" charset="0"/>
            </a:endParaRPr>
          </a:p>
          <a:p>
            <a:r>
              <a:rPr lang="en-US" sz="4000">
                <a:latin typeface="Nyala" panose="02000504070300020003" charset="0"/>
                <a:cs typeface="Nyala" panose="02000504070300020003" charset="0"/>
              </a:rPr>
              <a:t>ሲራ ኢብን ሳድ ቅጽ 1 ክፍል 1.40.41                                                                                                   የአላህ መልእክተኛ ዕድሜያቸው አምስት ዓመት ሲሆን ከሞግዚታቸው ጋር ወደ አብዱል ሙጣሊብ መጥተው ሳለ አንድ ጠንቋይ ወደ መካ መጣ፡፡ ለአያቱ ለአብዱል ሙጣሊብ ለማሳየት በየዓመቱ ይዛው ትመጣ ነበር፡፡ ጠንቋዩ ሙሐመድን ከአብዱል ሙጣሊብ ጋር እንዳየው እናንተ የቁሬይሽ ሰዎች ሆይ ይህንን ሕፃን ግደሉ ወይንም እርሱ ይገድላችኋል ይፈረካክሳችኋል፡፡ ከዚያ በኋላ ወዲያው አብዱል ሙጣሊብ ከእርሱ ጋር አመለጠ፤ ቁሬሾችም ጠንቋዩ ስላስፈራራቸው እርሱን ፈሩት፡፡     Ibn Sa'd, Kitab Al-Tabaqat Al-Kabir, pdf, page 188</a:t>
            </a:r>
            <a:endParaRPr lang="en-US" sz="4000">
              <a:latin typeface="Nyala" panose="02000504070300020003" charset="0"/>
              <a:cs typeface="Nyala" panose="02000504070300020003"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12395" y="149225"/>
            <a:ext cx="11892280" cy="6551295"/>
          </a:xfrm>
        </p:spPr>
        <p:txBody>
          <a:bodyPr/>
          <a:p>
            <a:r>
              <a:rPr lang="en-US" b="1">
                <a:solidFill>
                  <a:schemeClr val="bg1"/>
                </a:solidFill>
                <a:highlight>
                  <a:srgbClr val="0000FF"/>
                </a:highlight>
                <a:latin typeface="Nyala" panose="02000504070300020003" charset="0"/>
                <a:cs typeface="Nyala" panose="02000504070300020003" charset="0"/>
              </a:rPr>
              <a:t>6/ ኢማም ኢብን ከሢር በነቢዩ ሙሐመድን ግለ ታሪክ መጽሐፋቸው ስለ ነቢዩ ሙሐመድ ነቢይነት የተነገሩ ትንቢታዊ ምልክቶችን በገለጹበት ምዕራፍ እንዲህ የሚል አስፍረዋል፡-</a:t>
            </a:r>
            <a:r>
              <a:rPr lang="en-US" b="1">
                <a:latin typeface="Nyala" panose="02000504070300020003" charset="0"/>
                <a:cs typeface="Nyala" panose="02000504070300020003" charset="0"/>
              </a:rPr>
              <a:t> </a:t>
            </a:r>
            <a:r>
              <a:rPr lang="en-US">
                <a:latin typeface="Nyala" panose="02000504070300020003" charset="0"/>
                <a:cs typeface="Nyala" panose="02000504070300020003" charset="0"/>
              </a:rPr>
              <a:t>ሲራ አል-ናባዊያ ቅጽ 1 ገጽ 210</a:t>
            </a:r>
            <a:endParaRPr lang="en-US">
              <a:latin typeface="Nyala" panose="02000504070300020003" charset="0"/>
              <a:cs typeface="Nyala" panose="02000504070300020003" charset="0"/>
            </a:endParaRPr>
          </a:p>
          <a:p>
            <a:r>
              <a:rPr lang="en-US">
                <a:latin typeface="Nyala" panose="02000504070300020003" charset="0"/>
                <a:cs typeface="Nyala" panose="02000504070300020003" charset="0"/>
              </a:rPr>
              <a:t>ኢብን ኢስሀቅ እንደ ገለጸው፡- አሊ ብን ናፊ አል ጁረሺ ሲነግረኝ ጀንብ የተሰኘው የየመን ጎሳ እስልምና ከመምጣቱ በፊት አንድ ጠንቋይ ነበራቸው፡፡ የአላህ መልእክተኛ ዜና በመላው አረብ በተሰራጨበት ወቅት ጀንባውያን ጠንቋያቸውን ጠየቁት፡- ስለዚህ ሰው ጠይቅልን ብለው የሚናገረውን ለመስማት ከእርሱ ተራራ ሥር ተሰባሰቡ፡፡ ፀሐይ እንደወጣችም ወደ እነርሱ ወረደና እጅ ነሣቸው፡፡ ከዛም ወደ ሰማይ ለረጅም ጊዜ ካንጋጠጠ በኋላ መዝለል ጀመረ፡፡ ከዛም እንዲህ ሲል ተናገረ፡- እናንተ ሰዎች ሆይ! አላህ ሙሐመድን መርጦ አክብሮታል፡፡ እርሱንም ልቡንና ውስጡን አንጽቶታል፡፡ እናንተ ሰዎች ሆይ! ከእናንተ ጋር የሚቆየው ትንሽ ጊዜ ነው፡፡ Ibn Kathir, Al-sira al-Nabawiyya (The Life of the Prophet Muhammad) Translated by Professor Trevor Le Gassick, Garnet Publishing, 2006, vol 1, page 210.</a:t>
            </a:r>
            <a:endParaRPr lang="en-US">
              <a:latin typeface="Nyala" panose="02000504070300020003" charset="0"/>
              <a:cs typeface="Nyala" panose="02000504070300020003"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4775" y="2413000"/>
            <a:ext cx="12191365" cy="3700145"/>
          </a:xfrm>
        </p:spPr>
        <p:txBody>
          <a:bodyPr/>
          <a:p>
            <a:r>
              <a:rPr lang="en-US" sz="6600">
                <a:latin typeface="Power Geez Unicode3" panose="00000400000000000000" charset="0"/>
                <a:cs typeface="Power Geez Unicode3" panose="00000400000000000000" charset="0"/>
              </a:rPr>
              <a:t> </a:t>
            </a:r>
            <a:r>
              <a:rPr lang="en-US" sz="9600">
                <a:latin typeface="Power Geez Unicode3" panose="00000400000000000000" charset="0"/>
                <a:cs typeface="Power Geez Unicode3" panose="00000400000000000000" charset="0"/>
              </a:rPr>
              <a:t>በስም የተጠቀሱ ጠንቋዮች</a:t>
            </a:r>
            <a:endParaRPr lang="en-US" sz="9600">
              <a:latin typeface="Power Geez Unicode3" panose="00000400000000000000" charset="0"/>
              <a:cs typeface="Power Geez Unicode3" panose="00000400000000000000"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0"/>
            <a:ext cx="12065000" cy="6730365"/>
          </a:xfrm>
        </p:spPr>
        <p:txBody>
          <a:bodyPr/>
          <a:p>
            <a:r>
              <a:rPr lang="en-US" sz="2400">
                <a:solidFill>
                  <a:schemeClr val="bg1"/>
                </a:solidFill>
                <a:highlight>
                  <a:srgbClr val="0000FF"/>
                </a:highlight>
                <a:latin typeface="Nyala" panose="02000504070300020003" charset="0"/>
                <a:cs typeface="Nyala" panose="02000504070300020003" charset="0"/>
              </a:rPr>
              <a:t> </a:t>
            </a:r>
            <a:r>
              <a:rPr lang="en-US">
                <a:solidFill>
                  <a:schemeClr val="bg1"/>
                </a:solidFill>
                <a:highlight>
                  <a:srgbClr val="0000FF"/>
                </a:highlight>
                <a:latin typeface="Nyala" panose="02000504070300020003" charset="0"/>
                <a:cs typeface="Nyala" panose="02000504070300020003" charset="0"/>
              </a:rPr>
              <a:t>     1/ ጠንቋይ ሰጢህ እና ጠንቋይ ሺቅ </a:t>
            </a:r>
            <a:endParaRPr lang="en-US">
              <a:solidFill>
                <a:schemeClr val="bg1"/>
              </a:solidFill>
              <a:highlight>
                <a:srgbClr val="0000FF"/>
              </a:highlight>
              <a:latin typeface="Nyala" panose="02000504070300020003" charset="0"/>
              <a:cs typeface="Nyala" panose="02000504070300020003" charset="0"/>
            </a:endParaRPr>
          </a:p>
          <a:p>
            <a:r>
              <a:rPr lang="en-US" sz="2800">
                <a:latin typeface="Nyala" panose="02000504070300020003" charset="0"/>
                <a:cs typeface="Nyala" panose="02000504070300020003" charset="0"/>
              </a:rPr>
              <a:t>ነቢዩ ሙሐመድ የእውነተኛው አምላክ መልእክተኛ እንደሆኑ መስክረው ቃላቸው ተአማኒነት ያገኘላቸው ሁለቱ ጠንቋይ ሰጢህ እና ጠንቋይ ሺቅ ናቸው፡፡ ስለ እነዚህ ሁለት የአረብ ስመ ጥር ጠንቋዮች ኢብን ሂሻምና ኢማም ኢብን ከሢር በ"አል-ሲራ አል-ነበውያ" በተሰኘው ግለ ታሪክ ድርሳናቸው ሰፊ ስፍራ ሰጥተው ዘግበዋል፡፡ </a:t>
            </a:r>
            <a:endParaRPr lang="en-US" sz="2800">
              <a:latin typeface="Nyala" panose="02000504070300020003" charset="0"/>
              <a:cs typeface="Nyala" panose="02000504070300020003" charset="0"/>
            </a:endParaRPr>
          </a:p>
          <a:p>
            <a:r>
              <a:rPr lang="en-US" sz="2800">
                <a:latin typeface="Nyala" panose="02000504070300020003" charset="0"/>
                <a:cs typeface="Nyala" panose="02000504070300020003" charset="0"/>
              </a:rPr>
              <a:t>እነዚህ እውቅና የዘመኑ ስመ ጥር ጠንቋዮች  ነቢዩ ከመወለዳቸው 70 ዓመታት ቀደም ብሎ የየመኑ ንጉሥ ረቢአ ብን ናስር አንድ አስፈሪ ሕልም አይቶ ሕልሙን በፈቱለት ወቅት ስለ ነቢዩ ሙሐመድ ነቢይነት ተንብየው እንደ ነበር የታሪክ ድርሳናቱ ያስረዳሉ፡፡ Ibn Hisham, sirat Ibn Hisham, Biography of the prophet, Abridged by Abdus-salam M. Harun, Al-Falah Foundation, 2000, page 4-6, Ibn Kathir, Al-sira al-Nabawiyya (The Life of the Prophet Muhammad), Translated by Professor Trevor Le Gassick, Garnet Publishing, 2006, vol 1, page 10-12. </a:t>
            </a:r>
            <a:endParaRPr lang="en-US" sz="2800">
              <a:latin typeface="Nyala" panose="02000504070300020003" charset="0"/>
              <a:cs typeface="Nyala" panose="02000504070300020003" charset="0"/>
            </a:endParaRPr>
          </a:p>
          <a:p>
            <a:r>
              <a:rPr lang="en-US" sz="2400">
                <a:latin typeface="Nyala" panose="02000504070300020003" charset="0"/>
                <a:cs typeface="Nyala" panose="02000504070300020003" charset="0"/>
              </a:rPr>
              <a:t> </a:t>
            </a:r>
            <a:r>
              <a:rPr lang="en-US" sz="2400">
                <a:solidFill>
                  <a:schemeClr val="bg1"/>
                </a:solidFill>
                <a:highlight>
                  <a:srgbClr val="000000"/>
                </a:highlight>
                <a:latin typeface="Nyala" panose="02000504070300020003" charset="0"/>
                <a:cs typeface="Nyala" panose="02000504070300020003" charset="0"/>
              </a:rPr>
              <a:t>ጠንቋይ ሰጢህ እንዲህ ነበር ያለው፡- </a:t>
            </a:r>
            <a:endParaRPr lang="en-US" sz="2400">
              <a:solidFill>
                <a:schemeClr val="bg1"/>
              </a:solidFill>
              <a:highlight>
                <a:srgbClr val="000000"/>
              </a:highlight>
              <a:latin typeface="Nyala" panose="02000504070300020003" charset="0"/>
              <a:cs typeface="Nyala" panose="02000504070300020003" charset="0"/>
            </a:endParaRPr>
          </a:p>
          <a:p>
            <a:r>
              <a:rPr lang="en-US" sz="2800" b="1">
                <a:latin typeface="Nyala" panose="02000504070300020003" charset="0"/>
                <a:cs typeface="Nyala" panose="02000504070300020003" charset="0"/>
              </a:rPr>
              <a:t>"ነቢይ፣ ንጹህ፣ ከሁሉ የበላይ ከሆነው መገለጥ የሚመጣለት፡፡" ንጉሱም፡- "ነቢዩ የሚመጣው ከየት ነው?" ሰጢህም፡- ከጋሊብ ብን ፊህር ብን አል-ናድር የሚወለድ ነው፤ አገዛዙም በእርሱ ሰዎች እስከ መጨረሻው ጊዜ ድረስ ይሆናል፡፡</a:t>
            </a:r>
            <a:endParaRPr lang="en-US" sz="2800" b="1">
              <a:latin typeface="Nyala" panose="02000504070300020003" charset="0"/>
              <a:cs typeface="Nyala" panose="02000504070300020003"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635"/>
            <a:ext cx="12192635" cy="6858000"/>
          </a:xfrm>
        </p:spPr>
        <p:txBody>
          <a:bodyPr/>
          <a:p>
            <a:pPr algn="ctr">
              <a:lnSpc>
                <a:spcPct val="100000"/>
              </a:lnSpc>
            </a:pPr>
            <a:r>
              <a:rPr lang="en-US" sz="2800">
                <a:solidFill>
                  <a:schemeClr val="bg1"/>
                </a:solidFill>
                <a:highlight>
                  <a:srgbClr val="0000FF"/>
                </a:highlight>
                <a:latin typeface="Nyala" panose="02000504070300020003" charset="0"/>
                <a:cs typeface="Nyala" panose="02000504070300020003" charset="0"/>
              </a:rPr>
              <a:t>ስለ ነቢዩ መናገርን ሰጢህ በዚህ አላበቃም</a:t>
            </a:r>
            <a:r>
              <a:rPr lang="en-US" sz="2000">
                <a:latin typeface="Nyala" panose="02000504070300020003" charset="0"/>
                <a:cs typeface="Nyala" panose="02000504070300020003" charset="0"/>
              </a:rPr>
              <a:t>፡፡                                                                                                        ነቢዩ ሙሐመድ በተወለዱበት ቀን የመጁሶች ካህን በሕልሙ የበርሃ ግመል ፈረሶችን አስከትሎ የጢግሮስን ወንዝ ተሻገሮ እና ምድራቸውን ሲወር አይቶ ይህንን ሕልም በፈታበት ወቅት እንዲህ የሚያደርግ ነቢይ እንደ ተወለደ አብስሮ ነበር፡፡ ሐጅ ሙሐመድ ሳኒህ ሐቢብም የነቢዩ ሙሐመድን ግለ ታሪክ በጻፉበት ወቅት ይህንኑ አስፍረዋል፡-</a:t>
            </a:r>
            <a:endParaRPr lang="en-US" sz="2000">
              <a:latin typeface="Nyala" panose="02000504070300020003" charset="0"/>
              <a:cs typeface="Nyala" panose="02000504070300020003" charset="0"/>
            </a:endParaRPr>
          </a:p>
          <a:p>
            <a:pPr algn="just"/>
            <a:r>
              <a:rPr lang="en-US" sz="2000" b="1">
                <a:latin typeface="Power Geez Unicode3" panose="00000400000000000000" charset="0"/>
                <a:cs typeface="Power Geez Unicode3" panose="00000400000000000000" charset="0"/>
              </a:rPr>
              <a:t>"ሙሐመድ በተወለዱበት ዕለት ብዙ አስደናቂ ነገሮች ሆነዋል፡፡ በተወለዱበት ዓመት እንደ ጸሐይ ብርሃን ያለ ቀበሌውን አበራው፤ ጮራው እስከ ቡስራ/ሀውራን/ ድረስ ተፈንጥቆ ታየን ሲሉ አዋላጆቹና እናታቸው አረጋግጠዋል፡፡ የፋርስ ሰዎች በእሳት ያመልኩ ነበር እና ሺ ዓመት ያክል ነዲዱ ሳይጠፋ የቆየው የሚያመልኩበት እሳታቸው በዚያ ቀን ያለ አንዳች ምክንያት ጠፍቶ አደረ፡፡ ሙበዛን የሚባለው ሊቃቸው አስደናቂ የሆነ የሚያባባ ሕልም አይቶ ለንጉሱ ነግሮት ነበር፤ ማለት የአረብ ፈረሶች ግመሎችን እየመሩ ከአረብ በርሓ ተነሥተው የደጅላንና የፋራትን /የትግሪስንና ኤፍራጥስን/ ወንዝ አቋርጠው ተሻግረው የፋርስን አገር ሲወሩት አዬ፡፡ እንዲሁም ከቤተ መንግሥቱ ላይ አስራ አራት ጉልላት እየተገነጠለ ሲወርድ አየና ነገሩ ስላስደነገጠው ለንጉሡ ነገረው፡፡ ንጉሡም ነገሩ ስላስደነገጠው ሰጢህ ወደሚባል ጠንቋይ ልኮ ፍችውን ቢያስጠይቅ በአረብ ውስጥ አንድ ትልቅ ነቢይ ተወልዷል፡፡ ከጥቂት ጊዜ በኋላ የሱ ተከታዮች አገርህን ይይዙታል፡፡ ከእናንተ ዐሥራ አራት ሰዎች እየተተካኩ ከነገሡ በኋላ የመንግሥታችሁ ፍጻሜ ይሆናል ብሎ ፈታለት፡፡ተከታዮች አገርህን ይይዙታል፡፡ ከእናንተ ዐሥራ አራት ሰዎች እየተተካኩ ከነገሡ በኋላ የመንግሥታችሁ ፍጻሜ ይሆናል ብሎ ፈታለት፡፡  ሐጅ ሙሐመድ ሣኒ ሐቢብ፣ እስልምና እና የታላቁ ነቢይ የሙሐመድ ታሪክ፣ ብርሃንና ሰላም ማተሚያ፣ 1960፣ ገጽ 25</a:t>
            </a:r>
            <a:endParaRPr lang="en-US" sz="2000" b="1">
              <a:latin typeface="Power Geez Unicode3" panose="00000400000000000000" charset="0"/>
              <a:cs typeface="Power Geez Unicode3" panose="00000400000000000000" charset="0"/>
            </a:endParaRPr>
          </a:p>
          <a:p>
            <a:pPr algn="just"/>
            <a:r>
              <a:rPr lang="en-US" sz="2000" b="1">
                <a:latin typeface="Power Geez Unicode3" panose="00000400000000000000" charset="0"/>
                <a:cs typeface="Power Geez Unicode3" panose="00000400000000000000" charset="0"/>
              </a:rPr>
              <a:t>ሰጢህ ቀጥሏል፡፡ ኢብን አባስ እንዳወራው ሰጢህ መካ በመጣበት ወቅት የቁሬይሽ ጎሳ አለቆች አብድ ሸምስን እና አብድ መናፍን አግኝቶ አንዳንድ ጥያቄዎች ጠይቀውት ነበር፡፡ ያኔም አረቦች መረዳትና እውቀት የሌላቸው እንደሆኑና በኋላ ግን መረዳት ያለው እንደሚነሣ፣ እውቀትንም እንደሚሻ፣ ጣኦታትን እንደሚያጠፋ፣ ዋጋ ቢስ የሆነውን እንደሚያሳድድ፣ አረብ ያልሆኑትን እንደሚዋጋ፣ የጦር ዘረፋን ፍለጋ እንደሚዘምት፣ ትክክለኛውን የተመራ ነቢይ እንደሚነሣና እነርሱን ወደ ትክክልኛ መንገድ እንደሚመራቸው ነገራቸው፡፡ ይህንን ነቢይ አላህ ከወሰደው በኋላም አራቱ ከሊፋዎች እንደሚነሡ አብስሯቸዋል፡፡ Ibn Kathir, Al-sira al-Nabawiyya, vol 1, page 156</a:t>
            </a:r>
            <a:endParaRPr lang="en-US" sz="2000" b="1">
              <a:latin typeface="Power Geez Unicode3" panose="00000400000000000000" charset="0"/>
              <a:cs typeface="Power Geez Unicode3" panose="00000400000000000000"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635"/>
            <a:ext cx="12192635" cy="6858635"/>
          </a:xfrm>
        </p:spPr>
        <p:txBody>
          <a:bodyPr/>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p>
            <a:endParaRPr lang="en-US"/>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5995</Words>
  <Application>WPS Presentation</Application>
  <PresentationFormat>Widescreen</PresentationFormat>
  <Paragraphs>38</Paragraphs>
  <Slides>13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Arial</vt:lpstr>
      <vt:lpstr>SimSun</vt:lpstr>
      <vt:lpstr>Wingdings</vt:lpstr>
      <vt:lpstr>Power Geez Unicode3</vt:lpstr>
      <vt:lpstr>Nyala</vt:lpstr>
      <vt:lpstr>Microsoft YaHei</vt:lpstr>
      <vt:lpstr>Arial Unicode MS</vt:lpstr>
      <vt:lpstr>Calibri</vt:lpstr>
      <vt:lpstr>Blue Waves</vt:lpstr>
      <vt:lpstr>ሙሐመድ እውነተኛ ነብይ ነውን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ሙሐመድ እውነተኛ ነብይ ነውን</dc:title>
  <dc:creator>Geno F</dc:creator>
  <cp:lastModifiedBy>16142</cp:lastModifiedBy>
  <cp:revision>2</cp:revision>
  <dcterms:created xsi:type="dcterms:W3CDTF">2023-04-17T18:47:00Z</dcterms:created>
  <dcterms:modified xsi:type="dcterms:W3CDTF">2023-04-18T18:55:32Z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DA5B5E39F5804F51A31D500BC1ADE66E</vt:lpwstr>
  </property>
  <property fmtid="{D5CDD505-2E9C-101B-9397-08002B2CF9AE}" pid="3" name="KSOProductBuildVer">
    <vt:lpwstr>1033-11.2.0.11440</vt:lpwstr>
  </property>
</Properties>
</file>